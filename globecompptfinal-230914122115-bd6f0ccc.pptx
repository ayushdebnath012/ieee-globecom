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78" r:id="rId5"/>
    <p:sldId id="563" r:id="rId6"/>
    <p:sldId id="564" r:id="rId7"/>
    <p:sldId id="539" r:id="rId8"/>
    <p:sldId id="572" r:id="rId9"/>
    <p:sldId id="577" r:id="rId10"/>
    <p:sldId id="556" r:id="rId11"/>
    <p:sldId id="575" r:id="rId12"/>
    <p:sldId id="578" r:id="rId13"/>
    <p:sldId id="546" r:id="rId14"/>
    <p:sldId id="576" r:id="rId15"/>
    <p:sldId id="579" r:id="rId16"/>
    <p:sldId id="560" r:id="rId17"/>
    <p:sldId id="550" r:id="rId18"/>
    <p:sldId id="551" r:id="rId19"/>
    <p:sldId id="570" r:id="rId20"/>
    <p:sldId id="565" r:id="rId21"/>
    <p:sldId id="567" r:id="rId22"/>
    <p:sldId id="566" r:id="rId23"/>
    <p:sldId id="568" r:id="rId24"/>
    <p:sldId id="40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slide" id="{597D02D7-AD72-6D48-9B13-54C0FF6C66C5}">
          <p14:sldIdLst>
            <p14:sldId id="278"/>
            <p14:sldId id="563"/>
          </p14:sldIdLst>
        </p14:section>
        <p14:section name="Introduction and motivation" id="{C56EBD2B-8B8A-4F91-BC3F-42C824B83DDC}">
          <p14:sldIdLst>
            <p14:sldId id="564"/>
            <p14:sldId id="539"/>
            <p14:sldId id="572"/>
            <p14:sldId id="577"/>
            <p14:sldId id="556"/>
            <p14:sldId id="575"/>
            <p14:sldId id="578"/>
            <p14:sldId id="546"/>
            <p14:sldId id="576"/>
            <p14:sldId id="579"/>
            <p14:sldId id="560"/>
            <p14:sldId id="550"/>
            <p14:sldId id="551"/>
            <p14:sldId id="570"/>
            <p14:sldId id="565"/>
            <p14:sldId id="567"/>
            <p14:sldId id="566"/>
            <p14:sldId id="568"/>
          </p14:sldIdLst>
        </p14:section>
        <p14:section name="Summary" id="{19E7640A-4BA7-490F-A1DB-3951C6229174}">
          <p14:sldIdLst>
            <p14:sldId id="40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via CALLEGARI" initials="SC" lastIdx="13" clrIdx="0">
    <p:extLst>
      <p:ext uri="{19B8F6BF-5375-455C-9EA6-DF929625EA0E}">
        <p15:presenceInfo xmlns:p15="http://schemas.microsoft.com/office/powerpoint/2012/main" userId="S::silvia.callegari@uni.lu::a4e532ac-c7db-4b71-b9da-24acb8dc5a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F2C24"/>
    <a:srgbClr val="CA2D42"/>
    <a:srgbClr val="EE2E24"/>
    <a:srgbClr val="5A237E"/>
    <a:srgbClr val="009BDA"/>
    <a:srgbClr val="C32C46"/>
    <a:srgbClr val="EFEDEE"/>
    <a:srgbClr val="582A8B"/>
    <a:srgbClr val="0070C0"/>
    <a:srgbClr val="CB30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22" autoAdjust="0"/>
    <p:restoredTop sz="73429" autoAdjust="0"/>
  </p:normalViewPr>
  <p:slideViewPr>
    <p:cSldViewPr snapToGrid="0">
      <p:cViewPr varScale="1">
        <p:scale>
          <a:sx n="84" d="100"/>
          <a:sy n="84" d="100"/>
        </p:scale>
        <p:origin x="1806" y="90"/>
      </p:cViewPr>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2BB8FC-AFCC-408F-A29E-6DAAA80826DB}" type="datetimeFigureOut">
              <a:rPr lang="en-US" smtClean="0"/>
              <a:t>10/12/2022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FBDE39-820D-4654-BFF2-5D9BA382A6B1}" type="slidenum">
              <a:rPr lang="en-US" smtClean="0"/>
              <a:t>‹#›</a:t>
            </a:fld>
            <a:endParaRPr lang="en-US"/>
          </a:p>
        </p:txBody>
      </p:sp>
    </p:spTree>
    <p:extLst>
      <p:ext uri="{BB962C8B-B14F-4D97-AF65-F5344CB8AC3E}">
        <p14:creationId xmlns:p14="http://schemas.microsoft.com/office/powerpoint/2010/main" val="414213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1</a:t>
            </a:fld>
            <a:endParaRPr lang="en-US"/>
          </a:p>
        </p:txBody>
      </p:sp>
    </p:spTree>
    <p:extLst>
      <p:ext uri="{BB962C8B-B14F-4D97-AF65-F5344CB8AC3E}">
        <p14:creationId xmlns:p14="http://schemas.microsoft.com/office/powerpoint/2010/main" val="1907343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the 5G terrestrial networks can provide highspeed, high-capacity, low latency, and reliable communication service for terrestrial mobile users, how to provide high-speed communication service for aeronautical and maritime users still demands a prompt solution. Recent researches have shown that LEO satellite can play an essential role to achieve this global coverage mission in future communication networks due to low latency and high bandwidth per user. Therefore, many big industries are working on LEO mega-constellation projects, e.g., </a:t>
            </a:r>
            <a:r>
              <a:rPr lang="en-US" dirty="0" err="1"/>
              <a:t>Starlink</a:t>
            </a:r>
            <a:r>
              <a:rPr lang="en-US" dirty="0"/>
              <a:t>, </a:t>
            </a:r>
            <a:r>
              <a:rPr lang="en-US" dirty="0" err="1"/>
              <a:t>OneWeb</a:t>
            </a:r>
            <a:r>
              <a:rPr lang="en-US" dirty="0"/>
              <a:t> etc.</a:t>
            </a:r>
          </a:p>
        </p:txBody>
      </p:sp>
      <p:sp>
        <p:nvSpPr>
          <p:cNvPr id="4" name="Slide Number Placeholder 3"/>
          <p:cNvSpPr>
            <a:spLocks noGrp="1"/>
          </p:cNvSpPr>
          <p:nvPr>
            <p:ph type="sldNum" sz="quarter" idx="5"/>
          </p:nvPr>
        </p:nvSpPr>
        <p:spPr/>
        <p:txBody>
          <a:bodyPr/>
          <a:lstStyle/>
          <a:p>
            <a:fld id="{AAFBDE39-820D-4654-BFF2-5D9BA382A6B1}" type="slidenum">
              <a:rPr lang="en-US" smtClean="0"/>
              <a:t>3</a:t>
            </a:fld>
            <a:endParaRPr lang="en-US"/>
          </a:p>
        </p:txBody>
      </p:sp>
    </p:spTree>
    <p:extLst>
      <p:ext uri="{BB962C8B-B14F-4D97-AF65-F5344CB8AC3E}">
        <p14:creationId xmlns:p14="http://schemas.microsoft.com/office/powerpoint/2010/main" val="2818274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LU" dirty="0" err="1"/>
              <a:t>However</a:t>
            </a:r>
            <a:r>
              <a:rPr lang="fr-LU" dirty="0"/>
              <a:t>, </a:t>
            </a:r>
            <a:r>
              <a:rPr lang="fr-LU" dirty="0" err="1"/>
              <a:t>density</a:t>
            </a:r>
            <a:r>
              <a:rPr lang="fr-LU" dirty="0"/>
              <a:t> of maritime/</a:t>
            </a:r>
            <a:r>
              <a:rPr lang="fr-LU" dirty="0" err="1"/>
              <a:t>aeronautical</a:t>
            </a:r>
            <a:r>
              <a:rPr lang="fr-LU" dirty="0"/>
              <a:t> </a:t>
            </a:r>
            <a:r>
              <a:rPr lang="fr-LU" dirty="0" err="1"/>
              <a:t>users</a:t>
            </a:r>
            <a:r>
              <a:rPr lang="fr-LU" dirty="0"/>
              <a:t> changes </a:t>
            </a:r>
            <a:r>
              <a:rPr lang="fr-LU" dirty="0" err="1"/>
              <a:t>both</a:t>
            </a:r>
            <a:r>
              <a:rPr lang="fr-LU" dirty="0"/>
              <a:t> </a:t>
            </a:r>
            <a:r>
              <a:rPr lang="fr-LU" dirty="0" err="1"/>
              <a:t>with</a:t>
            </a:r>
            <a:r>
              <a:rPr lang="fr-LU" dirty="0"/>
              <a:t> time and location as </a:t>
            </a:r>
            <a:r>
              <a:rPr lang="fr-LU" dirty="0" err="1"/>
              <a:t>shown</a:t>
            </a:r>
            <a:r>
              <a:rPr lang="fr-LU" dirty="0"/>
              <a:t> in </a:t>
            </a:r>
            <a:r>
              <a:rPr lang="fr-LU" dirty="0" err="1"/>
              <a:t>this</a:t>
            </a:r>
            <a:r>
              <a:rPr lang="fr-LU" dirty="0"/>
              <a:t> fig. </a:t>
            </a:r>
            <a:r>
              <a:rPr lang="fr-LU" dirty="0" err="1"/>
              <a:t>Therefore</a:t>
            </a:r>
            <a:r>
              <a:rPr lang="fr-LU" dirty="0"/>
              <a:t>, </a:t>
            </a:r>
            <a:r>
              <a:rPr lang="fr-LU" dirty="0" err="1"/>
              <a:t>traffic</a:t>
            </a:r>
            <a:r>
              <a:rPr lang="fr-LU" dirty="0"/>
              <a:t> </a:t>
            </a:r>
            <a:r>
              <a:rPr lang="fr-LU" dirty="0" err="1"/>
              <a:t>demand</a:t>
            </a:r>
            <a:r>
              <a:rPr lang="fr-LU" dirty="0"/>
              <a:t> of </a:t>
            </a:r>
            <a:r>
              <a:rPr lang="fr-LU" dirty="0" err="1"/>
              <a:t>these</a:t>
            </a:r>
            <a:r>
              <a:rPr lang="fr-LU" dirty="0"/>
              <a:t> </a:t>
            </a:r>
            <a:r>
              <a:rPr lang="fr-LU" dirty="0" err="1"/>
              <a:t>users</a:t>
            </a:r>
            <a:r>
              <a:rPr lang="fr-LU" dirty="0"/>
              <a:t> </a:t>
            </a:r>
            <a:r>
              <a:rPr lang="fr-LU" dirty="0" err="1"/>
              <a:t>also</a:t>
            </a:r>
            <a:r>
              <a:rPr lang="fr-LU" dirty="0"/>
              <a:t> changes </a:t>
            </a:r>
            <a:r>
              <a:rPr lang="fr-LU" dirty="0" err="1"/>
              <a:t>with</a:t>
            </a:r>
            <a:r>
              <a:rPr lang="fr-LU" dirty="0"/>
              <a:t> time and location. </a:t>
            </a:r>
            <a:r>
              <a:rPr lang="fr-LU" dirty="0" err="1"/>
              <a:t>Hence</a:t>
            </a:r>
            <a:r>
              <a:rPr lang="fr-LU" dirty="0"/>
              <a:t>, </a:t>
            </a:r>
            <a:r>
              <a:rPr lang="fr-LU" dirty="0" err="1"/>
              <a:t>homogeneus</a:t>
            </a:r>
            <a:r>
              <a:rPr lang="fr-LU" dirty="0"/>
              <a:t> </a:t>
            </a:r>
            <a:r>
              <a:rPr lang="fr-LU" dirty="0" err="1"/>
              <a:t>resource</a:t>
            </a:r>
            <a:r>
              <a:rPr lang="fr-LU" dirty="0"/>
              <a:t> allocation leads to inefficient utilisation.</a:t>
            </a:r>
            <a:endParaRPr lang="en-US" dirty="0"/>
          </a:p>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4</a:t>
            </a:fld>
            <a:endParaRPr lang="en-US"/>
          </a:p>
        </p:txBody>
      </p:sp>
    </p:spTree>
    <p:extLst>
      <p:ext uri="{BB962C8B-B14F-4D97-AF65-F5344CB8AC3E}">
        <p14:creationId xmlns:p14="http://schemas.microsoft.com/office/powerpoint/2010/main" val="3358026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600" b="0" i="0" dirty="0"/>
              <a:t>LEO constellations still need to address a set of development challenges to ensure long-term viability; particularly, in terms of energy efficiency and satellite lifespan.</a:t>
            </a:r>
          </a:p>
          <a:p>
            <a:r>
              <a:rPr lang="en-US" sz="600" b="0" i="0" dirty="0"/>
              <a:t>More importantly to manage the aggregated interference issues due to the massive number of multi-beam satellites.</a:t>
            </a:r>
          </a:p>
          <a:p>
            <a:r>
              <a:rPr lang="en-US" sz="600" b="0" i="0" dirty="0"/>
              <a:t>In order to retain the small size of LEO satellites, they operate with small sized batteries. In addition, they are in shadow phase for approximately half of their constellation period. Therefore, the battery lifetime is crucial for reliability of LEO satellites, and this coupled with the fact that it is impractical to replace the satellite batteries, make employing energy-efficient mechanisms for extending their lifespan essential.</a:t>
            </a:r>
          </a:p>
        </p:txBody>
      </p:sp>
      <p:sp>
        <p:nvSpPr>
          <p:cNvPr id="4" name="Slide Number Placeholder 3"/>
          <p:cNvSpPr>
            <a:spLocks noGrp="1"/>
          </p:cNvSpPr>
          <p:nvPr>
            <p:ph type="sldNum" sz="quarter" idx="10"/>
          </p:nvPr>
        </p:nvSpPr>
        <p:spPr/>
        <p:txBody>
          <a:bodyPr/>
          <a:lstStyle/>
          <a:p>
            <a:fld id="{AAFBDE39-820D-4654-BFF2-5D9BA382A6B1}" type="slidenum">
              <a:rPr lang="en-US" smtClean="0"/>
              <a:t>5</a:t>
            </a:fld>
            <a:endParaRPr lang="en-US"/>
          </a:p>
        </p:txBody>
      </p:sp>
    </p:spTree>
    <p:extLst>
      <p:ext uri="{BB962C8B-B14F-4D97-AF65-F5344CB8AC3E}">
        <p14:creationId xmlns:p14="http://schemas.microsoft.com/office/powerpoint/2010/main" val="262661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Developing a traffic-aware and dynamic satellite/beam switching off technique will not only save the onboard energy but also alleviate the aforementioned interference issues.</a:t>
            </a:r>
          </a:p>
        </p:txBody>
      </p:sp>
      <p:sp>
        <p:nvSpPr>
          <p:cNvPr id="4" name="Slide Number Placeholder 3"/>
          <p:cNvSpPr>
            <a:spLocks noGrp="1"/>
          </p:cNvSpPr>
          <p:nvPr>
            <p:ph type="sldNum" sz="quarter" idx="10"/>
          </p:nvPr>
        </p:nvSpPr>
        <p:spPr/>
        <p:txBody>
          <a:bodyPr/>
          <a:lstStyle/>
          <a:p>
            <a:fld id="{AAFBDE39-820D-4654-BFF2-5D9BA382A6B1}" type="slidenum">
              <a:rPr lang="en-US" smtClean="0"/>
              <a:t>7</a:t>
            </a:fld>
            <a:endParaRPr lang="en-US"/>
          </a:p>
        </p:txBody>
      </p:sp>
    </p:spTree>
    <p:extLst>
      <p:ext uri="{BB962C8B-B14F-4D97-AF65-F5344CB8AC3E}">
        <p14:creationId xmlns:p14="http://schemas.microsoft.com/office/powerpoint/2010/main" val="532759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8</a:t>
            </a:fld>
            <a:endParaRPr lang="en-US"/>
          </a:p>
        </p:txBody>
      </p:sp>
    </p:spTree>
    <p:extLst>
      <p:ext uri="{BB962C8B-B14F-4D97-AF65-F5344CB8AC3E}">
        <p14:creationId xmlns:p14="http://schemas.microsoft.com/office/powerpoint/2010/main" val="2002592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10</a:t>
            </a:fld>
            <a:endParaRPr lang="en-US"/>
          </a:p>
        </p:txBody>
      </p:sp>
    </p:spTree>
    <p:extLst>
      <p:ext uri="{BB962C8B-B14F-4D97-AF65-F5344CB8AC3E}">
        <p14:creationId xmlns:p14="http://schemas.microsoft.com/office/powerpoint/2010/main" val="69448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13</a:t>
            </a:fld>
            <a:endParaRPr lang="en-US"/>
          </a:p>
        </p:txBody>
      </p:sp>
    </p:spTree>
    <p:extLst>
      <p:ext uri="{BB962C8B-B14F-4D97-AF65-F5344CB8AC3E}">
        <p14:creationId xmlns:p14="http://schemas.microsoft.com/office/powerpoint/2010/main" val="2497295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14</a:t>
            </a:fld>
            <a:endParaRPr lang="en-US"/>
          </a:p>
        </p:txBody>
      </p:sp>
    </p:spTree>
    <p:extLst>
      <p:ext uri="{BB962C8B-B14F-4D97-AF65-F5344CB8AC3E}">
        <p14:creationId xmlns:p14="http://schemas.microsoft.com/office/powerpoint/2010/main" val="834900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15</a:t>
            </a:fld>
            <a:endParaRPr lang="en-US"/>
          </a:p>
        </p:txBody>
      </p:sp>
    </p:spTree>
    <p:extLst>
      <p:ext uri="{BB962C8B-B14F-4D97-AF65-F5344CB8AC3E}">
        <p14:creationId xmlns:p14="http://schemas.microsoft.com/office/powerpoint/2010/main" val="1822959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16</a:t>
            </a:fld>
            <a:endParaRPr lang="en-US"/>
          </a:p>
        </p:txBody>
      </p:sp>
    </p:spTree>
    <p:extLst>
      <p:ext uri="{BB962C8B-B14F-4D97-AF65-F5344CB8AC3E}">
        <p14:creationId xmlns:p14="http://schemas.microsoft.com/office/powerpoint/2010/main" val="3784705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18</a:t>
            </a:fld>
            <a:endParaRPr lang="en-US"/>
          </a:p>
        </p:txBody>
      </p:sp>
    </p:spTree>
    <p:extLst>
      <p:ext uri="{BB962C8B-B14F-4D97-AF65-F5344CB8AC3E}">
        <p14:creationId xmlns:p14="http://schemas.microsoft.com/office/powerpoint/2010/main" val="4085095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BDE39-820D-4654-BFF2-5D9BA382A6B1}" type="slidenum">
              <a:rPr lang="en-US" smtClean="0"/>
              <a:t>20</a:t>
            </a:fld>
            <a:endParaRPr lang="en-US"/>
          </a:p>
        </p:txBody>
      </p:sp>
    </p:spTree>
    <p:extLst>
      <p:ext uri="{BB962C8B-B14F-4D97-AF65-F5344CB8AC3E}">
        <p14:creationId xmlns:p14="http://schemas.microsoft.com/office/powerpoint/2010/main" val="21142681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slide">
    <p:spTree>
      <p:nvGrpSpPr>
        <p:cNvPr id="1" name=""/>
        <p:cNvGrpSpPr/>
        <p:nvPr/>
      </p:nvGrpSpPr>
      <p:grpSpPr>
        <a:xfrm>
          <a:off x="0" y="0"/>
          <a:ext cx="0" cy="0"/>
          <a:chOff x="0" y="0"/>
          <a:chExt cx="0" cy="0"/>
        </a:xfrm>
      </p:grpSpPr>
      <p:pic>
        <p:nvPicPr>
          <p:cNvPr id="12" name="Picture 11" descr="A picture containing boat, sitting, water, large&#10;&#10;Description automatically generated">
            <a:extLst>
              <a:ext uri="{FF2B5EF4-FFF2-40B4-BE49-F238E27FC236}">
                <a16:creationId xmlns:a16="http://schemas.microsoft.com/office/drawing/2014/main" id="{AC7380C7-C536-A740-B261-4D3541D404C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4714" y="0"/>
            <a:ext cx="12216714" cy="6858000"/>
          </a:xfrm>
          <a:prstGeom prst="rect">
            <a:avLst/>
          </a:prstGeom>
        </p:spPr>
      </p:pic>
      <p:sp>
        <p:nvSpPr>
          <p:cNvPr id="14" name="TextBox 13">
            <a:extLst>
              <a:ext uri="{FF2B5EF4-FFF2-40B4-BE49-F238E27FC236}">
                <a16:creationId xmlns:a16="http://schemas.microsoft.com/office/drawing/2014/main" id="{0C17AE70-1BF8-414E-8F25-1D07EC3A63AC}"/>
              </a:ext>
            </a:extLst>
          </p:cNvPr>
          <p:cNvSpPr txBox="1"/>
          <p:nvPr userDrawn="1"/>
        </p:nvSpPr>
        <p:spPr>
          <a:xfrm>
            <a:off x="952871" y="2551837"/>
            <a:ext cx="5062129" cy="1754326"/>
          </a:xfrm>
          <a:prstGeom prst="rect">
            <a:avLst/>
          </a:prstGeom>
          <a:noFill/>
        </p:spPr>
        <p:txBody>
          <a:bodyPr wrap="square" rtlCol="0">
            <a:spAutoFit/>
          </a:bodyPr>
          <a:lstStyle/>
          <a:p>
            <a:r>
              <a:rPr lang="en-US" sz="3600" b="1" dirty="0">
                <a:solidFill>
                  <a:schemeClr val="bg1"/>
                </a:solidFill>
                <a:latin typeface="Arial" panose="020B0604020202020204" pitchFamily="34" charset="0"/>
              </a:rPr>
              <a:t>Interdisciplinary Centre for Security, Reliability and Trust</a:t>
            </a:r>
          </a:p>
        </p:txBody>
      </p:sp>
      <p:grpSp>
        <p:nvGrpSpPr>
          <p:cNvPr id="8" name="Group 7">
            <a:extLst>
              <a:ext uri="{FF2B5EF4-FFF2-40B4-BE49-F238E27FC236}">
                <a16:creationId xmlns:a16="http://schemas.microsoft.com/office/drawing/2014/main" id="{4BF0A53D-8BE0-8D48-88B2-24D80BAF9D6A}"/>
              </a:ext>
            </a:extLst>
          </p:cNvPr>
          <p:cNvGrpSpPr/>
          <p:nvPr userDrawn="1"/>
        </p:nvGrpSpPr>
        <p:grpSpPr>
          <a:xfrm>
            <a:off x="-24715" y="5825730"/>
            <a:ext cx="12216715" cy="1418626"/>
            <a:chOff x="-24715" y="5825730"/>
            <a:chExt cx="12216715" cy="1418626"/>
          </a:xfrm>
        </p:grpSpPr>
        <p:pic>
          <p:nvPicPr>
            <p:cNvPr id="9" name="Image 5" descr="Bande_Logo_UNI_PP_right_long.eps">
              <a:extLst>
                <a:ext uri="{FF2B5EF4-FFF2-40B4-BE49-F238E27FC236}">
                  <a16:creationId xmlns:a16="http://schemas.microsoft.com/office/drawing/2014/main" id="{BA4808A0-BDDC-C54B-87E1-DC1DE7F141EB}"/>
                </a:ext>
              </a:extLst>
            </p:cNvPr>
            <p:cNvPicPr/>
            <p:nvPr/>
          </p:nvPicPr>
          <p:blipFill rotWithShape="1">
            <a:blip r:embed="rId3"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a:solidFill>
                    <a:srgbClr val="FFFFFF"/>
                  </a:solid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w="9525">
                  <a:solidFill>
                    <a:srgbClr val="000000"/>
                  </a:solidFill>
                  <a:miter lim="800000"/>
                  <a:headEnd/>
                  <a:tailEnd/>
                </a14:hiddenLine>
              </a:ext>
            </a:extLst>
          </p:spPr>
        </p:pic>
        <p:sp>
          <p:nvSpPr>
            <p:cNvPr id="10" name="Rectangle 9">
              <a:extLst>
                <a:ext uri="{FF2B5EF4-FFF2-40B4-BE49-F238E27FC236}">
                  <a16:creationId xmlns:a16="http://schemas.microsoft.com/office/drawing/2014/main" id="{AF9F14ED-66BA-8B47-A8A6-480039CD80C5}"/>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1" name="Picture 10">
              <a:extLst>
                <a:ext uri="{FF2B5EF4-FFF2-40B4-BE49-F238E27FC236}">
                  <a16:creationId xmlns:a16="http://schemas.microsoft.com/office/drawing/2014/main" id="{735021C0-D1D8-854A-A512-95F90B33214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pic>
        <p:nvPicPr>
          <p:cNvPr id="13" name="Graphic 12">
            <a:extLst>
              <a:ext uri="{FF2B5EF4-FFF2-40B4-BE49-F238E27FC236}">
                <a16:creationId xmlns:a16="http://schemas.microsoft.com/office/drawing/2014/main" id="{831B3466-DDE3-DE46-8B4B-64671E261F55}"/>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70285" y="1386141"/>
            <a:ext cx="1256457" cy="987835"/>
          </a:xfrm>
          <a:prstGeom prst="rect">
            <a:avLst/>
          </a:prstGeom>
        </p:spPr>
      </p:pic>
    </p:spTree>
    <p:extLst>
      <p:ext uri="{BB962C8B-B14F-4D97-AF65-F5344CB8AC3E}">
        <p14:creationId xmlns:p14="http://schemas.microsoft.com/office/powerpoint/2010/main" val="1271965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with backgroun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BF53CC9-146E-7044-ADBF-2E781CDB14A5}"/>
              </a:ext>
            </a:extLst>
          </p:cNvPr>
          <p:cNvSpPr>
            <a:spLocks noGrp="1"/>
          </p:cNvSpPr>
          <p:nvPr>
            <p:ph type="body" sz="quarter" idx="11" hasCustomPrompt="1"/>
          </p:nvPr>
        </p:nvSpPr>
        <p:spPr>
          <a:xfrm>
            <a:off x="544513" y="427730"/>
            <a:ext cx="11362565" cy="476250"/>
          </a:xfrm>
        </p:spPr>
        <p:txBody>
          <a:bodyPr>
            <a:normAutofit/>
          </a:bodyPr>
          <a:lstStyle>
            <a:lvl1pPr marL="0" indent="0" algn="l" defTabSz="914400" rtl="0" eaLnBrk="1" latinLnBrk="0" hangingPunct="1">
              <a:buNone/>
              <a:defRPr lang="en-GB" sz="2400" b="1" kern="1200" dirty="0" smtClean="0">
                <a:solidFill>
                  <a:schemeClr val="tx1"/>
                </a:solidFill>
                <a:latin typeface="Arial" panose="020B0604020202020204" pitchFamily="34" charset="0"/>
                <a:ea typeface="+mn-ea"/>
                <a:cs typeface="Arial" panose="020B0604020202020204" pitchFamily="34" charset="0"/>
              </a:defRPr>
            </a:lvl1pPr>
          </a:lstStyle>
          <a:p>
            <a:pPr lvl="0"/>
            <a:r>
              <a:rPr lang="en-GB" dirty="0"/>
              <a:t>Title in Arial bold 24</a:t>
            </a:r>
          </a:p>
        </p:txBody>
      </p:sp>
      <p:sp>
        <p:nvSpPr>
          <p:cNvPr id="4" name="Date Placeholder 3">
            <a:extLst>
              <a:ext uri="{FF2B5EF4-FFF2-40B4-BE49-F238E27FC236}">
                <a16:creationId xmlns:a16="http://schemas.microsoft.com/office/drawing/2014/main" id="{13F028FB-44E9-4656-A0AB-A09D8FA948C2}"/>
              </a:ext>
            </a:extLst>
          </p:cNvPr>
          <p:cNvSpPr>
            <a:spLocks noGrp="1"/>
          </p:cNvSpPr>
          <p:nvPr>
            <p:ph type="dt" sz="half" idx="10"/>
          </p:nvPr>
        </p:nvSpPr>
        <p:spPr/>
        <p:txBody>
          <a:bodyPr/>
          <a:lstStyle/>
          <a:p>
            <a:fld id="{980A0637-A15D-4E44-AA39-3D41D3E0A246}" type="datetimeFigureOut">
              <a:rPr lang="en-US" smtClean="0"/>
              <a:t>10/12/2022</a:t>
            </a:fld>
            <a:endParaRPr lang="en-US"/>
          </a:p>
        </p:txBody>
      </p:sp>
      <p:pic>
        <p:nvPicPr>
          <p:cNvPr id="7" name="Picture 6">
            <a:extLst>
              <a:ext uri="{FF2B5EF4-FFF2-40B4-BE49-F238E27FC236}">
                <a16:creationId xmlns:a16="http://schemas.microsoft.com/office/drawing/2014/main" id="{6362A16B-8DED-5044-8AAD-4BB3279B961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a:xfrm flipH="1">
            <a:off x="-1" y="2335882"/>
            <a:ext cx="5481423" cy="4522118"/>
          </a:xfrm>
          <a:prstGeom prst="rect">
            <a:avLst/>
          </a:prstGeom>
        </p:spPr>
      </p:pic>
      <p:cxnSp>
        <p:nvCxnSpPr>
          <p:cNvPr id="8" name="Straight Connector 7">
            <a:extLst>
              <a:ext uri="{FF2B5EF4-FFF2-40B4-BE49-F238E27FC236}">
                <a16:creationId xmlns:a16="http://schemas.microsoft.com/office/drawing/2014/main" id="{B6617CB0-1819-7B47-B5D0-FFE50F6696E0}"/>
              </a:ext>
            </a:extLst>
          </p:cNvPr>
          <p:cNvCxnSpPr>
            <a:cxnSpLocks/>
          </p:cNvCxnSpPr>
          <p:nvPr userDrawn="1"/>
        </p:nvCxnSpPr>
        <p:spPr>
          <a:xfrm flipH="1">
            <a:off x="643236" y="131876"/>
            <a:ext cx="1154876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10B328C-B73B-6840-8B04-DB9E7A568C51}"/>
              </a:ext>
            </a:extLst>
          </p:cNvPr>
          <p:cNvSpPr txBox="1"/>
          <p:nvPr userDrawn="1"/>
        </p:nvSpPr>
        <p:spPr>
          <a:xfrm>
            <a:off x="122978" y="150926"/>
            <a:ext cx="372322" cy="215444"/>
          </a:xfrm>
          <a:prstGeom prst="rect">
            <a:avLst/>
          </a:prstGeom>
          <a:noFill/>
        </p:spPr>
        <p:txBody>
          <a:bodyPr wrap="square" rtlCol="0">
            <a:spAutoFit/>
          </a:bodyPr>
          <a:lstStyle/>
          <a:p>
            <a:pPr algn="r"/>
            <a:fld id="{E8B45F66-8A40-B345-AA56-8E056E4B9DD3}" type="slidenum">
              <a:rPr lang="en-US" sz="800" smtClean="0">
                <a:solidFill>
                  <a:schemeClr val="bg1">
                    <a:lumMod val="50000"/>
                  </a:schemeClr>
                </a:solidFill>
                <a:latin typeface="Arial" panose="020B0604020202020204" pitchFamily="34" charset="0"/>
              </a:rPr>
              <a:t>‹#›</a:t>
            </a:fld>
            <a:endParaRPr lang="en-US" sz="800" dirty="0">
              <a:solidFill>
                <a:schemeClr val="bg1">
                  <a:lumMod val="50000"/>
                </a:schemeClr>
              </a:solidFill>
              <a:latin typeface="Arial" panose="020B0604020202020204" pitchFamily="34" charset="0"/>
            </a:endParaRPr>
          </a:p>
        </p:txBody>
      </p:sp>
      <p:cxnSp>
        <p:nvCxnSpPr>
          <p:cNvPr id="11" name="Straight Connector 10">
            <a:extLst>
              <a:ext uri="{FF2B5EF4-FFF2-40B4-BE49-F238E27FC236}">
                <a16:creationId xmlns:a16="http://schemas.microsoft.com/office/drawing/2014/main" id="{EF4DF365-CAAF-4642-A291-C02792B889DA}"/>
              </a:ext>
            </a:extLst>
          </p:cNvPr>
          <p:cNvCxnSpPr>
            <a:cxnSpLocks/>
          </p:cNvCxnSpPr>
          <p:nvPr userDrawn="1"/>
        </p:nvCxnSpPr>
        <p:spPr>
          <a:xfrm flipH="1">
            <a:off x="1" y="131876"/>
            <a:ext cx="43814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8">
            <a:extLst>
              <a:ext uri="{FF2B5EF4-FFF2-40B4-BE49-F238E27FC236}">
                <a16:creationId xmlns:a16="http://schemas.microsoft.com/office/drawing/2014/main" id="{ED9C9E04-C17E-9F4E-8A20-A7FCF70272C0}"/>
              </a:ext>
            </a:extLst>
          </p:cNvPr>
          <p:cNvSpPr>
            <a:spLocks noGrp="1"/>
          </p:cNvSpPr>
          <p:nvPr>
            <p:ph type="body" sz="quarter" idx="13" hasCustomPrompt="1"/>
          </p:nvPr>
        </p:nvSpPr>
        <p:spPr>
          <a:xfrm>
            <a:off x="543600" y="151200"/>
            <a:ext cx="4873665" cy="231111"/>
          </a:xfrm>
        </p:spPr>
        <p:txBody>
          <a:bodyPr/>
          <a:lstStyle>
            <a:lvl1pPr marL="0" indent="0">
              <a:buNone/>
              <a:defRPr lang="en-GB" sz="800" kern="1200" dirty="0" smtClean="0">
                <a:solidFill>
                  <a:schemeClr val="bg1">
                    <a:lumMod val="50000"/>
                  </a:schemeClr>
                </a:solidFill>
                <a:latin typeface="Arial Black" panose="020B0A04020102020204" pitchFamily="34" charset="0"/>
                <a:ea typeface="+mn-ea"/>
                <a:cs typeface="+mn-cs"/>
              </a:defRPr>
            </a:lvl1pPr>
            <a:lvl2pPr>
              <a:defRPr lang="en-GB" sz="800" kern="1200" dirty="0" smtClean="0">
                <a:solidFill>
                  <a:schemeClr val="bg1">
                    <a:lumMod val="50000"/>
                  </a:schemeClr>
                </a:solidFill>
                <a:latin typeface="Arial Black" panose="020B0A04020102020204" pitchFamily="34" charset="0"/>
                <a:ea typeface="+mn-ea"/>
                <a:cs typeface="+mn-cs"/>
              </a:defRPr>
            </a:lvl2pPr>
            <a:lvl3pPr>
              <a:defRPr lang="en-GB" sz="800" kern="1200" dirty="0" smtClean="0">
                <a:solidFill>
                  <a:schemeClr val="bg1">
                    <a:lumMod val="50000"/>
                  </a:schemeClr>
                </a:solidFill>
                <a:latin typeface="Arial Black" panose="020B0A04020102020204" pitchFamily="34" charset="0"/>
                <a:ea typeface="+mn-ea"/>
                <a:cs typeface="+mn-cs"/>
              </a:defRPr>
            </a:lvl3pPr>
            <a:lvl4pPr>
              <a:defRPr lang="en-GB" sz="800" kern="1200" dirty="0" smtClean="0">
                <a:solidFill>
                  <a:schemeClr val="bg1">
                    <a:lumMod val="50000"/>
                  </a:schemeClr>
                </a:solidFill>
                <a:latin typeface="Arial Black" panose="020B0A04020102020204" pitchFamily="34" charset="0"/>
                <a:ea typeface="+mn-ea"/>
                <a:cs typeface="+mn-cs"/>
              </a:defRPr>
            </a:lvl4pPr>
            <a:lvl5pPr>
              <a:defRPr lang="en-GB" sz="800" kern="1200" dirty="0" smtClean="0">
                <a:solidFill>
                  <a:schemeClr val="bg1">
                    <a:lumMod val="50000"/>
                  </a:schemeClr>
                </a:solidFill>
                <a:latin typeface="Arial Black" panose="020B0A04020102020204" pitchFamily="34" charset="0"/>
                <a:ea typeface="+mn-ea"/>
                <a:cs typeface="+mn-cs"/>
              </a:defRPr>
            </a:lvl5pPr>
          </a:lstStyle>
          <a:p>
            <a:pPr lvl="0"/>
            <a:r>
              <a:rPr lang="en-GB" dirty="0"/>
              <a:t>Section title</a:t>
            </a:r>
            <a:endParaRPr lang="en-LU" dirty="0"/>
          </a:p>
        </p:txBody>
      </p:sp>
      <p:sp>
        <p:nvSpPr>
          <p:cNvPr id="13" name="Text Placeholder 14">
            <a:extLst>
              <a:ext uri="{FF2B5EF4-FFF2-40B4-BE49-F238E27FC236}">
                <a16:creationId xmlns:a16="http://schemas.microsoft.com/office/drawing/2014/main" id="{2A01C38D-79EF-5340-A920-4137016C6071}"/>
              </a:ext>
            </a:extLst>
          </p:cNvPr>
          <p:cNvSpPr>
            <a:spLocks noGrp="1"/>
          </p:cNvSpPr>
          <p:nvPr>
            <p:ph type="body" sz="quarter" idx="14" hasCustomPrompt="1"/>
          </p:nvPr>
        </p:nvSpPr>
        <p:spPr>
          <a:xfrm>
            <a:off x="544513" y="1648319"/>
            <a:ext cx="11362565" cy="331787"/>
          </a:xfrm>
        </p:spPr>
        <p:txBody>
          <a:bodyPr>
            <a:normAutofit/>
          </a:bodyPr>
          <a:lstStyle>
            <a:lvl1pPr marL="0" indent="0">
              <a:buNone/>
              <a:defRPr lang="en-GB" sz="1400" kern="1200" dirty="0" smtClean="0">
                <a:solidFill>
                  <a:schemeClr val="tx1"/>
                </a:solidFill>
                <a:latin typeface="Arial" panose="020B0604020202020204" pitchFamily="34" charset="0"/>
                <a:ea typeface="+mn-ea"/>
                <a:cs typeface="+mn-cs"/>
              </a:defRPr>
            </a:lvl1pPr>
          </a:lstStyle>
          <a:p>
            <a:pPr lvl="0"/>
            <a:r>
              <a:rPr lang="en-GB" dirty="0"/>
              <a:t>Text in Arial 14</a:t>
            </a:r>
          </a:p>
        </p:txBody>
      </p:sp>
      <p:sp>
        <p:nvSpPr>
          <p:cNvPr id="14" name="Text Placeholder 14">
            <a:extLst>
              <a:ext uri="{FF2B5EF4-FFF2-40B4-BE49-F238E27FC236}">
                <a16:creationId xmlns:a16="http://schemas.microsoft.com/office/drawing/2014/main" id="{51528F0C-03FE-E74C-8A06-A43AAB67989B}"/>
              </a:ext>
            </a:extLst>
          </p:cNvPr>
          <p:cNvSpPr>
            <a:spLocks noGrp="1"/>
          </p:cNvSpPr>
          <p:nvPr>
            <p:ph type="body" sz="quarter" idx="15" hasCustomPrompt="1"/>
          </p:nvPr>
        </p:nvSpPr>
        <p:spPr>
          <a:xfrm>
            <a:off x="543600" y="915974"/>
            <a:ext cx="11362565" cy="331787"/>
          </a:xfrm>
        </p:spPr>
        <p:txBody>
          <a:bodyPr>
            <a:normAutofit/>
          </a:bodyPr>
          <a:lstStyle>
            <a:lvl1pPr marL="0" indent="0">
              <a:buNone/>
              <a:defRPr lang="en-GB" sz="1400" kern="1200" dirty="0" smtClean="0">
                <a:solidFill>
                  <a:schemeClr val="tx1"/>
                </a:solidFill>
                <a:latin typeface="Arial" panose="020B0604020202020204" pitchFamily="34" charset="0"/>
                <a:ea typeface="+mn-ea"/>
                <a:cs typeface="+mn-cs"/>
              </a:defRPr>
            </a:lvl1pPr>
          </a:lstStyle>
          <a:p>
            <a:pPr lvl="0"/>
            <a:r>
              <a:rPr lang="en-GB" dirty="0"/>
              <a:t>Optional: subtitle in Arial 14</a:t>
            </a:r>
          </a:p>
        </p:txBody>
      </p:sp>
    </p:spTree>
    <p:extLst>
      <p:ext uri="{BB962C8B-B14F-4D97-AF65-F5344CB8AC3E}">
        <p14:creationId xmlns:p14="http://schemas.microsoft.com/office/powerpoint/2010/main" val="3554314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whit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6617CB0-1819-7B47-B5D0-FFE50F6696E0}"/>
              </a:ext>
            </a:extLst>
          </p:cNvPr>
          <p:cNvCxnSpPr>
            <a:cxnSpLocks/>
          </p:cNvCxnSpPr>
          <p:nvPr userDrawn="1"/>
        </p:nvCxnSpPr>
        <p:spPr>
          <a:xfrm flipH="1">
            <a:off x="643236" y="131876"/>
            <a:ext cx="115487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F4DF365-CAAF-4642-A291-C02792B889DA}"/>
              </a:ext>
            </a:extLst>
          </p:cNvPr>
          <p:cNvCxnSpPr>
            <a:cxnSpLocks/>
          </p:cNvCxnSpPr>
          <p:nvPr userDrawn="1"/>
        </p:nvCxnSpPr>
        <p:spPr>
          <a:xfrm flipH="1">
            <a:off x="1" y="131876"/>
            <a:ext cx="438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DF10B6C-2220-F442-9841-F23C2A22A7E6}"/>
              </a:ext>
            </a:extLst>
          </p:cNvPr>
          <p:cNvSpPr txBox="1"/>
          <p:nvPr userDrawn="1"/>
        </p:nvSpPr>
        <p:spPr>
          <a:xfrm>
            <a:off x="122978" y="150926"/>
            <a:ext cx="372322" cy="215444"/>
          </a:xfrm>
          <a:prstGeom prst="rect">
            <a:avLst/>
          </a:prstGeom>
          <a:noFill/>
        </p:spPr>
        <p:txBody>
          <a:bodyPr wrap="square" rtlCol="0">
            <a:spAutoFit/>
          </a:bodyPr>
          <a:lstStyle/>
          <a:p>
            <a:pPr algn="r"/>
            <a:fld id="{E8B45F66-8A40-B345-AA56-8E056E4B9DD3}" type="slidenum">
              <a:rPr lang="en-US" sz="800" smtClean="0">
                <a:latin typeface="Arial" panose="020B0604020202020204" pitchFamily="34" charset="0"/>
              </a:rPr>
              <a:t>‹#›</a:t>
            </a:fld>
            <a:endParaRPr lang="en-US" sz="800" dirty="0">
              <a:latin typeface="Arial" panose="020B0604020202020204" pitchFamily="34" charset="0"/>
            </a:endParaRPr>
          </a:p>
        </p:txBody>
      </p:sp>
      <p:sp>
        <p:nvSpPr>
          <p:cNvPr id="10" name="Text Placeholder 5">
            <a:extLst>
              <a:ext uri="{FF2B5EF4-FFF2-40B4-BE49-F238E27FC236}">
                <a16:creationId xmlns:a16="http://schemas.microsoft.com/office/drawing/2014/main" id="{44DE82F8-4CF6-0F41-BF24-6B537AD3D7EF}"/>
              </a:ext>
            </a:extLst>
          </p:cNvPr>
          <p:cNvSpPr>
            <a:spLocks noGrp="1"/>
          </p:cNvSpPr>
          <p:nvPr>
            <p:ph type="body" sz="quarter" idx="11" hasCustomPrompt="1"/>
          </p:nvPr>
        </p:nvSpPr>
        <p:spPr>
          <a:xfrm>
            <a:off x="544513" y="427730"/>
            <a:ext cx="11362565" cy="476250"/>
          </a:xfrm>
        </p:spPr>
        <p:txBody>
          <a:bodyPr>
            <a:normAutofit/>
          </a:bodyPr>
          <a:lstStyle>
            <a:lvl1pPr marL="0" indent="0" algn="l" defTabSz="914400" rtl="0" eaLnBrk="1" latinLnBrk="0" hangingPunct="1">
              <a:buNone/>
              <a:defRPr lang="en-GB" sz="2400" b="1" kern="1200" dirty="0" smtClean="0">
                <a:solidFill>
                  <a:schemeClr val="tx1"/>
                </a:solidFill>
                <a:latin typeface="Arial" panose="020B0604020202020204" pitchFamily="34" charset="0"/>
                <a:ea typeface="+mn-ea"/>
                <a:cs typeface="Arial" panose="020B0604020202020204" pitchFamily="34" charset="0"/>
              </a:defRPr>
            </a:lvl1pPr>
          </a:lstStyle>
          <a:p>
            <a:pPr lvl="0"/>
            <a:r>
              <a:rPr lang="en-GB" dirty="0"/>
              <a:t>Title in Arial bold 24</a:t>
            </a:r>
          </a:p>
        </p:txBody>
      </p:sp>
      <p:sp>
        <p:nvSpPr>
          <p:cNvPr id="12" name="Text Placeholder 8">
            <a:extLst>
              <a:ext uri="{FF2B5EF4-FFF2-40B4-BE49-F238E27FC236}">
                <a16:creationId xmlns:a16="http://schemas.microsoft.com/office/drawing/2014/main" id="{E129BDC8-36EE-0047-B7EA-726C86D781C2}"/>
              </a:ext>
            </a:extLst>
          </p:cNvPr>
          <p:cNvSpPr>
            <a:spLocks noGrp="1"/>
          </p:cNvSpPr>
          <p:nvPr>
            <p:ph type="body" sz="quarter" idx="13" hasCustomPrompt="1"/>
          </p:nvPr>
        </p:nvSpPr>
        <p:spPr>
          <a:xfrm>
            <a:off x="543600" y="151200"/>
            <a:ext cx="4873665" cy="231111"/>
          </a:xfrm>
        </p:spPr>
        <p:txBody>
          <a:bodyPr/>
          <a:lstStyle>
            <a:lvl1pPr marL="0" indent="0">
              <a:buNone/>
              <a:defRPr lang="en-GB" sz="800" kern="1200" dirty="0" smtClean="0">
                <a:solidFill>
                  <a:schemeClr val="bg1">
                    <a:lumMod val="50000"/>
                  </a:schemeClr>
                </a:solidFill>
                <a:latin typeface="Arial Black" panose="020B0A04020102020204" pitchFamily="34" charset="0"/>
                <a:ea typeface="+mn-ea"/>
                <a:cs typeface="+mn-cs"/>
              </a:defRPr>
            </a:lvl1pPr>
            <a:lvl2pPr>
              <a:defRPr lang="en-GB" sz="800" kern="1200" dirty="0" smtClean="0">
                <a:solidFill>
                  <a:schemeClr val="bg1">
                    <a:lumMod val="50000"/>
                  </a:schemeClr>
                </a:solidFill>
                <a:latin typeface="Arial Black" panose="020B0A04020102020204" pitchFamily="34" charset="0"/>
                <a:ea typeface="+mn-ea"/>
                <a:cs typeface="+mn-cs"/>
              </a:defRPr>
            </a:lvl2pPr>
            <a:lvl3pPr>
              <a:defRPr lang="en-GB" sz="800" kern="1200" dirty="0" smtClean="0">
                <a:solidFill>
                  <a:schemeClr val="bg1">
                    <a:lumMod val="50000"/>
                  </a:schemeClr>
                </a:solidFill>
                <a:latin typeface="Arial Black" panose="020B0A04020102020204" pitchFamily="34" charset="0"/>
                <a:ea typeface="+mn-ea"/>
                <a:cs typeface="+mn-cs"/>
              </a:defRPr>
            </a:lvl3pPr>
            <a:lvl4pPr>
              <a:defRPr lang="en-GB" sz="800" kern="1200" dirty="0" smtClean="0">
                <a:solidFill>
                  <a:schemeClr val="bg1">
                    <a:lumMod val="50000"/>
                  </a:schemeClr>
                </a:solidFill>
                <a:latin typeface="Arial Black" panose="020B0A04020102020204" pitchFamily="34" charset="0"/>
                <a:ea typeface="+mn-ea"/>
                <a:cs typeface="+mn-cs"/>
              </a:defRPr>
            </a:lvl4pPr>
            <a:lvl5pPr>
              <a:defRPr lang="en-GB" sz="800" kern="1200" dirty="0" smtClean="0">
                <a:solidFill>
                  <a:schemeClr val="bg1">
                    <a:lumMod val="50000"/>
                  </a:schemeClr>
                </a:solidFill>
                <a:latin typeface="Arial Black" panose="020B0A04020102020204" pitchFamily="34" charset="0"/>
                <a:ea typeface="+mn-ea"/>
                <a:cs typeface="+mn-cs"/>
              </a:defRPr>
            </a:lvl5pPr>
          </a:lstStyle>
          <a:p>
            <a:pPr lvl="0"/>
            <a:r>
              <a:rPr lang="en-GB" dirty="0"/>
              <a:t>Section title</a:t>
            </a:r>
            <a:endParaRPr lang="en-LU" dirty="0"/>
          </a:p>
        </p:txBody>
      </p:sp>
      <p:sp>
        <p:nvSpPr>
          <p:cNvPr id="14" name="Text Placeholder 14">
            <a:extLst>
              <a:ext uri="{FF2B5EF4-FFF2-40B4-BE49-F238E27FC236}">
                <a16:creationId xmlns:a16="http://schemas.microsoft.com/office/drawing/2014/main" id="{4A5E3861-A818-4849-B095-26DEB252A605}"/>
              </a:ext>
            </a:extLst>
          </p:cNvPr>
          <p:cNvSpPr>
            <a:spLocks noGrp="1"/>
          </p:cNvSpPr>
          <p:nvPr>
            <p:ph type="body" sz="quarter" idx="14" hasCustomPrompt="1"/>
          </p:nvPr>
        </p:nvSpPr>
        <p:spPr>
          <a:xfrm>
            <a:off x="544513" y="1648319"/>
            <a:ext cx="11362565" cy="331787"/>
          </a:xfrm>
        </p:spPr>
        <p:txBody>
          <a:bodyPr>
            <a:normAutofit/>
          </a:bodyPr>
          <a:lstStyle>
            <a:lvl1pPr marL="0" indent="0">
              <a:buNone/>
              <a:defRPr lang="en-GB" sz="1400" kern="1200" dirty="0" smtClean="0">
                <a:solidFill>
                  <a:schemeClr val="tx1"/>
                </a:solidFill>
                <a:latin typeface="Arial" panose="020B0604020202020204" pitchFamily="34" charset="0"/>
                <a:ea typeface="+mn-ea"/>
                <a:cs typeface="+mn-cs"/>
              </a:defRPr>
            </a:lvl1pPr>
          </a:lstStyle>
          <a:p>
            <a:pPr lvl="0"/>
            <a:r>
              <a:rPr lang="en-GB" dirty="0"/>
              <a:t>Text in Arial 14</a:t>
            </a:r>
          </a:p>
        </p:txBody>
      </p:sp>
      <p:sp>
        <p:nvSpPr>
          <p:cNvPr id="16" name="Text Placeholder 14">
            <a:extLst>
              <a:ext uri="{FF2B5EF4-FFF2-40B4-BE49-F238E27FC236}">
                <a16:creationId xmlns:a16="http://schemas.microsoft.com/office/drawing/2014/main" id="{DD67E7D2-988C-4B49-BBDD-5883CC690DD2}"/>
              </a:ext>
            </a:extLst>
          </p:cNvPr>
          <p:cNvSpPr>
            <a:spLocks noGrp="1"/>
          </p:cNvSpPr>
          <p:nvPr>
            <p:ph type="body" sz="quarter" idx="15" hasCustomPrompt="1"/>
          </p:nvPr>
        </p:nvSpPr>
        <p:spPr>
          <a:xfrm>
            <a:off x="543600" y="915974"/>
            <a:ext cx="11362565" cy="331787"/>
          </a:xfrm>
        </p:spPr>
        <p:txBody>
          <a:bodyPr>
            <a:normAutofit/>
          </a:bodyPr>
          <a:lstStyle>
            <a:lvl1pPr marL="0" indent="0">
              <a:buNone/>
              <a:defRPr lang="en-GB" sz="1400" kern="1200" dirty="0" smtClean="0">
                <a:solidFill>
                  <a:schemeClr val="tx1"/>
                </a:solidFill>
                <a:latin typeface="Arial" panose="020B0604020202020204" pitchFamily="34" charset="0"/>
                <a:ea typeface="+mn-ea"/>
                <a:cs typeface="+mn-cs"/>
              </a:defRPr>
            </a:lvl1pPr>
          </a:lstStyle>
          <a:p>
            <a:pPr lvl="0"/>
            <a:r>
              <a:rPr lang="en-GB" dirty="0"/>
              <a:t>Optional: subtitle in Arial 14</a:t>
            </a:r>
          </a:p>
        </p:txBody>
      </p:sp>
    </p:spTree>
    <p:extLst>
      <p:ext uri="{BB962C8B-B14F-4D97-AF65-F5344CB8AC3E}">
        <p14:creationId xmlns:p14="http://schemas.microsoft.com/office/powerpoint/2010/main" val="835210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descr="A picture containing water, table, holding, large&#10;&#10;Description automatically generated">
            <a:extLst>
              <a:ext uri="{FF2B5EF4-FFF2-40B4-BE49-F238E27FC236}">
                <a16:creationId xmlns:a16="http://schemas.microsoft.com/office/drawing/2014/main" id="{54B85152-44A4-3A4F-A601-06908EA4CAD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7ED45BE-A5FB-4F40-99CB-579F650A5A3D}"/>
              </a:ext>
            </a:extLst>
          </p:cNvPr>
          <p:cNvSpPr>
            <a:spLocks noGrp="1"/>
          </p:cNvSpPr>
          <p:nvPr>
            <p:ph type="title" hasCustomPrompt="1"/>
          </p:nvPr>
        </p:nvSpPr>
        <p:spPr>
          <a:xfrm>
            <a:off x="831850" y="1709738"/>
            <a:ext cx="6284567" cy="2852737"/>
          </a:xfrm>
        </p:spPr>
        <p:txBody>
          <a:bodyPr anchor="b">
            <a:normAutofit/>
          </a:bodyPr>
          <a:lstStyle>
            <a:lvl1pPr>
              <a:defRPr lang="en-US" sz="6600" b="1" kern="1200" dirty="0">
                <a:solidFill>
                  <a:schemeClr val="bg1"/>
                </a:solidFill>
                <a:latin typeface="Arial" panose="020B0604020202020204" pitchFamily="34" charset="0"/>
                <a:ea typeface="+mn-ea"/>
                <a:cs typeface="+mn-cs"/>
              </a:defRPr>
            </a:lvl1pPr>
          </a:lstStyle>
          <a:p>
            <a:r>
              <a:rPr lang="en-US" dirty="0"/>
              <a:t>Click to edit section title</a:t>
            </a:r>
          </a:p>
        </p:txBody>
      </p:sp>
      <p:cxnSp>
        <p:nvCxnSpPr>
          <p:cNvPr id="10" name="Straight Connector 9">
            <a:extLst>
              <a:ext uri="{FF2B5EF4-FFF2-40B4-BE49-F238E27FC236}">
                <a16:creationId xmlns:a16="http://schemas.microsoft.com/office/drawing/2014/main" id="{6F4C128C-B036-3D46-88D1-6E3D60FB7E66}"/>
              </a:ext>
            </a:extLst>
          </p:cNvPr>
          <p:cNvCxnSpPr>
            <a:cxnSpLocks/>
          </p:cNvCxnSpPr>
          <p:nvPr userDrawn="1"/>
        </p:nvCxnSpPr>
        <p:spPr>
          <a:xfrm flipH="1">
            <a:off x="643236" y="131876"/>
            <a:ext cx="11548765" cy="0"/>
          </a:xfrm>
          <a:prstGeom prst="line">
            <a:avLst/>
          </a:prstGeom>
          <a:ln>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D38699C-CAA6-0A4C-A736-5095BDB97BB4}"/>
              </a:ext>
            </a:extLst>
          </p:cNvPr>
          <p:cNvGrpSpPr/>
          <p:nvPr userDrawn="1"/>
        </p:nvGrpSpPr>
        <p:grpSpPr>
          <a:xfrm>
            <a:off x="-24715" y="5825730"/>
            <a:ext cx="12216715" cy="1418626"/>
            <a:chOff x="-24715" y="5825730"/>
            <a:chExt cx="12216715" cy="1418626"/>
          </a:xfrm>
        </p:grpSpPr>
        <p:pic>
          <p:nvPicPr>
            <p:cNvPr id="9" name="Image 5" descr="Bande_Logo_UNI_PP_right_long.eps">
              <a:extLst>
                <a:ext uri="{FF2B5EF4-FFF2-40B4-BE49-F238E27FC236}">
                  <a16:creationId xmlns:a16="http://schemas.microsoft.com/office/drawing/2014/main" id="{F960BBB5-41E2-9549-B5FA-0012C30FE421}"/>
                </a:ext>
              </a:extLst>
            </p:cNvPr>
            <p:cNvPicPr/>
            <p:nvPr/>
          </p:nvPicPr>
          <p:blipFill rotWithShape="1">
            <a:blip r:embed="rId3"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a:solidFill>
                    <a:srgbClr val="FFFFFF"/>
                  </a:solid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B5CA9B7A-A4A6-BB48-9521-C4F9FB6A3437}"/>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2" name="Picture 11">
              <a:extLst>
                <a:ext uri="{FF2B5EF4-FFF2-40B4-BE49-F238E27FC236}">
                  <a16:creationId xmlns:a16="http://schemas.microsoft.com/office/drawing/2014/main" id="{F8876458-803E-1C4D-BEEA-5F830B9D0DA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pic>
        <p:nvPicPr>
          <p:cNvPr id="13" name="Graphic 12">
            <a:extLst>
              <a:ext uri="{FF2B5EF4-FFF2-40B4-BE49-F238E27FC236}">
                <a16:creationId xmlns:a16="http://schemas.microsoft.com/office/drawing/2014/main" id="{4D8040F2-EF7F-7A45-AB3D-761B09F5A462}"/>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70285" y="1386141"/>
            <a:ext cx="1256457" cy="987835"/>
          </a:xfrm>
          <a:prstGeom prst="rect">
            <a:avLst/>
          </a:prstGeom>
        </p:spPr>
      </p:pic>
    </p:spTree>
    <p:extLst>
      <p:ext uri="{BB962C8B-B14F-4D97-AF65-F5344CB8AC3E}">
        <p14:creationId xmlns:p14="http://schemas.microsoft.com/office/powerpoint/2010/main" val="2936417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6" name="Picture 5" descr="A picture containing star, game, glass&#10;&#10;Description automatically generated">
            <a:extLst>
              <a:ext uri="{FF2B5EF4-FFF2-40B4-BE49-F238E27FC236}">
                <a16:creationId xmlns:a16="http://schemas.microsoft.com/office/drawing/2014/main" id="{4DDCF0D0-9C6D-094B-98F9-E076CD1DD52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7ED45BE-A5FB-4F40-99CB-579F650A5A3D}"/>
              </a:ext>
            </a:extLst>
          </p:cNvPr>
          <p:cNvSpPr>
            <a:spLocks noGrp="1"/>
          </p:cNvSpPr>
          <p:nvPr>
            <p:ph type="title" hasCustomPrompt="1"/>
          </p:nvPr>
        </p:nvSpPr>
        <p:spPr>
          <a:xfrm>
            <a:off x="831850" y="1709738"/>
            <a:ext cx="6284567" cy="2852737"/>
          </a:xfrm>
        </p:spPr>
        <p:txBody>
          <a:bodyPr anchor="b">
            <a:normAutofit/>
          </a:bodyPr>
          <a:lstStyle>
            <a:lvl1pPr>
              <a:defRPr lang="en-US" sz="6600" b="1" kern="1200" dirty="0">
                <a:solidFill>
                  <a:schemeClr val="bg1"/>
                </a:solidFill>
                <a:latin typeface="Arial" panose="020B0604020202020204" pitchFamily="34" charset="0"/>
                <a:ea typeface="+mn-ea"/>
                <a:cs typeface="+mn-cs"/>
              </a:defRPr>
            </a:lvl1pPr>
          </a:lstStyle>
          <a:p>
            <a:r>
              <a:rPr lang="en-US" dirty="0"/>
              <a:t>Click to edit section title</a:t>
            </a:r>
          </a:p>
        </p:txBody>
      </p:sp>
      <p:cxnSp>
        <p:nvCxnSpPr>
          <p:cNvPr id="10" name="Straight Connector 9">
            <a:extLst>
              <a:ext uri="{FF2B5EF4-FFF2-40B4-BE49-F238E27FC236}">
                <a16:creationId xmlns:a16="http://schemas.microsoft.com/office/drawing/2014/main" id="{6F4C128C-B036-3D46-88D1-6E3D60FB7E66}"/>
              </a:ext>
            </a:extLst>
          </p:cNvPr>
          <p:cNvCxnSpPr>
            <a:cxnSpLocks/>
          </p:cNvCxnSpPr>
          <p:nvPr userDrawn="1"/>
        </p:nvCxnSpPr>
        <p:spPr>
          <a:xfrm flipH="1">
            <a:off x="643236" y="131876"/>
            <a:ext cx="11548765" cy="0"/>
          </a:xfrm>
          <a:prstGeom prst="line">
            <a:avLst/>
          </a:prstGeom>
          <a:ln>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7B63906A-4BFD-4B4B-85AD-3464F2D706D9}"/>
              </a:ext>
            </a:extLst>
          </p:cNvPr>
          <p:cNvGrpSpPr/>
          <p:nvPr userDrawn="1"/>
        </p:nvGrpSpPr>
        <p:grpSpPr>
          <a:xfrm>
            <a:off x="-24715" y="5825730"/>
            <a:ext cx="12216715" cy="1418626"/>
            <a:chOff x="-24715" y="5825730"/>
            <a:chExt cx="12216715" cy="1418626"/>
          </a:xfrm>
        </p:grpSpPr>
        <p:pic>
          <p:nvPicPr>
            <p:cNvPr id="9" name="Image 5" descr="Bande_Logo_UNI_PP_right_long.eps">
              <a:extLst>
                <a:ext uri="{FF2B5EF4-FFF2-40B4-BE49-F238E27FC236}">
                  <a16:creationId xmlns:a16="http://schemas.microsoft.com/office/drawing/2014/main" id="{31FC56D1-B78D-6945-AD64-C428DF38144A}"/>
                </a:ext>
              </a:extLst>
            </p:cNvPr>
            <p:cNvPicPr/>
            <p:nvPr/>
          </p:nvPicPr>
          <p:blipFill rotWithShape="1">
            <a:blip r:embed="rId3"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a:solidFill>
                    <a:srgbClr val="FFFFFF"/>
                  </a:solid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8B73630B-A2F5-E64D-9EAE-557596B909FB}"/>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2" name="Picture 11">
              <a:extLst>
                <a:ext uri="{FF2B5EF4-FFF2-40B4-BE49-F238E27FC236}">
                  <a16:creationId xmlns:a16="http://schemas.microsoft.com/office/drawing/2014/main" id="{4FC6265B-E736-2042-B1E9-963A32659F3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pic>
        <p:nvPicPr>
          <p:cNvPr id="13" name="Graphic 12">
            <a:extLst>
              <a:ext uri="{FF2B5EF4-FFF2-40B4-BE49-F238E27FC236}">
                <a16:creationId xmlns:a16="http://schemas.microsoft.com/office/drawing/2014/main" id="{6BC51A8B-A66D-3047-B601-FBD9C5792082}"/>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70285" y="1386141"/>
            <a:ext cx="1256457" cy="987835"/>
          </a:xfrm>
          <a:prstGeom prst="rect">
            <a:avLst/>
          </a:prstGeom>
        </p:spPr>
      </p:pic>
    </p:spTree>
    <p:extLst>
      <p:ext uri="{BB962C8B-B14F-4D97-AF65-F5344CB8AC3E}">
        <p14:creationId xmlns:p14="http://schemas.microsoft.com/office/powerpoint/2010/main" val="1274322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FD93927-40CA-4B4B-BFFC-4531B2573CD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a:xfrm flipH="1">
            <a:off x="-1" y="2335882"/>
            <a:ext cx="5481423" cy="4522118"/>
          </a:xfrm>
          <a:prstGeom prst="rect">
            <a:avLst/>
          </a:prstGeom>
        </p:spPr>
      </p:pic>
      <p:sp>
        <p:nvSpPr>
          <p:cNvPr id="3" name="Content Placeholder 2">
            <a:extLst>
              <a:ext uri="{FF2B5EF4-FFF2-40B4-BE49-F238E27FC236}">
                <a16:creationId xmlns:a16="http://schemas.microsoft.com/office/drawing/2014/main" id="{6495D105-A183-4D5C-8439-AA6787FE3F3E}"/>
              </a:ext>
            </a:extLst>
          </p:cNvPr>
          <p:cNvSpPr>
            <a:spLocks noGrp="1"/>
          </p:cNvSpPr>
          <p:nvPr>
            <p:ph sz="half" idx="1"/>
          </p:nvPr>
        </p:nvSpPr>
        <p:spPr>
          <a:xfrm>
            <a:off x="827314" y="1444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0B44B22-3E6D-4C0C-AE07-3C8899F23AAB}"/>
              </a:ext>
            </a:extLst>
          </p:cNvPr>
          <p:cNvSpPr>
            <a:spLocks noGrp="1"/>
          </p:cNvSpPr>
          <p:nvPr>
            <p:ph sz="half" idx="2"/>
          </p:nvPr>
        </p:nvSpPr>
        <p:spPr>
          <a:xfrm>
            <a:off x="6161314" y="1444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48E07E8B-810F-5E48-A31D-15AED5EEB71C}"/>
              </a:ext>
            </a:extLst>
          </p:cNvPr>
          <p:cNvSpPr>
            <a:spLocks noGrp="1"/>
          </p:cNvSpPr>
          <p:nvPr>
            <p:ph type="body" sz="quarter" idx="13" hasCustomPrompt="1"/>
          </p:nvPr>
        </p:nvSpPr>
        <p:spPr>
          <a:xfrm>
            <a:off x="544513" y="427730"/>
            <a:ext cx="11362565" cy="476250"/>
          </a:xfrm>
        </p:spPr>
        <p:txBody>
          <a:bodyPr>
            <a:normAutofit/>
          </a:bodyPr>
          <a:lstStyle>
            <a:lvl1pPr marL="0" indent="0" algn="l" defTabSz="914400" rtl="0" eaLnBrk="1" latinLnBrk="0" hangingPunct="1">
              <a:buNone/>
              <a:defRPr lang="en-GB" sz="2400" b="1" kern="1200" dirty="0" smtClean="0">
                <a:solidFill>
                  <a:schemeClr val="tx1"/>
                </a:solidFill>
                <a:latin typeface="Arial" panose="020B0604020202020204" pitchFamily="34" charset="0"/>
                <a:ea typeface="+mn-ea"/>
                <a:cs typeface="Arial" panose="020B0604020202020204" pitchFamily="34" charset="0"/>
              </a:defRPr>
            </a:lvl1pPr>
          </a:lstStyle>
          <a:p>
            <a:pPr lvl="0"/>
            <a:r>
              <a:rPr lang="en-GB" dirty="0"/>
              <a:t>Title in Arial bold 24</a:t>
            </a:r>
          </a:p>
        </p:txBody>
      </p:sp>
      <p:sp>
        <p:nvSpPr>
          <p:cNvPr id="9" name="TextBox 8">
            <a:extLst>
              <a:ext uri="{FF2B5EF4-FFF2-40B4-BE49-F238E27FC236}">
                <a16:creationId xmlns:a16="http://schemas.microsoft.com/office/drawing/2014/main" id="{0422DFD6-7E52-F946-BCF2-42F1F4CCDCCA}"/>
              </a:ext>
            </a:extLst>
          </p:cNvPr>
          <p:cNvSpPr txBox="1"/>
          <p:nvPr userDrawn="1"/>
        </p:nvSpPr>
        <p:spPr>
          <a:xfrm>
            <a:off x="122978" y="150926"/>
            <a:ext cx="372322" cy="215444"/>
          </a:xfrm>
          <a:prstGeom prst="rect">
            <a:avLst/>
          </a:prstGeom>
          <a:noFill/>
        </p:spPr>
        <p:txBody>
          <a:bodyPr wrap="square" rtlCol="0">
            <a:spAutoFit/>
          </a:bodyPr>
          <a:lstStyle/>
          <a:p>
            <a:pPr algn="r"/>
            <a:fld id="{E8B45F66-8A40-B345-AA56-8E056E4B9DD3}" type="slidenum">
              <a:rPr lang="en-US" sz="800" smtClean="0">
                <a:solidFill>
                  <a:schemeClr val="bg1">
                    <a:lumMod val="50000"/>
                  </a:schemeClr>
                </a:solidFill>
                <a:latin typeface="Arial" panose="020B0604020202020204" pitchFamily="34" charset="0"/>
              </a:rPr>
              <a:t>‹#›</a:t>
            </a:fld>
            <a:endParaRPr lang="en-US" sz="800" dirty="0">
              <a:solidFill>
                <a:schemeClr val="bg1">
                  <a:lumMod val="50000"/>
                </a:schemeClr>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994AF36B-1BA4-8A42-A228-A83DDA7A8429}"/>
              </a:ext>
            </a:extLst>
          </p:cNvPr>
          <p:cNvCxnSpPr>
            <a:cxnSpLocks/>
          </p:cNvCxnSpPr>
          <p:nvPr userDrawn="1"/>
        </p:nvCxnSpPr>
        <p:spPr>
          <a:xfrm flipH="1">
            <a:off x="1" y="131876"/>
            <a:ext cx="43814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8">
            <a:extLst>
              <a:ext uri="{FF2B5EF4-FFF2-40B4-BE49-F238E27FC236}">
                <a16:creationId xmlns:a16="http://schemas.microsoft.com/office/drawing/2014/main" id="{AC11A367-FA04-BA46-A604-BBF1CD885041}"/>
              </a:ext>
            </a:extLst>
          </p:cNvPr>
          <p:cNvSpPr>
            <a:spLocks noGrp="1"/>
          </p:cNvSpPr>
          <p:nvPr>
            <p:ph type="body" sz="quarter" idx="14" hasCustomPrompt="1"/>
          </p:nvPr>
        </p:nvSpPr>
        <p:spPr>
          <a:xfrm>
            <a:off x="543600" y="151200"/>
            <a:ext cx="4873665" cy="231111"/>
          </a:xfrm>
        </p:spPr>
        <p:txBody>
          <a:bodyPr/>
          <a:lstStyle>
            <a:lvl1pPr marL="0" indent="0">
              <a:buNone/>
              <a:defRPr lang="en-GB" sz="800" kern="1200" dirty="0" smtClean="0">
                <a:solidFill>
                  <a:schemeClr val="bg1">
                    <a:lumMod val="50000"/>
                  </a:schemeClr>
                </a:solidFill>
                <a:latin typeface="Arial Black" panose="020B0A04020102020204" pitchFamily="34" charset="0"/>
                <a:ea typeface="+mn-ea"/>
                <a:cs typeface="+mn-cs"/>
              </a:defRPr>
            </a:lvl1pPr>
            <a:lvl2pPr>
              <a:defRPr lang="en-GB" sz="800" kern="1200" dirty="0" smtClean="0">
                <a:solidFill>
                  <a:schemeClr val="bg1">
                    <a:lumMod val="50000"/>
                  </a:schemeClr>
                </a:solidFill>
                <a:latin typeface="Arial Black" panose="020B0A04020102020204" pitchFamily="34" charset="0"/>
                <a:ea typeface="+mn-ea"/>
                <a:cs typeface="+mn-cs"/>
              </a:defRPr>
            </a:lvl2pPr>
            <a:lvl3pPr>
              <a:defRPr lang="en-GB" sz="800" kern="1200" dirty="0" smtClean="0">
                <a:solidFill>
                  <a:schemeClr val="bg1">
                    <a:lumMod val="50000"/>
                  </a:schemeClr>
                </a:solidFill>
                <a:latin typeface="Arial Black" panose="020B0A04020102020204" pitchFamily="34" charset="0"/>
                <a:ea typeface="+mn-ea"/>
                <a:cs typeface="+mn-cs"/>
              </a:defRPr>
            </a:lvl3pPr>
            <a:lvl4pPr>
              <a:defRPr lang="en-GB" sz="800" kern="1200" dirty="0" smtClean="0">
                <a:solidFill>
                  <a:schemeClr val="bg1">
                    <a:lumMod val="50000"/>
                  </a:schemeClr>
                </a:solidFill>
                <a:latin typeface="Arial Black" panose="020B0A04020102020204" pitchFamily="34" charset="0"/>
                <a:ea typeface="+mn-ea"/>
                <a:cs typeface="+mn-cs"/>
              </a:defRPr>
            </a:lvl4pPr>
            <a:lvl5pPr>
              <a:defRPr lang="en-GB" sz="800" kern="1200" dirty="0" smtClean="0">
                <a:solidFill>
                  <a:schemeClr val="bg1">
                    <a:lumMod val="50000"/>
                  </a:schemeClr>
                </a:solidFill>
                <a:latin typeface="Arial Black" panose="020B0A04020102020204" pitchFamily="34" charset="0"/>
                <a:ea typeface="+mn-ea"/>
                <a:cs typeface="+mn-cs"/>
              </a:defRPr>
            </a:lvl5pPr>
          </a:lstStyle>
          <a:p>
            <a:pPr lvl="0"/>
            <a:r>
              <a:rPr lang="en-GB" dirty="0"/>
              <a:t>Section title</a:t>
            </a:r>
            <a:endParaRPr lang="en-LU" dirty="0"/>
          </a:p>
        </p:txBody>
      </p:sp>
      <p:cxnSp>
        <p:nvCxnSpPr>
          <p:cNvPr id="12" name="Straight Connector 11">
            <a:extLst>
              <a:ext uri="{FF2B5EF4-FFF2-40B4-BE49-F238E27FC236}">
                <a16:creationId xmlns:a16="http://schemas.microsoft.com/office/drawing/2014/main" id="{1C23EE7A-C4AC-2A43-8682-30AF56F401B4}"/>
              </a:ext>
            </a:extLst>
          </p:cNvPr>
          <p:cNvCxnSpPr>
            <a:cxnSpLocks/>
          </p:cNvCxnSpPr>
          <p:nvPr userDrawn="1"/>
        </p:nvCxnSpPr>
        <p:spPr>
          <a:xfrm flipH="1">
            <a:off x="643236" y="131876"/>
            <a:ext cx="1154876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3621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06169FD-D34F-5C49-9B04-B582AE001B1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a:xfrm flipH="1">
            <a:off x="-1" y="2335882"/>
            <a:ext cx="5481423" cy="4522118"/>
          </a:xfrm>
          <a:prstGeom prst="rect">
            <a:avLst/>
          </a:prstGeom>
        </p:spPr>
      </p:pic>
      <p:sp>
        <p:nvSpPr>
          <p:cNvPr id="3" name="Text Placeholder 2">
            <a:extLst>
              <a:ext uri="{FF2B5EF4-FFF2-40B4-BE49-F238E27FC236}">
                <a16:creationId xmlns:a16="http://schemas.microsoft.com/office/drawing/2014/main" id="{B2366767-753A-4654-96CF-A211F6E663BC}"/>
              </a:ext>
            </a:extLst>
          </p:cNvPr>
          <p:cNvSpPr>
            <a:spLocks noGrp="1"/>
          </p:cNvSpPr>
          <p:nvPr>
            <p:ph type="body" idx="1"/>
          </p:nvPr>
        </p:nvSpPr>
        <p:spPr>
          <a:xfrm>
            <a:off x="839788" y="1681163"/>
            <a:ext cx="5157787" cy="823912"/>
          </a:xfrm>
        </p:spPr>
        <p:txBody>
          <a:bodyPr anchor="b">
            <a:normAutofit/>
          </a:bodyPr>
          <a:lstStyle>
            <a:lvl1pPr marL="0" indent="0">
              <a:buNone/>
              <a:defRPr sz="1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0B6972BF-7F94-4BD2-B605-C311E5F33430}"/>
              </a:ext>
            </a:extLst>
          </p:cNvPr>
          <p:cNvSpPr>
            <a:spLocks noGrp="1"/>
          </p:cNvSpPr>
          <p:nvPr>
            <p:ph sz="half" idx="2"/>
          </p:nvPr>
        </p:nvSpPr>
        <p:spPr>
          <a:xfrm>
            <a:off x="839788" y="2505075"/>
            <a:ext cx="5157787" cy="3684588"/>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5556B8E-0CEA-4136-BF0D-0143A8BBBCA7}"/>
              </a:ext>
            </a:extLst>
          </p:cNvPr>
          <p:cNvSpPr>
            <a:spLocks noGrp="1"/>
          </p:cNvSpPr>
          <p:nvPr>
            <p:ph type="body" sz="quarter" idx="3"/>
          </p:nvPr>
        </p:nvSpPr>
        <p:spPr>
          <a:xfrm>
            <a:off x="6172200" y="1681163"/>
            <a:ext cx="5183188" cy="823912"/>
          </a:xfrm>
        </p:spPr>
        <p:txBody>
          <a:bodyPr anchor="b">
            <a:normAutofit/>
          </a:bodyPr>
          <a:lstStyle>
            <a:lvl1pPr marL="0" indent="0">
              <a:buNone/>
              <a:defRPr sz="1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CE8AE0-0D9F-49E2-B0C4-0EEDC20DC082}"/>
              </a:ext>
            </a:extLst>
          </p:cNvPr>
          <p:cNvSpPr>
            <a:spLocks noGrp="1"/>
          </p:cNvSpPr>
          <p:nvPr>
            <p:ph sz="quarter" idx="4"/>
          </p:nvPr>
        </p:nvSpPr>
        <p:spPr>
          <a:xfrm>
            <a:off x="6172200" y="2505075"/>
            <a:ext cx="5183188" cy="3684588"/>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5">
            <a:extLst>
              <a:ext uri="{FF2B5EF4-FFF2-40B4-BE49-F238E27FC236}">
                <a16:creationId xmlns:a16="http://schemas.microsoft.com/office/drawing/2014/main" id="{288F28D1-FAB6-984C-9553-F908C6153E0D}"/>
              </a:ext>
            </a:extLst>
          </p:cNvPr>
          <p:cNvSpPr>
            <a:spLocks noGrp="1"/>
          </p:cNvSpPr>
          <p:nvPr>
            <p:ph type="body" sz="quarter" idx="13" hasCustomPrompt="1"/>
          </p:nvPr>
        </p:nvSpPr>
        <p:spPr>
          <a:xfrm>
            <a:off x="544513" y="427730"/>
            <a:ext cx="11362565" cy="476250"/>
          </a:xfrm>
        </p:spPr>
        <p:txBody>
          <a:bodyPr>
            <a:normAutofit/>
          </a:bodyPr>
          <a:lstStyle>
            <a:lvl1pPr marL="0" indent="0" algn="l" defTabSz="914400" rtl="0" eaLnBrk="1" latinLnBrk="0" hangingPunct="1">
              <a:buNone/>
              <a:defRPr lang="en-GB" sz="2400" b="1" kern="1200" dirty="0" smtClean="0">
                <a:solidFill>
                  <a:schemeClr val="tx1"/>
                </a:solidFill>
                <a:latin typeface="Arial" panose="020B0604020202020204" pitchFamily="34" charset="0"/>
                <a:ea typeface="+mn-ea"/>
                <a:cs typeface="Arial" panose="020B0604020202020204" pitchFamily="34" charset="0"/>
              </a:defRPr>
            </a:lvl1pPr>
          </a:lstStyle>
          <a:p>
            <a:pPr lvl="0"/>
            <a:r>
              <a:rPr lang="en-GB" dirty="0"/>
              <a:t>Title in Arial bold 24</a:t>
            </a:r>
          </a:p>
        </p:txBody>
      </p:sp>
      <p:sp>
        <p:nvSpPr>
          <p:cNvPr id="11" name="TextBox 10">
            <a:extLst>
              <a:ext uri="{FF2B5EF4-FFF2-40B4-BE49-F238E27FC236}">
                <a16:creationId xmlns:a16="http://schemas.microsoft.com/office/drawing/2014/main" id="{164FC75E-6FBC-2149-9C86-89E620C13660}"/>
              </a:ext>
            </a:extLst>
          </p:cNvPr>
          <p:cNvSpPr txBox="1"/>
          <p:nvPr userDrawn="1"/>
        </p:nvSpPr>
        <p:spPr>
          <a:xfrm>
            <a:off x="122978" y="150926"/>
            <a:ext cx="372322" cy="215444"/>
          </a:xfrm>
          <a:prstGeom prst="rect">
            <a:avLst/>
          </a:prstGeom>
          <a:noFill/>
        </p:spPr>
        <p:txBody>
          <a:bodyPr wrap="square" rtlCol="0">
            <a:spAutoFit/>
          </a:bodyPr>
          <a:lstStyle/>
          <a:p>
            <a:pPr algn="r"/>
            <a:fld id="{E8B45F66-8A40-B345-AA56-8E056E4B9DD3}" type="slidenum">
              <a:rPr lang="en-US" sz="800" smtClean="0">
                <a:solidFill>
                  <a:schemeClr val="bg1">
                    <a:lumMod val="50000"/>
                  </a:schemeClr>
                </a:solidFill>
                <a:latin typeface="Arial" panose="020B0604020202020204" pitchFamily="34" charset="0"/>
              </a:rPr>
              <a:t>‹#›</a:t>
            </a:fld>
            <a:endParaRPr lang="en-US" sz="800" dirty="0">
              <a:solidFill>
                <a:schemeClr val="bg1">
                  <a:lumMod val="50000"/>
                </a:schemeClr>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833648B8-79F7-F943-8CCB-20505014FC2C}"/>
              </a:ext>
            </a:extLst>
          </p:cNvPr>
          <p:cNvCxnSpPr>
            <a:cxnSpLocks/>
          </p:cNvCxnSpPr>
          <p:nvPr userDrawn="1"/>
        </p:nvCxnSpPr>
        <p:spPr>
          <a:xfrm flipH="1">
            <a:off x="1" y="131876"/>
            <a:ext cx="43814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 Placeholder 8">
            <a:extLst>
              <a:ext uri="{FF2B5EF4-FFF2-40B4-BE49-F238E27FC236}">
                <a16:creationId xmlns:a16="http://schemas.microsoft.com/office/drawing/2014/main" id="{B13C4E7C-0264-FD42-8F4A-AD7B690C7A18}"/>
              </a:ext>
            </a:extLst>
          </p:cNvPr>
          <p:cNvSpPr>
            <a:spLocks noGrp="1"/>
          </p:cNvSpPr>
          <p:nvPr>
            <p:ph type="body" sz="quarter" idx="14" hasCustomPrompt="1"/>
          </p:nvPr>
        </p:nvSpPr>
        <p:spPr>
          <a:xfrm>
            <a:off x="543600" y="151200"/>
            <a:ext cx="4873665" cy="231111"/>
          </a:xfrm>
        </p:spPr>
        <p:txBody>
          <a:bodyPr/>
          <a:lstStyle>
            <a:lvl1pPr marL="0" indent="0">
              <a:buNone/>
              <a:defRPr lang="en-GB" sz="800" kern="1200" dirty="0" smtClean="0">
                <a:solidFill>
                  <a:schemeClr val="bg1">
                    <a:lumMod val="50000"/>
                  </a:schemeClr>
                </a:solidFill>
                <a:latin typeface="Arial Black" panose="020B0A04020102020204" pitchFamily="34" charset="0"/>
                <a:ea typeface="+mn-ea"/>
                <a:cs typeface="+mn-cs"/>
              </a:defRPr>
            </a:lvl1pPr>
            <a:lvl2pPr>
              <a:defRPr lang="en-GB" sz="800" kern="1200" dirty="0" smtClean="0">
                <a:solidFill>
                  <a:schemeClr val="bg1">
                    <a:lumMod val="50000"/>
                  </a:schemeClr>
                </a:solidFill>
                <a:latin typeface="Arial Black" panose="020B0A04020102020204" pitchFamily="34" charset="0"/>
                <a:ea typeface="+mn-ea"/>
                <a:cs typeface="+mn-cs"/>
              </a:defRPr>
            </a:lvl2pPr>
            <a:lvl3pPr>
              <a:defRPr lang="en-GB" sz="800" kern="1200" dirty="0" smtClean="0">
                <a:solidFill>
                  <a:schemeClr val="bg1">
                    <a:lumMod val="50000"/>
                  </a:schemeClr>
                </a:solidFill>
                <a:latin typeface="Arial Black" panose="020B0A04020102020204" pitchFamily="34" charset="0"/>
                <a:ea typeface="+mn-ea"/>
                <a:cs typeface="+mn-cs"/>
              </a:defRPr>
            </a:lvl3pPr>
            <a:lvl4pPr>
              <a:defRPr lang="en-GB" sz="800" kern="1200" dirty="0" smtClean="0">
                <a:solidFill>
                  <a:schemeClr val="bg1">
                    <a:lumMod val="50000"/>
                  </a:schemeClr>
                </a:solidFill>
                <a:latin typeface="Arial Black" panose="020B0A04020102020204" pitchFamily="34" charset="0"/>
                <a:ea typeface="+mn-ea"/>
                <a:cs typeface="+mn-cs"/>
              </a:defRPr>
            </a:lvl4pPr>
            <a:lvl5pPr>
              <a:defRPr lang="en-GB" sz="800" kern="1200" dirty="0" smtClean="0">
                <a:solidFill>
                  <a:schemeClr val="bg1">
                    <a:lumMod val="50000"/>
                  </a:schemeClr>
                </a:solidFill>
                <a:latin typeface="Arial Black" panose="020B0A04020102020204" pitchFamily="34" charset="0"/>
                <a:ea typeface="+mn-ea"/>
                <a:cs typeface="+mn-cs"/>
              </a:defRPr>
            </a:lvl5pPr>
          </a:lstStyle>
          <a:p>
            <a:pPr lvl="0"/>
            <a:r>
              <a:rPr lang="en-GB" dirty="0"/>
              <a:t>Section title</a:t>
            </a:r>
            <a:endParaRPr lang="en-LU" dirty="0"/>
          </a:p>
        </p:txBody>
      </p:sp>
      <p:cxnSp>
        <p:nvCxnSpPr>
          <p:cNvPr id="14" name="Straight Connector 13">
            <a:extLst>
              <a:ext uri="{FF2B5EF4-FFF2-40B4-BE49-F238E27FC236}">
                <a16:creationId xmlns:a16="http://schemas.microsoft.com/office/drawing/2014/main" id="{F679A9C0-33F1-D54C-AC27-B1BE4F75CB15}"/>
              </a:ext>
            </a:extLst>
          </p:cNvPr>
          <p:cNvCxnSpPr>
            <a:cxnSpLocks/>
          </p:cNvCxnSpPr>
          <p:nvPr userDrawn="1"/>
        </p:nvCxnSpPr>
        <p:spPr>
          <a:xfrm flipH="1">
            <a:off x="643236" y="131876"/>
            <a:ext cx="1154876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7867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10E6548-DD14-544B-BB32-A4D6620F82D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a:xfrm flipH="1">
            <a:off x="-1" y="2335882"/>
            <a:ext cx="5481423" cy="4522118"/>
          </a:xfrm>
          <a:prstGeom prst="rect">
            <a:avLst/>
          </a:prstGeom>
        </p:spPr>
      </p:pic>
      <p:sp>
        <p:nvSpPr>
          <p:cNvPr id="3" name="Picture Placeholder 2">
            <a:extLst>
              <a:ext uri="{FF2B5EF4-FFF2-40B4-BE49-F238E27FC236}">
                <a16:creationId xmlns:a16="http://schemas.microsoft.com/office/drawing/2014/main" id="{80CEFD14-E995-403F-9443-5994DE20C900}"/>
              </a:ext>
            </a:extLst>
          </p:cNvPr>
          <p:cNvSpPr>
            <a:spLocks noGrp="1"/>
          </p:cNvSpPr>
          <p:nvPr>
            <p:ph type="pic" idx="1"/>
          </p:nvPr>
        </p:nvSpPr>
        <p:spPr>
          <a:xfrm>
            <a:off x="5183188" y="1132114"/>
            <a:ext cx="6172200" cy="47289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11685B-BC32-4D47-BAE0-0EC61C0BF180}"/>
              </a:ext>
            </a:extLst>
          </p:cNvPr>
          <p:cNvSpPr>
            <a:spLocks noGrp="1"/>
          </p:cNvSpPr>
          <p:nvPr>
            <p:ph type="body" sz="half" idx="2"/>
          </p:nvPr>
        </p:nvSpPr>
        <p:spPr>
          <a:xfrm>
            <a:off x="544513" y="1132114"/>
            <a:ext cx="3932237" cy="381158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5">
            <a:extLst>
              <a:ext uri="{FF2B5EF4-FFF2-40B4-BE49-F238E27FC236}">
                <a16:creationId xmlns:a16="http://schemas.microsoft.com/office/drawing/2014/main" id="{A85C4972-6BF3-7A4F-A93B-8B4CA582FF71}"/>
              </a:ext>
            </a:extLst>
          </p:cNvPr>
          <p:cNvSpPr>
            <a:spLocks noGrp="1"/>
          </p:cNvSpPr>
          <p:nvPr>
            <p:ph type="body" sz="quarter" idx="13" hasCustomPrompt="1"/>
          </p:nvPr>
        </p:nvSpPr>
        <p:spPr>
          <a:xfrm>
            <a:off x="544513" y="427730"/>
            <a:ext cx="11362565" cy="476250"/>
          </a:xfrm>
        </p:spPr>
        <p:txBody>
          <a:bodyPr>
            <a:normAutofit/>
          </a:bodyPr>
          <a:lstStyle>
            <a:lvl1pPr marL="0" indent="0" algn="l" defTabSz="914400" rtl="0" eaLnBrk="1" latinLnBrk="0" hangingPunct="1">
              <a:buNone/>
              <a:defRPr lang="en-GB" sz="2400" b="1" kern="1200" dirty="0" smtClean="0">
                <a:solidFill>
                  <a:schemeClr val="tx1"/>
                </a:solidFill>
                <a:latin typeface="Arial" panose="020B0604020202020204" pitchFamily="34" charset="0"/>
                <a:ea typeface="+mn-ea"/>
                <a:cs typeface="Arial" panose="020B0604020202020204" pitchFamily="34" charset="0"/>
              </a:defRPr>
            </a:lvl1pPr>
          </a:lstStyle>
          <a:p>
            <a:pPr lvl="0"/>
            <a:r>
              <a:rPr lang="en-GB" dirty="0"/>
              <a:t>Title in Arial bold 24</a:t>
            </a:r>
          </a:p>
        </p:txBody>
      </p:sp>
      <p:sp>
        <p:nvSpPr>
          <p:cNvPr id="9" name="TextBox 8">
            <a:extLst>
              <a:ext uri="{FF2B5EF4-FFF2-40B4-BE49-F238E27FC236}">
                <a16:creationId xmlns:a16="http://schemas.microsoft.com/office/drawing/2014/main" id="{7EB8EB1F-2018-E249-9A84-68D3071F3359}"/>
              </a:ext>
            </a:extLst>
          </p:cNvPr>
          <p:cNvSpPr txBox="1"/>
          <p:nvPr userDrawn="1"/>
        </p:nvSpPr>
        <p:spPr>
          <a:xfrm>
            <a:off x="122978" y="150926"/>
            <a:ext cx="372322" cy="215444"/>
          </a:xfrm>
          <a:prstGeom prst="rect">
            <a:avLst/>
          </a:prstGeom>
          <a:noFill/>
        </p:spPr>
        <p:txBody>
          <a:bodyPr wrap="square" rtlCol="0">
            <a:spAutoFit/>
          </a:bodyPr>
          <a:lstStyle/>
          <a:p>
            <a:pPr algn="r"/>
            <a:fld id="{E8B45F66-8A40-B345-AA56-8E056E4B9DD3}" type="slidenum">
              <a:rPr lang="en-US" sz="800" smtClean="0">
                <a:solidFill>
                  <a:schemeClr val="bg1">
                    <a:lumMod val="50000"/>
                  </a:schemeClr>
                </a:solidFill>
                <a:latin typeface="Arial" panose="020B0604020202020204" pitchFamily="34" charset="0"/>
              </a:rPr>
              <a:t>‹#›</a:t>
            </a:fld>
            <a:endParaRPr lang="en-US" sz="800" dirty="0">
              <a:solidFill>
                <a:schemeClr val="bg1">
                  <a:lumMod val="50000"/>
                </a:schemeClr>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E9E22F63-1A61-E747-B502-F129094A92EE}"/>
              </a:ext>
            </a:extLst>
          </p:cNvPr>
          <p:cNvCxnSpPr>
            <a:cxnSpLocks/>
          </p:cNvCxnSpPr>
          <p:nvPr userDrawn="1"/>
        </p:nvCxnSpPr>
        <p:spPr>
          <a:xfrm flipH="1">
            <a:off x="1" y="131876"/>
            <a:ext cx="43814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8">
            <a:extLst>
              <a:ext uri="{FF2B5EF4-FFF2-40B4-BE49-F238E27FC236}">
                <a16:creationId xmlns:a16="http://schemas.microsoft.com/office/drawing/2014/main" id="{2D61F708-93AB-734D-AE48-F38F98C1036B}"/>
              </a:ext>
            </a:extLst>
          </p:cNvPr>
          <p:cNvSpPr>
            <a:spLocks noGrp="1"/>
          </p:cNvSpPr>
          <p:nvPr>
            <p:ph type="body" sz="quarter" idx="14" hasCustomPrompt="1"/>
          </p:nvPr>
        </p:nvSpPr>
        <p:spPr>
          <a:xfrm>
            <a:off x="543600" y="151200"/>
            <a:ext cx="4873665" cy="231111"/>
          </a:xfrm>
        </p:spPr>
        <p:txBody>
          <a:bodyPr/>
          <a:lstStyle>
            <a:lvl1pPr marL="0" indent="0">
              <a:buNone/>
              <a:defRPr lang="en-GB" sz="800" kern="1200" dirty="0" smtClean="0">
                <a:solidFill>
                  <a:schemeClr val="bg1">
                    <a:lumMod val="50000"/>
                  </a:schemeClr>
                </a:solidFill>
                <a:latin typeface="Arial Black" panose="020B0A04020102020204" pitchFamily="34" charset="0"/>
                <a:ea typeface="+mn-ea"/>
                <a:cs typeface="+mn-cs"/>
              </a:defRPr>
            </a:lvl1pPr>
            <a:lvl2pPr>
              <a:defRPr lang="en-GB" sz="800" kern="1200" dirty="0" smtClean="0">
                <a:solidFill>
                  <a:schemeClr val="bg1">
                    <a:lumMod val="50000"/>
                  </a:schemeClr>
                </a:solidFill>
                <a:latin typeface="Arial Black" panose="020B0A04020102020204" pitchFamily="34" charset="0"/>
                <a:ea typeface="+mn-ea"/>
                <a:cs typeface="+mn-cs"/>
              </a:defRPr>
            </a:lvl2pPr>
            <a:lvl3pPr>
              <a:defRPr lang="en-GB" sz="800" kern="1200" dirty="0" smtClean="0">
                <a:solidFill>
                  <a:schemeClr val="bg1">
                    <a:lumMod val="50000"/>
                  </a:schemeClr>
                </a:solidFill>
                <a:latin typeface="Arial Black" panose="020B0A04020102020204" pitchFamily="34" charset="0"/>
                <a:ea typeface="+mn-ea"/>
                <a:cs typeface="+mn-cs"/>
              </a:defRPr>
            </a:lvl3pPr>
            <a:lvl4pPr>
              <a:defRPr lang="en-GB" sz="800" kern="1200" dirty="0" smtClean="0">
                <a:solidFill>
                  <a:schemeClr val="bg1">
                    <a:lumMod val="50000"/>
                  </a:schemeClr>
                </a:solidFill>
                <a:latin typeface="Arial Black" panose="020B0A04020102020204" pitchFamily="34" charset="0"/>
                <a:ea typeface="+mn-ea"/>
                <a:cs typeface="+mn-cs"/>
              </a:defRPr>
            </a:lvl4pPr>
            <a:lvl5pPr>
              <a:defRPr lang="en-GB" sz="800" kern="1200" dirty="0" smtClean="0">
                <a:solidFill>
                  <a:schemeClr val="bg1">
                    <a:lumMod val="50000"/>
                  </a:schemeClr>
                </a:solidFill>
                <a:latin typeface="Arial Black" panose="020B0A04020102020204" pitchFamily="34" charset="0"/>
                <a:ea typeface="+mn-ea"/>
                <a:cs typeface="+mn-cs"/>
              </a:defRPr>
            </a:lvl5pPr>
          </a:lstStyle>
          <a:p>
            <a:pPr lvl="0"/>
            <a:r>
              <a:rPr lang="en-GB" dirty="0"/>
              <a:t>Section title</a:t>
            </a:r>
            <a:endParaRPr lang="en-LU" dirty="0"/>
          </a:p>
        </p:txBody>
      </p:sp>
      <p:cxnSp>
        <p:nvCxnSpPr>
          <p:cNvPr id="12" name="Straight Connector 11">
            <a:extLst>
              <a:ext uri="{FF2B5EF4-FFF2-40B4-BE49-F238E27FC236}">
                <a16:creationId xmlns:a16="http://schemas.microsoft.com/office/drawing/2014/main" id="{4EB3AB32-733F-7745-A1EB-B3A4215B7E02}"/>
              </a:ext>
            </a:extLst>
          </p:cNvPr>
          <p:cNvCxnSpPr>
            <a:cxnSpLocks/>
          </p:cNvCxnSpPr>
          <p:nvPr userDrawn="1"/>
        </p:nvCxnSpPr>
        <p:spPr>
          <a:xfrm flipH="1">
            <a:off x="643236" y="131876"/>
            <a:ext cx="1154876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435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3F028FB-44E9-4656-A0AB-A09D8FA948C2}"/>
              </a:ext>
            </a:extLst>
          </p:cNvPr>
          <p:cNvSpPr>
            <a:spLocks noGrp="1"/>
          </p:cNvSpPr>
          <p:nvPr>
            <p:ph type="dt" sz="half" idx="10"/>
          </p:nvPr>
        </p:nvSpPr>
        <p:spPr/>
        <p:txBody>
          <a:bodyPr/>
          <a:lstStyle/>
          <a:p>
            <a:fld id="{980A0637-A15D-4E44-AA39-3D41D3E0A246}" type="datetimeFigureOut">
              <a:rPr lang="en-US" smtClean="0"/>
              <a:t>10/12/2022</a:t>
            </a:fld>
            <a:endParaRPr lang="en-US"/>
          </a:p>
        </p:txBody>
      </p:sp>
      <p:pic>
        <p:nvPicPr>
          <p:cNvPr id="7" name="Picture 6">
            <a:extLst>
              <a:ext uri="{FF2B5EF4-FFF2-40B4-BE49-F238E27FC236}">
                <a16:creationId xmlns:a16="http://schemas.microsoft.com/office/drawing/2014/main" id="{6362A16B-8DED-5044-8AAD-4BB3279B961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a:xfrm flipH="1">
            <a:off x="-1" y="2335882"/>
            <a:ext cx="5481423" cy="4522118"/>
          </a:xfrm>
          <a:prstGeom prst="rect">
            <a:avLst/>
          </a:prstGeom>
        </p:spPr>
      </p:pic>
      <p:cxnSp>
        <p:nvCxnSpPr>
          <p:cNvPr id="8" name="Straight Connector 7">
            <a:extLst>
              <a:ext uri="{FF2B5EF4-FFF2-40B4-BE49-F238E27FC236}">
                <a16:creationId xmlns:a16="http://schemas.microsoft.com/office/drawing/2014/main" id="{B6617CB0-1819-7B47-B5D0-FFE50F6696E0}"/>
              </a:ext>
            </a:extLst>
          </p:cNvPr>
          <p:cNvCxnSpPr>
            <a:cxnSpLocks/>
          </p:cNvCxnSpPr>
          <p:nvPr userDrawn="1"/>
        </p:nvCxnSpPr>
        <p:spPr>
          <a:xfrm flipH="1">
            <a:off x="643236" y="131876"/>
            <a:ext cx="1154876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10B328C-B73B-6840-8B04-DB9E7A568C51}"/>
              </a:ext>
            </a:extLst>
          </p:cNvPr>
          <p:cNvSpPr txBox="1"/>
          <p:nvPr userDrawn="1"/>
        </p:nvSpPr>
        <p:spPr>
          <a:xfrm>
            <a:off x="122978" y="150926"/>
            <a:ext cx="372322" cy="215444"/>
          </a:xfrm>
          <a:prstGeom prst="rect">
            <a:avLst/>
          </a:prstGeom>
          <a:noFill/>
        </p:spPr>
        <p:txBody>
          <a:bodyPr wrap="square" rtlCol="0">
            <a:spAutoFit/>
          </a:bodyPr>
          <a:lstStyle/>
          <a:p>
            <a:pPr algn="r"/>
            <a:fld id="{E8B45F66-8A40-B345-AA56-8E056E4B9DD3}" type="slidenum">
              <a:rPr lang="en-US" sz="800" smtClean="0">
                <a:solidFill>
                  <a:schemeClr val="bg1">
                    <a:lumMod val="50000"/>
                  </a:schemeClr>
                </a:solidFill>
                <a:latin typeface="Arial" panose="020B0604020202020204" pitchFamily="34" charset="0"/>
              </a:rPr>
              <a:t>‹#›</a:t>
            </a:fld>
            <a:endParaRPr lang="en-US" sz="800" dirty="0">
              <a:solidFill>
                <a:schemeClr val="bg1">
                  <a:lumMod val="50000"/>
                </a:schemeClr>
              </a:solidFill>
              <a:latin typeface="Arial" panose="020B0604020202020204" pitchFamily="34" charset="0"/>
            </a:endParaRPr>
          </a:p>
        </p:txBody>
      </p:sp>
      <p:cxnSp>
        <p:nvCxnSpPr>
          <p:cNvPr id="11" name="Straight Connector 10">
            <a:extLst>
              <a:ext uri="{FF2B5EF4-FFF2-40B4-BE49-F238E27FC236}">
                <a16:creationId xmlns:a16="http://schemas.microsoft.com/office/drawing/2014/main" id="{EF4DF365-CAAF-4642-A291-C02792B889DA}"/>
              </a:ext>
            </a:extLst>
          </p:cNvPr>
          <p:cNvCxnSpPr>
            <a:cxnSpLocks/>
          </p:cNvCxnSpPr>
          <p:nvPr userDrawn="1"/>
        </p:nvCxnSpPr>
        <p:spPr>
          <a:xfrm flipH="1">
            <a:off x="1" y="131876"/>
            <a:ext cx="43814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DD660865-2FCC-6F4B-8409-C7C0FB109FB6}"/>
              </a:ext>
            </a:extLst>
          </p:cNvPr>
          <p:cNvSpPr>
            <a:spLocks noGrp="1"/>
          </p:cNvSpPr>
          <p:nvPr>
            <p:ph type="body" sz="quarter" idx="12" hasCustomPrompt="1"/>
          </p:nvPr>
        </p:nvSpPr>
        <p:spPr>
          <a:xfrm>
            <a:off x="543600" y="151200"/>
            <a:ext cx="4873665" cy="231111"/>
          </a:xfrm>
        </p:spPr>
        <p:txBody>
          <a:bodyPr/>
          <a:lstStyle>
            <a:lvl1pPr marL="0" indent="0">
              <a:buNone/>
              <a:defRPr lang="en-GB" sz="800" kern="1200" dirty="0" smtClean="0">
                <a:solidFill>
                  <a:schemeClr val="bg1">
                    <a:lumMod val="50000"/>
                  </a:schemeClr>
                </a:solidFill>
                <a:latin typeface="Arial Black" panose="020B0A04020102020204" pitchFamily="34" charset="0"/>
                <a:ea typeface="+mn-ea"/>
                <a:cs typeface="+mn-cs"/>
              </a:defRPr>
            </a:lvl1pPr>
            <a:lvl2pPr>
              <a:defRPr lang="en-GB" sz="800" kern="1200" dirty="0" smtClean="0">
                <a:solidFill>
                  <a:schemeClr val="bg1">
                    <a:lumMod val="50000"/>
                  </a:schemeClr>
                </a:solidFill>
                <a:latin typeface="Arial Black" panose="020B0A04020102020204" pitchFamily="34" charset="0"/>
                <a:ea typeface="+mn-ea"/>
                <a:cs typeface="+mn-cs"/>
              </a:defRPr>
            </a:lvl2pPr>
            <a:lvl3pPr>
              <a:defRPr lang="en-GB" sz="800" kern="1200" dirty="0" smtClean="0">
                <a:solidFill>
                  <a:schemeClr val="bg1">
                    <a:lumMod val="50000"/>
                  </a:schemeClr>
                </a:solidFill>
                <a:latin typeface="Arial Black" panose="020B0A04020102020204" pitchFamily="34" charset="0"/>
                <a:ea typeface="+mn-ea"/>
                <a:cs typeface="+mn-cs"/>
              </a:defRPr>
            </a:lvl3pPr>
            <a:lvl4pPr>
              <a:defRPr lang="en-GB" sz="800" kern="1200" dirty="0" smtClean="0">
                <a:solidFill>
                  <a:schemeClr val="bg1">
                    <a:lumMod val="50000"/>
                  </a:schemeClr>
                </a:solidFill>
                <a:latin typeface="Arial Black" panose="020B0A04020102020204" pitchFamily="34" charset="0"/>
                <a:ea typeface="+mn-ea"/>
                <a:cs typeface="+mn-cs"/>
              </a:defRPr>
            </a:lvl4pPr>
            <a:lvl5pPr>
              <a:defRPr lang="en-GB" sz="800" kern="1200" dirty="0" smtClean="0">
                <a:solidFill>
                  <a:schemeClr val="bg1">
                    <a:lumMod val="50000"/>
                  </a:schemeClr>
                </a:solidFill>
                <a:latin typeface="Arial Black" panose="020B0A04020102020204" pitchFamily="34" charset="0"/>
                <a:ea typeface="+mn-ea"/>
                <a:cs typeface="+mn-cs"/>
              </a:defRPr>
            </a:lvl5pPr>
          </a:lstStyle>
          <a:p>
            <a:pPr lvl="0"/>
            <a:r>
              <a:rPr lang="en-GB" dirty="0"/>
              <a:t>Section title</a:t>
            </a:r>
            <a:endParaRPr lang="en-LU" dirty="0"/>
          </a:p>
        </p:txBody>
      </p:sp>
      <p:sp>
        <p:nvSpPr>
          <p:cNvPr id="9" name="Text Placeholder 5">
            <a:extLst>
              <a:ext uri="{FF2B5EF4-FFF2-40B4-BE49-F238E27FC236}">
                <a16:creationId xmlns:a16="http://schemas.microsoft.com/office/drawing/2014/main" id="{7E3D2100-D64C-094B-9D25-81C5D1125383}"/>
              </a:ext>
            </a:extLst>
          </p:cNvPr>
          <p:cNvSpPr>
            <a:spLocks noGrp="1"/>
          </p:cNvSpPr>
          <p:nvPr>
            <p:ph type="body" sz="quarter" idx="11" hasCustomPrompt="1"/>
          </p:nvPr>
        </p:nvSpPr>
        <p:spPr>
          <a:xfrm>
            <a:off x="544513" y="427730"/>
            <a:ext cx="11362565" cy="476250"/>
          </a:xfrm>
        </p:spPr>
        <p:txBody>
          <a:bodyPr>
            <a:normAutofit/>
          </a:bodyPr>
          <a:lstStyle>
            <a:lvl1pPr marL="0" indent="0" algn="l" defTabSz="914400" rtl="0" eaLnBrk="1" latinLnBrk="0" hangingPunct="1">
              <a:buNone/>
              <a:defRPr lang="en-GB" sz="2400" b="1" kern="1200" dirty="0" smtClean="0">
                <a:solidFill>
                  <a:schemeClr val="tx1"/>
                </a:solidFill>
                <a:latin typeface="Arial" panose="020B0604020202020204" pitchFamily="34" charset="0"/>
                <a:ea typeface="+mn-ea"/>
                <a:cs typeface="Arial" panose="020B0604020202020204" pitchFamily="34" charset="0"/>
              </a:defRPr>
            </a:lvl1pPr>
          </a:lstStyle>
          <a:p>
            <a:pPr lvl="0"/>
            <a:r>
              <a:rPr lang="en-GB" dirty="0"/>
              <a:t>Title in Arial bold 24</a:t>
            </a:r>
          </a:p>
        </p:txBody>
      </p:sp>
    </p:spTree>
    <p:extLst>
      <p:ext uri="{BB962C8B-B14F-4D97-AF65-F5344CB8AC3E}">
        <p14:creationId xmlns:p14="http://schemas.microsoft.com/office/powerpoint/2010/main" val="2100030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F3B06C-6316-4316-B1A9-68A38337FE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8B95A23-D002-440A-A893-A244FA4598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10520C-0F97-48F0-A8B0-2B7A2947A0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0A0637-A15D-4E44-AA39-3D41D3E0A246}" type="datetimeFigureOut">
              <a:rPr lang="en-US" smtClean="0"/>
              <a:t>10/12/2022</a:t>
            </a:fld>
            <a:endParaRPr lang="en-US"/>
          </a:p>
        </p:txBody>
      </p:sp>
      <p:sp>
        <p:nvSpPr>
          <p:cNvPr id="5" name="Footer Placeholder 4">
            <a:extLst>
              <a:ext uri="{FF2B5EF4-FFF2-40B4-BE49-F238E27FC236}">
                <a16:creationId xmlns:a16="http://schemas.microsoft.com/office/drawing/2014/main" id="{AD87F6AC-EE76-494F-8F3F-49218C416E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9F23ED-A2D1-4E56-A333-4FFF3B917E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0A6BC4-1A91-4A60-BD38-D5E842565090}" type="slidenum">
              <a:rPr lang="en-US" smtClean="0"/>
              <a:t>‹#›</a:t>
            </a:fld>
            <a:endParaRPr lang="en-US"/>
          </a:p>
        </p:txBody>
      </p:sp>
      <p:pic>
        <p:nvPicPr>
          <p:cNvPr id="9" name="Graphic 6">
            <a:extLst>
              <a:ext uri="{FF2B5EF4-FFF2-40B4-BE49-F238E27FC236}">
                <a16:creationId xmlns:a16="http://schemas.microsoft.com/office/drawing/2014/main" id="{385427A5-1A27-3943-9392-E883365C6A5E}"/>
              </a:ext>
            </a:extLst>
          </p:cNvPr>
          <p:cNvPicPr>
            <a:picLocks noChangeAspect="1"/>
          </p:cNvPicPr>
          <p:nvPr userDrawn="1"/>
        </p:nvPicPr>
        <p:blipFill>
          <a:blip r:embed="rId11" cstate="email">
            <a:extLst>
              <a:ext uri="{28A0092B-C50C-407E-A947-70E740481C1C}">
                <a14:useLocalDpi xmlns:a14="http://schemas.microsoft.com/office/drawing/2010/main"/>
              </a:ext>
            </a:extLst>
          </a:blip>
          <a:srcRect/>
          <a:stretch/>
        </p:blipFill>
        <p:spPr>
          <a:xfrm>
            <a:off x="10370309" y="6176963"/>
            <a:ext cx="1821691" cy="586850"/>
          </a:xfrm>
          <a:prstGeom prst="rect">
            <a:avLst/>
          </a:prstGeom>
        </p:spPr>
      </p:pic>
    </p:spTree>
    <p:extLst>
      <p:ext uri="{BB962C8B-B14F-4D97-AF65-F5344CB8AC3E}">
        <p14:creationId xmlns:p14="http://schemas.microsoft.com/office/powerpoint/2010/main" val="4099894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3" r:id="rId5"/>
    <p:sldLayoutId id="2147483652" r:id="rId6"/>
    <p:sldLayoutId id="2147483653" r:id="rId7"/>
    <p:sldLayoutId id="2147483657" r:id="rId8"/>
    <p:sldLayoutId id="2147483664" r:id="rId9"/>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11.jpeg"/><Relationship Id="rId7"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3.emf"/><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3.jp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Layout" Target="../slideLayouts/slideLayout9.xml"/><Relationship Id="rId5" Type="http://schemas.openxmlformats.org/officeDocument/2006/relationships/image" Target="../media/image4.emf"/><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3.emf"/><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hayder-hussein/Satellite-Traffic-Simulator" TargetMode="External"/><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image" Target="../media/image15.gif"/><Relationship Id="rId4" Type="http://schemas.openxmlformats.org/officeDocument/2006/relationships/image" Target="../media/image14.gif"/></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Layout" Target="../slideLayouts/slideLayout9.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0.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Layout" Target="../slideLayouts/slideLayout9.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7.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Layout" Target="../slideLayouts/slideLayout9.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36.jp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Layout" Target="../slideLayouts/slideLayout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Layout" Target="../slideLayouts/slideLayout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jpg"/><Relationship Id="rId2" Type="http://schemas.openxmlformats.org/officeDocument/2006/relationships/image" Target="../media/image11.jpeg"/><Relationship Id="rId1" Type="http://schemas.openxmlformats.org/officeDocument/2006/relationships/slideLayout" Target="../slideLayouts/slideLayout9.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oat, sitting, water, large&#10;&#10;Description automatically generated">
            <a:extLst>
              <a:ext uri="{FF2B5EF4-FFF2-40B4-BE49-F238E27FC236}">
                <a16:creationId xmlns:a16="http://schemas.microsoft.com/office/drawing/2014/main" id="{77210977-2254-E140-8B3E-A45F6F31BCC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6497" y="0"/>
            <a:ext cx="12278497" cy="6858000"/>
          </a:xfrm>
          <a:prstGeom prst="rect">
            <a:avLst/>
          </a:prstGeom>
        </p:spPr>
      </p:pic>
      <p:sp>
        <p:nvSpPr>
          <p:cNvPr id="6" name="TextBox 5">
            <a:extLst>
              <a:ext uri="{FF2B5EF4-FFF2-40B4-BE49-F238E27FC236}">
                <a16:creationId xmlns:a16="http://schemas.microsoft.com/office/drawing/2014/main" id="{9DE8A534-5C35-410C-9D80-776EDE35A6B5}"/>
              </a:ext>
            </a:extLst>
          </p:cNvPr>
          <p:cNvSpPr txBox="1"/>
          <p:nvPr/>
        </p:nvSpPr>
        <p:spPr>
          <a:xfrm>
            <a:off x="424994" y="295205"/>
            <a:ext cx="9646524" cy="1200329"/>
          </a:xfrm>
          <a:prstGeom prst="rect">
            <a:avLst/>
          </a:prstGeom>
          <a:noFill/>
        </p:spPr>
        <p:txBody>
          <a:bodyPr wrap="square" rtlCol="0">
            <a:spAutoFit/>
          </a:bodyPr>
          <a:lstStyle>
            <a:defPPr>
              <a:defRPr lang="en-US"/>
            </a:defPPr>
            <a:lvl1pPr>
              <a:defRPr sz="3600">
                <a:solidFill>
                  <a:schemeClr val="bg1"/>
                </a:solidFill>
                <a:latin typeface="Graphik Semibold" panose="020B0703030202060203" pitchFamily="34" charset="0"/>
              </a:defRPr>
            </a:lvl1pPr>
          </a:lstStyle>
          <a:p>
            <a:r>
              <a:rPr lang="ca-ES" b="1" dirty="0">
                <a:effectLst/>
                <a:latin typeface="Calibri" panose="020F0502020204030204" pitchFamily="34" charset="0"/>
              </a:rPr>
              <a:t>Traffic-Aware Satellite Switch-off Technique for LEO Constellations</a:t>
            </a:r>
            <a:endParaRPr lang="en-US" sz="1600" dirty="0">
              <a:latin typeface="+mn-lt"/>
            </a:endParaRPr>
          </a:p>
        </p:txBody>
      </p:sp>
      <p:sp>
        <p:nvSpPr>
          <p:cNvPr id="10" name="Rectangle 9"/>
          <p:cNvSpPr/>
          <p:nvPr/>
        </p:nvSpPr>
        <p:spPr>
          <a:xfrm>
            <a:off x="2016087" y="4129219"/>
            <a:ext cx="3805030" cy="646331"/>
          </a:xfrm>
          <a:prstGeom prst="rect">
            <a:avLst/>
          </a:prstGeom>
        </p:spPr>
        <p:txBody>
          <a:bodyPr wrap="square">
            <a:spAutoFit/>
          </a:bodyPr>
          <a:lstStyle/>
          <a:p>
            <a:r>
              <a:rPr lang="en-US" b="1" dirty="0">
                <a:solidFill>
                  <a:schemeClr val="bg1"/>
                </a:solidFill>
                <a:latin typeface="Arial" panose="020B0604020202020204" pitchFamily="34" charset="0"/>
              </a:rPr>
              <a:t>Vaibhav Kr GUPTA</a:t>
            </a:r>
            <a:endParaRPr lang="en-US" dirty="0">
              <a:solidFill>
                <a:schemeClr val="bg1"/>
              </a:solidFill>
              <a:latin typeface="Arial" panose="020B0604020202020204" pitchFamily="34" charset="0"/>
            </a:endParaRPr>
          </a:p>
          <a:p>
            <a:r>
              <a:rPr lang="en-US" dirty="0">
                <a:solidFill>
                  <a:schemeClr val="bg1"/>
                </a:solidFill>
                <a:latin typeface="Arial" panose="020B0604020202020204" pitchFamily="34" charset="0"/>
              </a:rPr>
              <a:t>Vaibhav.gupta@uni.lu</a:t>
            </a:r>
          </a:p>
        </p:txBody>
      </p:sp>
      <p:sp>
        <p:nvSpPr>
          <p:cNvPr id="16" name="Rectangle 15"/>
          <p:cNvSpPr/>
          <p:nvPr/>
        </p:nvSpPr>
        <p:spPr>
          <a:xfrm>
            <a:off x="2016087" y="4938244"/>
            <a:ext cx="3477485" cy="1200329"/>
          </a:xfrm>
          <a:prstGeom prst="rect">
            <a:avLst/>
          </a:prstGeom>
        </p:spPr>
        <p:txBody>
          <a:bodyPr wrap="square">
            <a:spAutoFit/>
          </a:bodyPr>
          <a:lstStyle/>
          <a:p>
            <a:r>
              <a:rPr lang="en-US" b="1" dirty="0">
                <a:solidFill>
                  <a:schemeClr val="bg1"/>
                </a:solidFill>
                <a:latin typeface="Arial" panose="020B0604020202020204" pitchFamily="34" charset="0"/>
              </a:rPr>
              <a:t>Co-authors: </a:t>
            </a:r>
          </a:p>
          <a:p>
            <a:r>
              <a:rPr lang="en-US" dirty="0">
                <a:solidFill>
                  <a:schemeClr val="bg1"/>
                </a:solidFill>
                <a:latin typeface="Arial" panose="020B0604020202020204" pitchFamily="34" charset="0"/>
              </a:rPr>
              <a:t>Dr. </a:t>
            </a:r>
            <a:r>
              <a:rPr lang="en-US" dirty="0" err="1">
                <a:solidFill>
                  <a:schemeClr val="bg1"/>
                </a:solidFill>
                <a:latin typeface="Arial" panose="020B0604020202020204" pitchFamily="34" charset="0"/>
              </a:rPr>
              <a:t>Hayder</a:t>
            </a:r>
            <a:r>
              <a:rPr lang="en-US" dirty="0">
                <a:solidFill>
                  <a:schemeClr val="bg1"/>
                </a:solidFill>
                <a:latin typeface="Arial" panose="020B0604020202020204" pitchFamily="34" charset="0"/>
              </a:rPr>
              <a:t> Al-</a:t>
            </a:r>
            <a:r>
              <a:rPr lang="en-US" dirty="0" err="1">
                <a:solidFill>
                  <a:schemeClr val="bg1"/>
                </a:solidFill>
                <a:latin typeface="Arial" panose="020B0604020202020204" pitchFamily="34" charset="0"/>
              </a:rPr>
              <a:t>Hraishaw</a:t>
            </a:r>
            <a:endParaRPr lang="en-US" dirty="0">
              <a:solidFill>
                <a:schemeClr val="bg1"/>
              </a:solidFill>
              <a:latin typeface="Arial" panose="020B0604020202020204" pitchFamily="34" charset="0"/>
            </a:endParaRPr>
          </a:p>
          <a:p>
            <a:r>
              <a:rPr lang="en-US" dirty="0">
                <a:solidFill>
                  <a:schemeClr val="bg1"/>
                </a:solidFill>
                <a:latin typeface="Arial" panose="020B0604020202020204" pitchFamily="34" charset="0"/>
              </a:rPr>
              <a:t>Dr. Eva Lagunas</a:t>
            </a:r>
            <a:endParaRPr lang="en-US" b="1" dirty="0">
              <a:solidFill>
                <a:schemeClr val="bg1"/>
              </a:solidFill>
              <a:latin typeface="Arial" panose="020B0604020202020204" pitchFamily="34" charset="0"/>
            </a:endParaRPr>
          </a:p>
          <a:p>
            <a:r>
              <a:rPr lang="en-US" dirty="0">
                <a:solidFill>
                  <a:schemeClr val="bg1"/>
                </a:solidFill>
                <a:latin typeface="Arial" panose="020B0604020202020204" pitchFamily="34" charset="0"/>
              </a:rPr>
              <a:t>Prof. </a:t>
            </a:r>
            <a:r>
              <a:rPr lang="en-US" dirty="0" err="1">
                <a:solidFill>
                  <a:schemeClr val="bg1"/>
                </a:solidFill>
                <a:latin typeface="Arial" panose="020B0604020202020204" pitchFamily="34" charset="0"/>
              </a:rPr>
              <a:t>Symeon</a:t>
            </a:r>
            <a:r>
              <a:rPr lang="en-US" dirty="0">
                <a:solidFill>
                  <a:schemeClr val="bg1"/>
                </a:solidFill>
                <a:latin typeface="Arial" panose="020B0604020202020204" pitchFamily="34" charset="0"/>
              </a:rPr>
              <a:t> </a:t>
            </a:r>
            <a:r>
              <a:rPr lang="en-US" dirty="0" err="1">
                <a:solidFill>
                  <a:schemeClr val="bg1"/>
                </a:solidFill>
                <a:latin typeface="Arial" panose="020B0604020202020204" pitchFamily="34" charset="0"/>
              </a:rPr>
              <a:t>Chatzinotas</a:t>
            </a:r>
            <a:endParaRPr lang="en-US" dirty="0">
              <a:solidFill>
                <a:schemeClr val="bg1"/>
              </a:solidFill>
              <a:latin typeface="Arial" panose="020B0604020202020204" pitchFamily="34" charset="0"/>
            </a:endParaRPr>
          </a:p>
        </p:txBody>
      </p:sp>
      <p:pic>
        <p:nvPicPr>
          <p:cNvPr id="17" name="Graphic 6">
            <a:extLst>
              <a:ext uri="{FF2B5EF4-FFF2-40B4-BE49-F238E27FC236}">
                <a16:creationId xmlns:a16="http://schemas.microsoft.com/office/drawing/2014/main" id="{7457E091-E20F-574F-B21F-DF6DB7DE3A4C}"/>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189382" y="1462210"/>
            <a:ext cx="1256457" cy="987835"/>
          </a:xfrm>
          <a:prstGeom prst="rect">
            <a:avLst/>
          </a:prstGeom>
        </p:spPr>
      </p:pic>
      <p:grpSp>
        <p:nvGrpSpPr>
          <p:cNvPr id="18" name="Group 17">
            <a:extLst>
              <a:ext uri="{FF2B5EF4-FFF2-40B4-BE49-F238E27FC236}">
                <a16:creationId xmlns:a16="http://schemas.microsoft.com/office/drawing/2014/main" id="{410FC9B3-6D23-C044-BC70-F4CBCCD74147}"/>
              </a:ext>
            </a:extLst>
          </p:cNvPr>
          <p:cNvGrpSpPr/>
          <p:nvPr/>
        </p:nvGrpSpPr>
        <p:grpSpPr>
          <a:xfrm>
            <a:off x="-104859" y="66314"/>
            <a:ext cx="12216715" cy="1418626"/>
            <a:chOff x="-24715" y="5825730"/>
            <a:chExt cx="12216715" cy="1418626"/>
          </a:xfrm>
        </p:grpSpPr>
        <p:pic>
          <p:nvPicPr>
            <p:cNvPr id="19" name="Image 5" descr="Bande_Logo_UNI_PP_right_long.eps">
              <a:extLst>
                <a:ext uri="{FF2B5EF4-FFF2-40B4-BE49-F238E27FC236}">
                  <a16:creationId xmlns:a16="http://schemas.microsoft.com/office/drawing/2014/main" id="{EEB7CB92-331A-0B45-8A12-E75D37DCF015}"/>
                </a:ext>
              </a:extLst>
            </p:cNvPr>
            <p:cNvPicPr/>
            <p:nvPr/>
          </p:nvPicPr>
          <p:blipFill rotWithShape="1">
            <a:blip r:embed="rId6"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a:solidFill>
                    <a:srgbClr val="FFFFFF"/>
                  </a:solid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w="9525">
                  <a:solidFill>
                    <a:srgbClr val="000000"/>
                  </a:solidFill>
                  <a:miter lim="800000"/>
                  <a:headEnd/>
                  <a:tailEnd/>
                </a14:hiddenLine>
              </a:ext>
            </a:extLst>
          </p:spPr>
        </p:pic>
        <p:sp>
          <p:nvSpPr>
            <p:cNvPr id="20" name="Rectangle 19">
              <a:extLst>
                <a:ext uri="{FF2B5EF4-FFF2-40B4-BE49-F238E27FC236}">
                  <a16:creationId xmlns:a16="http://schemas.microsoft.com/office/drawing/2014/main" id="{20806795-C84B-1141-8495-A9590BF17FE3}"/>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21" name="Picture 20">
              <a:extLst>
                <a:ext uri="{FF2B5EF4-FFF2-40B4-BE49-F238E27FC236}">
                  <a16:creationId xmlns:a16="http://schemas.microsoft.com/office/drawing/2014/main" id="{4DE845FA-2485-814D-BF58-7584A9D13EB6}"/>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pic>
        <p:nvPicPr>
          <p:cNvPr id="3" name="Picture 2" descr="Text&#10;&#10;Description automatically generated">
            <a:extLst>
              <a:ext uri="{FF2B5EF4-FFF2-40B4-BE49-F238E27FC236}">
                <a16:creationId xmlns:a16="http://schemas.microsoft.com/office/drawing/2014/main" id="{78DAD2C6-610F-40C7-8382-8B9A09AEDBD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308101" y="2787471"/>
            <a:ext cx="2880360" cy="1076481"/>
          </a:xfrm>
          <a:prstGeom prst="rect">
            <a:avLst/>
          </a:prstGeom>
        </p:spPr>
      </p:pic>
      <p:sp>
        <p:nvSpPr>
          <p:cNvPr id="4" name="TextBox 3">
            <a:extLst>
              <a:ext uri="{FF2B5EF4-FFF2-40B4-BE49-F238E27FC236}">
                <a16:creationId xmlns:a16="http://schemas.microsoft.com/office/drawing/2014/main" id="{D5CC3B84-4536-4A1A-906C-84B32478CFDC}"/>
              </a:ext>
            </a:extLst>
          </p:cNvPr>
          <p:cNvSpPr txBox="1"/>
          <p:nvPr/>
        </p:nvSpPr>
        <p:spPr>
          <a:xfrm>
            <a:off x="4206240" y="6440560"/>
            <a:ext cx="7982221" cy="830997"/>
          </a:xfrm>
          <a:prstGeom prst="rect">
            <a:avLst/>
          </a:prstGeom>
          <a:noFill/>
        </p:spPr>
        <p:txBody>
          <a:bodyPr wrap="square" rtlCol="0">
            <a:spAutoFit/>
          </a:bodyPr>
          <a:lstStyle/>
          <a:p>
            <a:r>
              <a:rPr lang="en-US" sz="2400" b="1" dirty="0">
                <a:solidFill>
                  <a:schemeClr val="bg1"/>
                </a:solidFill>
              </a:rPr>
              <a:t>WS04: Cellular UAV and Satellite Communications Workshop</a:t>
            </a:r>
          </a:p>
          <a:p>
            <a:endParaRPr lang="en-US" sz="2400" dirty="0"/>
          </a:p>
        </p:txBody>
      </p:sp>
      <p:pic>
        <p:nvPicPr>
          <p:cNvPr id="8" name="Picture 7" descr="A picture containing person, person, wall, indoor&#10;&#10;Description automatically generated">
            <a:extLst>
              <a:ext uri="{FF2B5EF4-FFF2-40B4-BE49-F238E27FC236}">
                <a16:creationId xmlns:a16="http://schemas.microsoft.com/office/drawing/2014/main" id="{0A3B449F-FF37-45C1-81FB-F36A29EE26D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7180" y="4195386"/>
            <a:ext cx="1545135" cy="13430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51619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oat, sitting, water, large&#10;&#10;Description automatically generated">
            <a:extLst>
              <a:ext uri="{FF2B5EF4-FFF2-40B4-BE49-F238E27FC236}">
                <a16:creationId xmlns:a16="http://schemas.microsoft.com/office/drawing/2014/main" id="{77210977-2254-E140-8B3E-A45F6F31BCC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497" y="0"/>
            <a:ext cx="12278497" cy="6858000"/>
          </a:xfrm>
          <a:prstGeom prst="rect">
            <a:avLst/>
          </a:prstGeom>
        </p:spPr>
      </p:pic>
      <p:sp>
        <p:nvSpPr>
          <p:cNvPr id="6" name="TextBox 5">
            <a:extLst>
              <a:ext uri="{FF2B5EF4-FFF2-40B4-BE49-F238E27FC236}">
                <a16:creationId xmlns:a16="http://schemas.microsoft.com/office/drawing/2014/main" id="{9DE8A534-5C35-410C-9D80-776EDE35A6B5}"/>
              </a:ext>
            </a:extLst>
          </p:cNvPr>
          <p:cNvSpPr txBox="1"/>
          <p:nvPr/>
        </p:nvSpPr>
        <p:spPr>
          <a:xfrm>
            <a:off x="636871" y="1382286"/>
            <a:ext cx="7934730" cy="4093428"/>
          </a:xfrm>
          <a:prstGeom prst="rect">
            <a:avLst/>
          </a:prstGeom>
          <a:noFill/>
        </p:spPr>
        <p:txBody>
          <a:bodyPr wrap="square" rtlCol="0">
            <a:spAutoFit/>
          </a:bodyPr>
          <a:lstStyle>
            <a:defPPr>
              <a:defRPr lang="en-US"/>
            </a:defPPr>
            <a:lvl1pPr marL="342900" indent="-342900">
              <a:buFont typeface="+mj-lt"/>
              <a:buAutoNum type="arabicPeriod"/>
              <a:defRPr sz="2000" b="1">
                <a:solidFill>
                  <a:schemeClr val="bg1"/>
                </a:solidFill>
                <a:latin typeface="Graphik Semibold" panose="020B0703030202060203" pitchFamily="34" charset="0"/>
              </a:defRPr>
            </a:lvl1pPr>
          </a:lstStyle>
          <a:p>
            <a:r>
              <a:rPr lang="fr-CH" dirty="0"/>
              <a:t>Introduction</a:t>
            </a:r>
            <a:endParaRPr lang="en-US" dirty="0"/>
          </a:p>
          <a:p>
            <a:endParaRPr lang="fr-CH" dirty="0"/>
          </a:p>
          <a:p>
            <a:r>
              <a:rPr lang="en-US" dirty="0"/>
              <a:t>Problem statement, System and Channel Model</a:t>
            </a:r>
          </a:p>
          <a:p>
            <a:pPr marL="342900" lvl="1" indent="-342900">
              <a:buFont typeface="+mj-lt"/>
              <a:buAutoNum type="arabicPeriod"/>
            </a:pPr>
            <a:endParaRPr lang="en-US" sz="2000" b="1" dirty="0">
              <a:solidFill>
                <a:schemeClr val="bg1"/>
              </a:solidFill>
              <a:latin typeface="Graphik Semibold" panose="020B0703030202060203" pitchFamily="34" charset="0"/>
            </a:endParaRPr>
          </a:p>
          <a:p>
            <a:r>
              <a:rPr lang="en-US" dirty="0"/>
              <a:t>Optimization Problem Formulation and Relaxation </a:t>
            </a:r>
          </a:p>
          <a:p>
            <a:endParaRPr lang="en-US" dirty="0"/>
          </a:p>
          <a:p>
            <a:r>
              <a:rPr lang="en-US" dirty="0"/>
              <a:t>Numerical results</a:t>
            </a:r>
          </a:p>
          <a:p>
            <a:endParaRPr lang="en-US" sz="2000" b="1" dirty="0">
              <a:solidFill>
                <a:schemeClr val="bg1"/>
              </a:solidFill>
              <a:latin typeface="Graphik Semibold" panose="020B0703030202060203" pitchFamily="34" charset="0"/>
            </a:endParaRPr>
          </a:p>
          <a:p>
            <a:r>
              <a:rPr lang="en-US" sz="2000" b="1" dirty="0">
                <a:solidFill>
                  <a:schemeClr val="bg1"/>
                </a:solidFill>
                <a:latin typeface="Graphik Semibold" panose="020B0703030202060203" pitchFamily="34" charset="0"/>
              </a:rPr>
              <a:t>Conclusion</a:t>
            </a:r>
            <a:endParaRPr lang="en-US" dirty="0"/>
          </a:p>
          <a:p>
            <a:endParaRPr lang="en-US" sz="2000" b="1" dirty="0">
              <a:solidFill>
                <a:schemeClr val="bg1"/>
              </a:solidFill>
              <a:latin typeface="Graphik Semibold" panose="020B0703030202060203" pitchFamily="34" charset="0"/>
            </a:endParaRPr>
          </a:p>
          <a:p>
            <a:r>
              <a:rPr lang="en-US" sz="2000" b="1" dirty="0">
                <a:solidFill>
                  <a:schemeClr val="bg1"/>
                </a:solidFill>
                <a:latin typeface="Graphik Semibold" panose="020B0703030202060203" pitchFamily="34" charset="0"/>
              </a:rPr>
              <a:t>Future Work</a:t>
            </a:r>
            <a:br>
              <a:rPr lang="en-US" sz="2000" b="1" dirty="0">
                <a:solidFill>
                  <a:schemeClr val="bg1"/>
                </a:solidFill>
                <a:latin typeface="Graphik Semibold" panose="020B0703030202060203" pitchFamily="34" charset="0"/>
              </a:rPr>
            </a:br>
            <a:endParaRPr lang="en-US" sz="2000" b="1" dirty="0">
              <a:solidFill>
                <a:schemeClr val="bg1"/>
              </a:solidFill>
              <a:latin typeface="Graphik Semibold" panose="020B0703030202060203" pitchFamily="34" charset="0"/>
            </a:endParaRPr>
          </a:p>
          <a:p>
            <a:endParaRPr lang="en-US" dirty="0">
              <a:latin typeface="+mn-lt"/>
            </a:endParaRPr>
          </a:p>
        </p:txBody>
      </p:sp>
      <p:sp>
        <p:nvSpPr>
          <p:cNvPr id="14" name="Text Placeholder 2"/>
          <p:cNvSpPr>
            <a:spLocks noGrp="1"/>
          </p:cNvSpPr>
          <p:nvPr>
            <p:ph type="body" sz="quarter" idx="11"/>
          </p:nvPr>
        </p:nvSpPr>
        <p:spPr>
          <a:xfrm>
            <a:off x="636871" y="570956"/>
            <a:ext cx="11362565" cy="476250"/>
          </a:xfrm>
        </p:spPr>
        <p:txBody>
          <a:bodyPr>
            <a:normAutofit/>
          </a:bodyPr>
          <a:lstStyle/>
          <a:p>
            <a:r>
              <a:rPr lang="en-US" dirty="0">
                <a:solidFill>
                  <a:schemeClr val="bg1"/>
                </a:solidFill>
              </a:rPr>
              <a:t>Outline</a:t>
            </a:r>
            <a:endParaRPr lang="en-US" b="0" dirty="0">
              <a:solidFill>
                <a:schemeClr val="bg1"/>
              </a:solidFill>
            </a:endParaRPr>
          </a:p>
        </p:txBody>
      </p:sp>
      <p:pic>
        <p:nvPicPr>
          <p:cNvPr id="16" name="Graphic 6">
            <a:extLst>
              <a:ext uri="{FF2B5EF4-FFF2-40B4-BE49-F238E27FC236}">
                <a16:creationId xmlns:a16="http://schemas.microsoft.com/office/drawing/2014/main" id="{7457E091-E20F-574F-B21F-DF6DB7DE3A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89382" y="1462210"/>
            <a:ext cx="1256457" cy="987835"/>
          </a:xfrm>
          <a:prstGeom prst="rect">
            <a:avLst/>
          </a:prstGeom>
        </p:spPr>
      </p:pic>
      <p:grpSp>
        <p:nvGrpSpPr>
          <p:cNvPr id="17" name="Group 16">
            <a:extLst>
              <a:ext uri="{FF2B5EF4-FFF2-40B4-BE49-F238E27FC236}">
                <a16:creationId xmlns:a16="http://schemas.microsoft.com/office/drawing/2014/main" id="{410FC9B3-6D23-C044-BC70-F4CBCCD74147}"/>
              </a:ext>
            </a:extLst>
          </p:cNvPr>
          <p:cNvGrpSpPr/>
          <p:nvPr/>
        </p:nvGrpSpPr>
        <p:grpSpPr>
          <a:xfrm>
            <a:off x="10071517" y="191637"/>
            <a:ext cx="1612609" cy="1235543"/>
            <a:chOff x="10151661" y="5987422"/>
            <a:chExt cx="1612609" cy="1256934"/>
          </a:xfrm>
        </p:grpSpPr>
        <p:sp>
          <p:nvSpPr>
            <p:cNvPr id="19" name="Rectangle 18">
              <a:extLst>
                <a:ext uri="{FF2B5EF4-FFF2-40B4-BE49-F238E27FC236}">
                  <a16:creationId xmlns:a16="http://schemas.microsoft.com/office/drawing/2014/main" id="{20806795-C84B-1141-8495-A9590BF17FE3}"/>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20" name="Picture 19">
              <a:extLst>
                <a:ext uri="{FF2B5EF4-FFF2-40B4-BE49-F238E27FC236}">
                  <a16:creationId xmlns:a16="http://schemas.microsoft.com/office/drawing/2014/main" id="{4DE845FA-2485-814D-BF58-7584A9D13EB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spTree>
    <p:extLst>
      <p:ext uri="{BB962C8B-B14F-4D97-AF65-F5344CB8AC3E}">
        <p14:creationId xmlns:p14="http://schemas.microsoft.com/office/powerpoint/2010/main" val="99040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oat, sitting, water, large&#10;&#10;Description automatically generated">
            <a:extLst>
              <a:ext uri="{FF2B5EF4-FFF2-40B4-BE49-F238E27FC236}">
                <a16:creationId xmlns:a16="http://schemas.microsoft.com/office/drawing/2014/main" id="{77210977-2254-E140-8B3E-A45F6F31BCC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6497" y="0"/>
            <a:ext cx="12278497" cy="6858000"/>
          </a:xfrm>
          <a:prstGeom prst="rect">
            <a:avLst/>
          </a:prstGeom>
        </p:spPr>
      </p:pic>
      <p:sp>
        <p:nvSpPr>
          <p:cNvPr id="6" name="TextBox 5">
            <a:extLst>
              <a:ext uri="{FF2B5EF4-FFF2-40B4-BE49-F238E27FC236}">
                <a16:creationId xmlns:a16="http://schemas.microsoft.com/office/drawing/2014/main" id="{9DE8A534-5C35-410C-9D80-776EDE35A6B5}"/>
              </a:ext>
            </a:extLst>
          </p:cNvPr>
          <p:cNvSpPr txBox="1"/>
          <p:nvPr/>
        </p:nvSpPr>
        <p:spPr>
          <a:xfrm>
            <a:off x="636871" y="1256467"/>
            <a:ext cx="7934730" cy="4093428"/>
          </a:xfrm>
          <a:prstGeom prst="rect">
            <a:avLst/>
          </a:prstGeom>
          <a:noFill/>
        </p:spPr>
        <p:txBody>
          <a:bodyPr wrap="square" rtlCol="0">
            <a:spAutoFit/>
          </a:bodyPr>
          <a:lstStyle>
            <a:defPPr>
              <a:defRPr lang="en-US"/>
            </a:defPPr>
            <a:lvl1pPr marL="342900" indent="-342900">
              <a:buFont typeface="+mj-lt"/>
              <a:buAutoNum type="arabicPeriod"/>
              <a:defRPr sz="2000" b="1">
                <a:solidFill>
                  <a:schemeClr val="bg1"/>
                </a:solidFill>
                <a:latin typeface="Graphik Semibold" panose="020B0703030202060203" pitchFamily="34" charset="0"/>
              </a:defRPr>
            </a:lvl1pPr>
          </a:lstStyle>
          <a:p>
            <a:r>
              <a:rPr lang="fr-CH" dirty="0"/>
              <a:t>Introduction</a:t>
            </a:r>
            <a:endParaRPr lang="en-US" dirty="0"/>
          </a:p>
          <a:p>
            <a:endParaRPr lang="fr-CH" dirty="0"/>
          </a:p>
          <a:p>
            <a:r>
              <a:rPr lang="en-US" dirty="0">
                <a:solidFill>
                  <a:schemeClr val="tx1"/>
                </a:solidFill>
              </a:rPr>
              <a:t>Problem statement, System and Channel Model</a:t>
            </a:r>
          </a:p>
          <a:p>
            <a:pPr marL="342900" lvl="1" indent="-342900">
              <a:buFont typeface="+mj-lt"/>
              <a:buAutoNum type="arabicPeriod"/>
            </a:pPr>
            <a:endParaRPr lang="en-US" sz="2000" b="1" dirty="0">
              <a:latin typeface="Graphik Semibold" panose="020B0703030202060203" pitchFamily="34" charset="0"/>
            </a:endParaRPr>
          </a:p>
          <a:p>
            <a:r>
              <a:rPr lang="en-US" dirty="0">
                <a:solidFill>
                  <a:schemeClr val="tx1"/>
                </a:solidFill>
              </a:rPr>
              <a:t>Optimization Problem Formulation and Relaxation </a:t>
            </a:r>
          </a:p>
          <a:p>
            <a:endParaRPr lang="en-US" dirty="0">
              <a:solidFill>
                <a:schemeClr val="tx1"/>
              </a:solidFill>
            </a:endParaRPr>
          </a:p>
          <a:p>
            <a:r>
              <a:rPr lang="en-US" dirty="0">
                <a:solidFill>
                  <a:schemeClr val="tx1"/>
                </a:solidFill>
              </a:rPr>
              <a:t>Numerical results</a:t>
            </a:r>
          </a:p>
          <a:p>
            <a:endParaRPr lang="en-US" sz="2000" b="1" dirty="0">
              <a:solidFill>
                <a:schemeClr val="tx1"/>
              </a:solidFill>
              <a:latin typeface="Graphik Semibold" panose="020B0703030202060203" pitchFamily="34" charset="0"/>
            </a:endParaRPr>
          </a:p>
          <a:p>
            <a:r>
              <a:rPr lang="en-US" sz="2000" b="1" dirty="0">
                <a:solidFill>
                  <a:schemeClr val="tx1"/>
                </a:solidFill>
                <a:latin typeface="Graphik Semibold" panose="020B0703030202060203" pitchFamily="34" charset="0"/>
              </a:rPr>
              <a:t>Conclusion</a:t>
            </a:r>
            <a:endParaRPr lang="en-US" dirty="0">
              <a:solidFill>
                <a:schemeClr val="tx1"/>
              </a:solidFill>
            </a:endParaRPr>
          </a:p>
          <a:p>
            <a:endParaRPr lang="en-US" sz="2000" b="1" dirty="0">
              <a:solidFill>
                <a:schemeClr val="tx1"/>
              </a:solidFill>
              <a:latin typeface="Graphik Semibold" panose="020B0703030202060203" pitchFamily="34" charset="0"/>
            </a:endParaRPr>
          </a:p>
          <a:p>
            <a:r>
              <a:rPr lang="en-US" sz="2000" b="1" dirty="0">
                <a:solidFill>
                  <a:schemeClr val="tx1"/>
                </a:solidFill>
                <a:latin typeface="Graphik Semibold" panose="020B0703030202060203" pitchFamily="34" charset="0"/>
              </a:rPr>
              <a:t>Future Work</a:t>
            </a:r>
            <a:br>
              <a:rPr lang="en-US" sz="2000" b="1" dirty="0">
                <a:solidFill>
                  <a:schemeClr val="bg1"/>
                </a:solidFill>
                <a:latin typeface="Graphik Semibold" panose="020B0703030202060203" pitchFamily="34" charset="0"/>
              </a:rPr>
            </a:br>
            <a:endParaRPr lang="en-US" sz="2000" b="1" dirty="0">
              <a:solidFill>
                <a:schemeClr val="bg1"/>
              </a:solidFill>
              <a:latin typeface="Graphik Semibold" panose="020B0703030202060203" pitchFamily="34" charset="0"/>
            </a:endParaRPr>
          </a:p>
          <a:p>
            <a:endParaRPr lang="en-US" dirty="0">
              <a:latin typeface="+mn-lt"/>
            </a:endParaRPr>
          </a:p>
        </p:txBody>
      </p:sp>
      <p:pic>
        <p:nvPicPr>
          <p:cNvPr id="7" name="Graphic 6">
            <a:extLst>
              <a:ext uri="{FF2B5EF4-FFF2-40B4-BE49-F238E27FC236}">
                <a16:creationId xmlns:a16="http://schemas.microsoft.com/office/drawing/2014/main" id="{7457E091-E20F-574F-B21F-DF6DB7DE3A4C}"/>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189382" y="1462210"/>
            <a:ext cx="1256457" cy="987835"/>
          </a:xfrm>
          <a:prstGeom prst="rect">
            <a:avLst/>
          </a:prstGeom>
        </p:spPr>
      </p:pic>
      <p:grpSp>
        <p:nvGrpSpPr>
          <p:cNvPr id="9" name="Group 8">
            <a:extLst>
              <a:ext uri="{FF2B5EF4-FFF2-40B4-BE49-F238E27FC236}">
                <a16:creationId xmlns:a16="http://schemas.microsoft.com/office/drawing/2014/main" id="{410FC9B3-6D23-C044-BC70-F4CBCCD74147}"/>
              </a:ext>
            </a:extLst>
          </p:cNvPr>
          <p:cNvGrpSpPr/>
          <p:nvPr/>
        </p:nvGrpSpPr>
        <p:grpSpPr>
          <a:xfrm>
            <a:off x="-104859" y="66314"/>
            <a:ext cx="12216715" cy="1418626"/>
            <a:chOff x="-24715" y="5825730"/>
            <a:chExt cx="12216715" cy="1418626"/>
          </a:xfrm>
        </p:grpSpPr>
        <p:pic>
          <p:nvPicPr>
            <p:cNvPr id="11" name="Image 5" descr="Bande_Logo_UNI_PP_right_long.eps">
              <a:extLst>
                <a:ext uri="{FF2B5EF4-FFF2-40B4-BE49-F238E27FC236}">
                  <a16:creationId xmlns:a16="http://schemas.microsoft.com/office/drawing/2014/main" id="{EEB7CB92-331A-0B45-8A12-E75D37DCF015}"/>
                </a:ext>
              </a:extLst>
            </p:cNvPr>
            <p:cNvPicPr/>
            <p:nvPr/>
          </p:nvPicPr>
          <p:blipFill rotWithShape="1">
            <a:blip r:embed="rId6"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a:solidFill>
                    <a:srgbClr val="FFFFFF"/>
                  </a:solid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20806795-C84B-1141-8495-A9590BF17FE3}"/>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3" name="Picture 12">
              <a:extLst>
                <a:ext uri="{FF2B5EF4-FFF2-40B4-BE49-F238E27FC236}">
                  <a16:creationId xmlns:a16="http://schemas.microsoft.com/office/drawing/2014/main" id="{4DE845FA-2485-814D-BF58-7584A9D13EB6}"/>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sp>
        <p:nvSpPr>
          <p:cNvPr id="14" name="Text Placeholder 2"/>
          <p:cNvSpPr>
            <a:spLocks noGrp="1"/>
          </p:cNvSpPr>
          <p:nvPr>
            <p:ph type="body" sz="quarter" idx="11"/>
          </p:nvPr>
        </p:nvSpPr>
        <p:spPr>
          <a:xfrm>
            <a:off x="636871" y="570956"/>
            <a:ext cx="11362565" cy="476250"/>
          </a:xfrm>
        </p:spPr>
        <p:txBody>
          <a:bodyPr>
            <a:normAutofit/>
          </a:bodyPr>
          <a:lstStyle/>
          <a:p>
            <a:r>
              <a:rPr lang="en-US" dirty="0">
                <a:solidFill>
                  <a:schemeClr val="bg1"/>
                </a:solidFill>
              </a:rPr>
              <a:t>Outline</a:t>
            </a:r>
            <a:endParaRPr lang="en-US" b="0" dirty="0">
              <a:solidFill>
                <a:schemeClr val="bg1"/>
              </a:solidFill>
            </a:endParaRPr>
          </a:p>
        </p:txBody>
      </p:sp>
    </p:spTree>
    <p:extLst>
      <p:ext uri="{BB962C8B-B14F-4D97-AF65-F5344CB8AC3E}">
        <p14:creationId xmlns:p14="http://schemas.microsoft.com/office/powerpoint/2010/main" val="2915071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motivation</a:t>
            </a:r>
          </a:p>
        </p:txBody>
      </p:sp>
      <p:sp>
        <p:nvSpPr>
          <p:cNvPr id="3" name="Text Placeholder 2"/>
          <p:cNvSpPr>
            <a:spLocks noGrp="1"/>
          </p:cNvSpPr>
          <p:nvPr>
            <p:ph type="body" sz="quarter" idx="11"/>
          </p:nvPr>
        </p:nvSpPr>
        <p:spPr>
          <a:xfrm>
            <a:off x="251988" y="532192"/>
            <a:ext cx="4701641" cy="411923"/>
          </a:xfrm>
          <a:noFill/>
          <a:ln>
            <a:solidFill>
              <a:schemeClr val="bg1"/>
            </a:solidFill>
          </a:ln>
        </p:spPr>
        <p:txBody>
          <a:bodyPr>
            <a:normAutofit fontScale="85000" lnSpcReduction="20000"/>
          </a:bodyPr>
          <a:lstStyle/>
          <a:p>
            <a:r>
              <a:rPr lang="en-US" sz="3200" dirty="0"/>
              <a:t>Mobile users</a:t>
            </a:r>
            <a:endParaRPr lang="en-US" sz="3200" b="0" dirty="0"/>
          </a:p>
        </p:txBody>
      </p:sp>
      <p:sp>
        <p:nvSpPr>
          <p:cNvPr id="9" name="Text Placeholder 1"/>
          <p:cNvSpPr txBox="1">
            <a:spLocks/>
          </p:cNvSpPr>
          <p:nvPr/>
        </p:nvSpPr>
        <p:spPr>
          <a:xfrm>
            <a:off x="6450389" y="5335239"/>
            <a:ext cx="4988215" cy="371707"/>
          </a:xfrm>
          <a:prstGeom prst="rect">
            <a:avLst/>
          </a:prstGeom>
          <a:ln>
            <a:solidFill>
              <a:schemeClr val="tx1"/>
            </a:solidFill>
          </a:ln>
        </p:spPr>
        <p:txBody>
          <a:bodyPr vert="horz" lIns="91440" tIns="45720" rIns="91440" bIns="4572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CH" sz="1100" dirty="0"/>
              <a:t>Dynamic </a:t>
            </a:r>
            <a:r>
              <a:rPr lang="fr-CH" sz="1100" dirty="0" err="1"/>
              <a:t>demand</a:t>
            </a:r>
            <a:r>
              <a:rPr lang="fr-CH" sz="1100" dirty="0"/>
              <a:t> </a:t>
            </a:r>
            <a:r>
              <a:rPr lang="fr-CH" sz="1100" dirty="0" err="1"/>
              <a:t>from</a:t>
            </a:r>
            <a:r>
              <a:rPr lang="fr-CH" sz="1100" dirty="0"/>
              <a:t> </a:t>
            </a:r>
            <a:r>
              <a:rPr lang="fr-CH" sz="1100" dirty="0" err="1"/>
              <a:t>SnT</a:t>
            </a:r>
            <a:r>
              <a:rPr lang="fr-CH" sz="1100" dirty="0"/>
              <a:t> </a:t>
            </a:r>
            <a:r>
              <a:rPr lang="fr-CH" sz="1100" dirty="0" err="1"/>
              <a:t>traffic</a:t>
            </a:r>
            <a:r>
              <a:rPr lang="fr-CH" sz="1100" dirty="0"/>
              <a:t> </a:t>
            </a:r>
            <a:r>
              <a:rPr lang="fr-CH" sz="1100" dirty="0" err="1"/>
              <a:t>emulator</a:t>
            </a:r>
            <a:br>
              <a:rPr lang="fr-CH" sz="1100" dirty="0"/>
            </a:br>
            <a:r>
              <a:rPr lang="en-US" sz="1100" u="sng" dirty="0">
                <a:hlinkClick r:id="rId3"/>
              </a:rPr>
              <a:t>https://github.com/hayder-hussein/Satellite-Traffic-Simulator</a:t>
            </a:r>
            <a:r>
              <a:rPr lang="en-US" sz="1100" dirty="0"/>
              <a:t>. </a:t>
            </a:r>
          </a:p>
        </p:txBody>
      </p:sp>
      <p:sp>
        <p:nvSpPr>
          <p:cNvPr id="11" name="Text Placeholder 3"/>
          <p:cNvSpPr txBox="1">
            <a:spLocks/>
          </p:cNvSpPr>
          <p:nvPr/>
        </p:nvSpPr>
        <p:spPr>
          <a:xfrm>
            <a:off x="307975" y="5400651"/>
            <a:ext cx="5001778" cy="371707"/>
          </a:xfrm>
          <a:prstGeom prst="rect">
            <a:avLst/>
          </a:prstGeom>
          <a:ln>
            <a:solidFill>
              <a:schemeClr val="tx1"/>
            </a:solid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Maritime</a:t>
            </a:r>
            <a:r>
              <a:rPr lang="fr-CH" sz="1100" dirty="0"/>
              <a:t> User locations at </a:t>
            </a:r>
            <a:r>
              <a:rPr lang="en-US" sz="1100" dirty="0"/>
              <a:t>different time stamps of a day</a:t>
            </a:r>
            <a:r>
              <a:rPr lang="en-US" sz="1400" dirty="0"/>
              <a:t>.</a:t>
            </a:r>
          </a:p>
        </p:txBody>
      </p:sp>
      <p:pic>
        <p:nvPicPr>
          <p:cNvPr id="12" name="Content Placeholder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048" y="1227069"/>
            <a:ext cx="5001778" cy="3751331"/>
          </a:xfrm>
          <a:prstGeom prst="rect">
            <a:avLst/>
          </a:prstGeom>
          <a:ln>
            <a:solidFill>
              <a:schemeClr val="tx1"/>
            </a:solidFill>
          </a:ln>
        </p:spPr>
      </p:pic>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4" name="Straight Connector 13"/>
          <p:cNvCxnSpPr/>
          <p:nvPr/>
        </p:nvCxnSpPr>
        <p:spPr>
          <a:xfrm>
            <a:off x="5870023" y="532192"/>
            <a:ext cx="20096" cy="6225701"/>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BA7B897-5E64-485C-A8AB-5EB89937F0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5187" y="1048253"/>
            <a:ext cx="5478617" cy="4108962"/>
          </a:xfrm>
          <a:prstGeom prst="rect">
            <a:avLst/>
          </a:prstGeom>
          <a:ln>
            <a:solidFill>
              <a:schemeClr val="tx1"/>
            </a:solidFill>
          </a:ln>
        </p:spPr>
      </p:pic>
    </p:spTree>
    <p:extLst>
      <p:ext uri="{BB962C8B-B14F-4D97-AF65-F5344CB8AC3E}">
        <p14:creationId xmlns:p14="http://schemas.microsoft.com/office/powerpoint/2010/main" val="2778541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motivation</a:t>
            </a:r>
          </a:p>
        </p:txBody>
      </p:sp>
      <p:sp>
        <p:nvSpPr>
          <p:cNvPr id="3" name="Text Placeholder 2"/>
          <p:cNvSpPr>
            <a:spLocks noGrp="1"/>
          </p:cNvSpPr>
          <p:nvPr>
            <p:ph type="body" sz="quarter" idx="11"/>
          </p:nvPr>
        </p:nvSpPr>
        <p:spPr>
          <a:xfrm>
            <a:off x="251988" y="532192"/>
            <a:ext cx="4701641" cy="411923"/>
          </a:xfrm>
          <a:noFill/>
          <a:ln>
            <a:solidFill>
              <a:schemeClr val="bg1"/>
            </a:solidFill>
          </a:ln>
        </p:spPr>
        <p:txBody>
          <a:bodyPr>
            <a:normAutofit fontScale="85000" lnSpcReduction="20000"/>
          </a:bodyPr>
          <a:lstStyle/>
          <a:p>
            <a:r>
              <a:rPr lang="en-US" sz="3200" dirty="0"/>
              <a:t>Non-uniform demand</a:t>
            </a:r>
            <a:endParaRPr lang="en-US" sz="3200" b="0" dirty="0"/>
          </a:p>
        </p:txBody>
      </p:sp>
      <p:sp>
        <p:nvSpPr>
          <p:cNvPr id="18" name="Rectangle 17"/>
          <p:cNvSpPr/>
          <p:nvPr/>
        </p:nvSpPr>
        <p:spPr>
          <a:xfrm>
            <a:off x="211798" y="911103"/>
            <a:ext cx="3975211" cy="5539978"/>
          </a:xfrm>
          <a:prstGeom prst="rect">
            <a:avLst/>
          </a:prstGeom>
          <a:ln>
            <a:noFill/>
          </a:ln>
        </p:spPr>
        <p:txBody>
          <a:bodyPr wrap="square">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sz="2800" dirty="0"/>
              <a:t>Even at one time stamp, user distribution is non-uniform on ground and, consequently, the demand-distribution varies geographically. </a:t>
            </a:r>
          </a:p>
          <a:p>
            <a:endParaRPr lang="en-US" sz="2800" dirty="0"/>
          </a:p>
          <a:p>
            <a:pPr marL="285750" indent="-285750">
              <a:buFont typeface="Arial" panose="020B0604020202020204" pitchFamily="34" charset="0"/>
              <a:buChar char="•"/>
            </a:pPr>
            <a:r>
              <a:rPr lang="en-US" sz="2800" dirty="0"/>
              <a:t>Hence, resource allocation in current satellite systems need to adapt to the change in demand distribution.</a:t>
            </a:r>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14" name="Straight Connector 13"/>
          <p:cNvCxnSpPr/>
          <p:nvPr/>
        </p:nvCxnSpPr>
        <p:spPr>
          <a:xfrm>
            <a:off x="4560271" y="409434"/>
            <a:ext cx="20096" cy="6225701"/>
          </a:xfrm>
          <a:prstGeom prst="line">
            <a:avLst/>
          </a:prstGeom>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3"/>
          <a:stretch>
            <a:fillRect/>
          </a:stretch>
        </p:blipFill>
        <p:spPr>
          <a:xfrm>
            <a:off x="4646401" y="944115"/>
            <a:ext cx="7265291" cy="5020830"/>
          </a:xfrm>
          <a:prstGeom prst="rect">
            <a:avLst/>
          </a:prstGeom>
        </p:spPr>
      </p:pic>
      <p:pic>
        <p:nvPicPr>
          <p:cNvPr id="17" name="Picture 16"/>
          <p:cNvPicPr>
            <a:picLocks noChangeAspect="1"/>
          </p:cNvPicPr>
          <p:nvPr/>
        </p:nvPicPr>
        <p:blipFill>
          <a:blip r:embed="rId4"/>
          <a:stretch>
            <a:fillRect/>
          </a:stretch>
        </p:blipFill>
        <p:spPr>
          <a:xfrm>
            <a:off x="11255445" y="5674764"/>
            <a:ext cx="677827" cy="525316"/>
          </a:xfrm>
          <a:prstGeom prst="rect">
            <a:avLst/>
          </a:prstGeom>
        </p:spPr>
      </p:pic>
    </p:spTree>
    <p:extLst>
      <p:ext uri="{BB962C8B-B14F-4D97-AF65-F5344CB8AC3E}">
        <p14:creationId xmlns:p14="http://schemas.microsoft.com/office/powerpoint/2010/main" val="3742946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oat, sitting, water, large&#10;&#10;Description automatically generated">
            <a:extLst>
              <a:ext uri="{FF2B5EF4-FFF2-40B4-BE49-F238E27FC236}">
                <a16:creationId xmlns:a16="http://schemas.microsoft.com/office/drawing/2014/main" id="{77210977-2254-E140-8B3E-A45F6F31BCC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497" y="0"/>
            <a:ext cx="12278497" cy="6858000"/>
          </a:xfrm>
          <a:prstGeom prst="rect">
            <a:avLst/>
          </a:prstGeom>
        </p:spPr>
      </p:pic>
      <p:sp>
        <p:nvSpPr>
          <p:cNvPr id="6" name="TextBox 5">
            <a:extLst>
              <a:ext uri="{FF2B5EF4-FFF2-40B4-BE49-F238E27FC236}">
                <a16:creationId xmlns:a16="http://schemas.microsoft.com/office/drawing/2014/main" id="{9DE8A534-5C35-410C-9D80-776EDE35A6B5}"/>
              </a:ext>
            </a:extLst>
          </p:cNvPr>
          <p:cNvSpPr txBox="1"/>
          <p:nvPr/>
        </p:nvSpPr>
        <p:spPr>
          <a:xfrm>
            <a:off x="636871" y="1256467"/>
            <a:ext cx="7934730" cy="4093428"/>
          </a:xfrm>
          <a:prstGeom prst="rect">
            <a:avLst/>
          </a:prstGeom>
          <a:noFill/>
        </p:spPr>
        <p:txBody>
          <a:bodyPr wrap="square" rtlCol="0">
            <a:spAutoFit/>
          </a:bodyPr>
          <a:lstStyle>
            <a:defPPr>
              <a:defRPr lang="en-US"/>
            </a:defPPr>
            <a:lvl1pPr marL="342900" indent="-342900">
              <a:buFont typeface="+mj-lt"/>
              <a:buAutoNum type="arabicPeriod"/>
              <a:defRPr sz="2000" b="1">
                <a:solidFill>
                  <a:schemeClr val="bg1"/>
                </a:solidFill>
                <a:latin typeface="Graphik Semibold" panose="020B0703030202060203" pitchFamily="34" charset="0"/>
              </a:defRPr>
            </a:lvl1pPr>
          </a:lstStyle>
          <a:p>
            <a:r>
              <a:rPr lang="fr-CH" dirty="0">
                <a:solidFill>
                  <a:schemeClr val="tx1"/>
                </a:solidFill>
              </a:rPr>
              <a:t>Introduction</a:t>
            </a:r>
            <a:endParaRPr lang="en-US" dirty="0">
              <a:solidFill>
                <a:schemeClr val="tx1"/>
              </a:solidFill>
            </a:endParaRPr>
          </a:p>
          <a:p>
            <a:endParaRPr lang="fr-CH" dirty="0"/>
          </a:p>
          <a:p>
            <a:r>
              <a:rPr lang="en-US" dirty="0"/>
              <a:t>Problem statement, System and Channel Model</a:t>
            </a:r>
          </a:p>
          <a:p>
            <a:pPr marL="342900" lvl="1" indent="-342900">
              <a:buFont typeface="+mj-lt"/>
              <a:buAutoNum type="arabicPeriod"/>
            </a:pPr>
            <a:endParaRPr lang="en-US" sz="2000" b="1" dirty="0">
              <a:latin typeface="Graphik Semibold" panose="020B0703030202060203" pitchFamily="34" charset="0"/>
            </a:endParaRPr>
          </a:p>
          <a:p>
            <a:r>
              <a:rPr lang="en-US" dirty="0">
                <a:solidFill>
                  <a:schemeClr val="tx1"/>
                </a:solidFill>
              </a:rPr>
              <a:t>Optimization Problem Formulation and Relaxation </a:t>
            </a:r>
          </a:p>
          <a:p>
            <a:endParaRPr lang="en-US" dirty="0">
              <a:solidFill>
                <a:schemeClr val="tx1"/>
              </a:solidFill>
            </a:endParaRPr>
          </a:p>
          <a:p>
            <a:r>
              <a:rPr lang="en-US" dirty="0">
                <a:solidFill>
                  <a:schemeClr val="tx1"/>
                </a:solidFill>
              </a:rPr>
              <a:t>Numerical results</a:t>
            </a:r>
          </a:p>
          <a:p>
            <a:endParaRPr lang="en-US" sz="2000" b="1" dirty="0">
              <a:solidFill>
                <a:schemeClr val="tx1"/>
              </a:solidFill>
              <a:latin typeface="Graphik Semibold" panose="020B0703030202060203" pitchFamily="34" charset="0"/>
            </a:endParaRPr>
          </a:p>
          <a:p>
            <a:r>
              <a:rPr lang="en-US" sz="2000" b="1" dirty="0">
                <a:solidFill>
                  <a:schemeClr val="tx1"/>
                </a:solidFill>
                <a:latin typeface="Graphik Semibold" panose="020B0703030202060203" pitchFamily="34" charset="0"/>
              </a:rPr>
              <a:t>Conclusion</a:t>
            </a:r>
            <a:endParaRPr lang="en-US" dirty="0">
              <a:solidFill>
                <a:schemeClr val="tx1"/>
              </a:solidFill>
            </a:endParaRPr>
          </a:p>
          <a:p>
            <a:endParaRPr lang="en-US" sz="2000" b="1" dirty="0">
              <a:solidFill>
                <a:schemeClr val="tx1"/>
              </a:solidFill>
              <a:latin typeface="Graphik Semibold" panose="020B0703030202060203" pitchFamily="34" charset="0"/>
            </a:endParaRPr>
          </a:p>
          <a:p>
            <a:r>
              <a:rPr lang="en-US" sz="2000" b="1" dirty="0">
                <a:solidFill>
                  <a:schemeClr val="tx1"/>
                </a:solidFill>
                <a:latin typeface="Graphik Semibold" panose="020B0703030202060203" pitchFamily="34" charset="0"/>
              </a:rPr>
              <a:t>Future Work</a:t>
            </a:r>
            <a:br>
              <a:rPr lang="en-US" sz="2000" b="1" dirty="0">
                <a:solidFill>
                  <a:schemeClr val="bg1"/>
                </a:solidFill>
                <a:latin typeface="Graphik Semibold" panose="020B0703030202060203" pitchFamily="34" charset="0"/>
              </a:rPr>
            </a:br>
            <a:endParaRPr lang="en-US" sz="2000" b="1" dirty="0">
              <a:solidFill>
                <a:schemeClr val="bg1"/>
              </a:solidFill>
              <a:latin typeface="Graphik Semibold" panose="020B0703030202060203" pitchFamily="34" charset="0"/>
            </a:endParaRPr>
          </a:p>
          <a:p>
            <a:endParaRPr lang="en-US" dirty="0">
              <a:latin typeface="+mn-lt"/>
            </a:endParaRPr>
          </a:p>
        </p:txBody>
      </p:sp>
      <p:pic>
        <p:nvPicPr>
          <p:cNvPr id="7" name="Graphic 6">
            <a:extLst>
              <a:ext uri="{FF2B5EF4-FFF2-40B4-BE49-F238E27FC236}">
                <a16:creationId xmlns:a16="http://schemas.microsoft.com/office/drawing/2014/main" id="{7457E091-E20F-574F-B21F-DF6DB7DE3A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89382" y="1462210"/>
            <a:ext cx="1256457" cy="987835"/>
          </a:xfrm>
          <a:prstGeom prst="rect">
            <a:avLst/>
          </a:prstGeom>
        </p:spPr>
      </p:pic>
      <p:grpSp>
        <p:nvGrpSpPr>
          <p:cNvPr id="9" name="Group 8">
            <a:extLst>
              <a:ext uri="{FF2B5EF4-FFF2-40B4-BE49-F238E27FC236}">
                <a16:creationId xmlns:a16="http://schemas.microsoft.com/office/drawing/2014/main" id="{410FC9B3-6D23-C044-BC70-F4CBCCD74147}"/>
              </a:ext>
            </a:extLst>
          </p:cNvPr>
          <p:cNvGrpSpPr/>
          <p:nvPr/>
        </p:nvGrpSpPr>
        <p:grpSpPr>
          <a:xfrm>
            <a:off x="-104859" y="66314"/>
            <a:ext cx="12216715" cy="1418626"/>
            <a:chOff x="-24715" y="5825730"/>
            <a:chExt cx="12216715" cy="1418626"/>
          </a:xfrm>
        </p:grpSpPr>
        <p:pic>
          <p:nvPicPr>
            <p:cNvPr id="11" name="Image 5" descr="Bande_Logo_UNI_PP_right_long.eps">
              <a:extLst>
                <a:ext uri="{FF2B5EF4-FFF2-40B4-BE49-F238E27FC236}">
                  <a16:creationId xmlns:a16="http://schemas.microsoft.com/office/drawing/2014/main" id="{EEB7CB92-331A-0B45-8A12-E75D37DCF015}"/>
                </a:ext>
              </a:extLst>
            </p:cNvPr>
            <p:cNvPicPr/>
            <p:nvPr/>
          </p:nvPicPr>
          <p:blipFill rotWithShape="1">
            <a:blip r:embed="rId5"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lc="http://schemas.openxmlformats.org/drawingml/2006/lockedCanvas" xmlns:a14="http://schemas.microsoft.com/office/drawing/2010/main" xmlns=""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solidFill>
                    <a:srgbClr val="FFFFFF"/>
                  </a:solidFill>
                </a14:hiddenFill>
              </a:ext>
              <a:ext uri="{91240B29-F687-4f45-9708-019B960494DF}">
                <a14:hiddenLine xmlns:lc="http://schemas.openxmlformats.org/drawingml/2006/lockedCanvas" xmlns:a14="http://schemas.microsoft.com/office/drawing/2010/main" xmlns=""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20806795-C84B-1141-8495-A9590BF17FE3}"/>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3" name="Picture 12">
              <a:extLst>
                <a:ext uri="{FF2B5EF4-FFF2-40B4-BE49-F238E27FC236}">
                  <a16:creationId xmlns:a16="http://schemas.microsoft.com/office/drawing/2014/main" id="{4DE845FA-2485-814D-BF58-7584A9D13EB6}"/>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sp>
        <p:nvSpPr>
          <p:cNvPr id="14" name="Text Placeholder 2"/>
          <p:cNvSpPr>
            <a:spLocks noGrp="1"/>
          </p:cNvSpPr>
          <p:nvPr>
            <p:ph type="body" sz="quarter" idx="11"/>
          </p:nvPr>
        </p:nvSpPr>
        <p:spPr>
          <a:xfrm>
            <a:off x="636871" y="570956"/>
            <a:ext cx="11362565" cy="476250"/>
          </a:xfrm>
        </p:spPr>
        <p:txBody>
          <a:bodyPr>
            <a:normAutofit/>
          </a:bodyPr>
          <a:lstStyle/>
          <a:p>
            <a:r>
              <a:rPr lang="en-US" dirty="0">
                <a:solidFill>
                  <a:schemeClr val="bg1"/>
                </a:solidFill>
              </a:rPr>
              <a:t>Outline</a:t>
            </a:r>
            <a:endParaRPr lang="en-US" b="0" dirty="0">
              <a:solidFill>
                <a:schemeClr val="bg1"/>
              </a:solidFill>
            </a:endParaRPr>
          </a:p>
        </p:txBody>
      </p:sp>
    </p:spTree>
    <p:extLst>
      <p:ext uri="{BB962C8B-B14F-4D97-AF65-F5344CB8AC3E}">
        <p14:creationId xmlns:p14="http://schemas.microsoft.com/office/powerpoint/2010/main" val="1242935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Problem statement, System and Channel Model</a:t>
            </a:r>
          </a:p>
          <a:p>
            <a:pPr marL="342900" lvl="1" indent="-342900">
              <a:buFont typeface="+mj-lt"/>
              <a:buAutoNum type="arabicPeriod"/>
            </a:pPr>
            <a:endParaRPr lang="en-US" sz="2000" b="1" dirty="0">
              <a:solidFill>
                <a:schemeClr val="bg1"/>
              </a:solidFill>
              <a:latin typeface="Graphik Semibold" panose="020B0703030202060203" pitchFamily="34" charset="0"/>
            </a:endParaRPr>
          </a:p>
        </p:txBody>
      </p:sp>
      <p:sp>
        <p:nvSpPr>
          <p:cNvPr id="3" name="Text Placeholder 2"/>
          <p:cNvSpPr>
            <a:spLocks noGrp="1"/>
          </p:cNvSpPr>
          <p:nvPr>
            <p:ph type="body" sz="quarter" idx="11"/>
          </p:nvPr>
        </p:nvSpPr>
        <p:spPr>
          <a:xfrm>
            <a:off x="307975" y="561457"/>
            <a:ext cx="4701641" cy="411923"/>
          </a:xfrm>
          <a:noFill/>
          <a:ln>
            <a:solidFill>
              <a:schemeClr val="bg1"/>
            </a:solidFill>
          </a:ln>
        </p:spPr>
        <p:txBody>
          <a:bodyPr>
            <a:normAutofit fontScale="85000" lnSpcReduction="20000"/>
          </a:bodyPr>
          <a:lstStyle/>
          <a:p>
            <a:r>
              <a:rPr lang="en-US" sz="3200" dirty="0"/>
              <a:t>Problem statement</a:t>
            </a:r>
            <a:endParaRPr lang="en-US" sz="3200" b="0" dirty="0"/>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Rectangle 3"/>
          <p:cNvSpPr/>
          <p:nvPr/>
        </p:nvSpPr>
        <p:spPr>
          <a:xfrm>
            <a:off x="307975" y="1184339"/>
            <a:ext cx="4586829" cy="4031873"/>
          </a:xfrm>
          <a:prstGeom prst="rect">
            <a:avLst/>
          </a:prstGeom>
        </p:spPr>
        <p:txBody>
          <a:bodyPr wrap="square">
            <a:spAutoFit/>
          </a:bodyPr>
          <a:lstStyle/>
          <a:p>
            <a:pPr algn="just"/>
            <a:r>
              <a:rPr lang="en-US" sz="2400" dirty="0">
                <a:effectLst/>
                <a:latin typeface="Arial" panose="020B0604020202020204" pitchFamily="34" charset="0"/>
              </a:rPr>
              <a:t>Developing a novel joint beam assignment, active beam power allocation, and satellite switch-off technique based on dynamic LEO satellite constellation pattern while considering the practical 3GPP channel model, and realistic user traffic demands.</a:t>
            </a:r>
          </a:p>
          <a:p>
            <a:pPr marL="285750" indent="-285750" algn="just">
              <a:buFont typeface="Arial" panose="020B0604020202020204" pitchFamily="34" charset="0"/>
              <a:buChar char="•"/>
            </a:pPr>
            <a:endParaRPr lang="en-US" sz="2000" dirty="0">
              <a:latin typeface="Arial" panose="020B0604020202020204" pitchFamily="34" charset="0"/>
            </a:endParaRPr>
          </a:p>
          <a:p>
            <a:pPr algn="just"/>
            <a:endParaRPr lang="en-US" sz="2000" dirty="0">
              <a:effectLst/>
              <a:latin typeface="Arial" panose="020B0604020202020204" pitchFamily="34" charset="0"/>
            </a:endParaRPr>
          </a:p>
        </p:txBody>
      </p:sp>
      <p:cxnSp>
        <p:nvCxnSpPr>
          <p:cNvPr id="10" name="Straight Connector 9"/>
          <p:cNvCxnSpPr/>
          <p:nvPr/>
        </p:nvCxnSpPr>
        <p:spPr>
          <a:xfrm>
            <a:off x="5777803" y="382311"/>
            <a:ext cx="20096" cy="6225701"/>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descr="Diagram&#10;&#10;Description automatically generated">
            <a:extLst>
              <a:ext uri="{FF2B5EF4-FFF2-40B4-BE49-F238E27FC236}">
                <a16:creationId xmlns:a16="http://schemas.microsoft.com/office/drawing/2014/main" id="{93A6C577-4E2B-4231-9105-39EE432BC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6086" y="973380"/>
            <a:ext cx="4311650" cy="3873500"/>
          </a:xfrm>
          <a:prstGeom prst="rect">
            <a:avLst/>
          </a:prstGeom>
        </p:spPr>
      </p:pic>
      <p:sp>
        <p:nvSpPr>
          <p:cNvPr id="13" name="TextBox 12">
            <a:extLst>
              <a:ext uri="{FF2B5EF4-FFF2-40B4-BE49-F238E27FC236}">
                <a16:creationId xmlns:a16="http://schemas.microsoft.com/office/drawing/2014/main" id="{E477646C-2ABB-43AC-8575-D5678561FFB8}"/>
              </a:ext>
            </a:extLst>
          </p:cNvPr>
          <p:cNvSpPr txBox="1"/>
          <p:nvPr/>
        </p:nvSpPr>
        <p:spPr>
          <a:xfrm>
            <a:off x="5932170" y="4960620"/>
            <a:ext cx="6149340" cy="584775"/>
          </a:xfrm>
          <a:prstGeom prst="rect">
            <a:avLst/>
          </a:prstGeom>
          <a:noFill/>
        </p:spPr>
        <p:txBody>
          <a:bodyPr wrap="square" rtlCol="0">
            <a:spAutoFit/>
          </a:bodyPr>
          <a:lstStyle/>
          <a:p>
            <a:pPr algn="just"/>
            <a:r>
              <a:rPr lang="en-US" sz="1600" dirty="0">
                <a:latin typeface="Arial" panose="020B0604020202020204" pitchFamily="34" charset="0"/>
              </a:rPr>
              <a:t>A</a:t>
            </a:r>
            <a:r>
              <a:rPr lang="en-US" sz="1600" dirty="0">
                <a:effectLst/>
                <a:latin typeface="Arial" panose="020B0604020202020204" pitchFamily="34" charset="0"/>
              </a:rPr>
              <a:t> layout of multi-beam LEO satellite constellation coverage and ground users distributed over the Earth surface.</a:t>
            </a:r>
            <a:endParaRPr lang="en-US" sz="1600" dirty="0"/>
          </a:p>
        </p:txBody>
      </p:sp>
    </p:spTree>
    <p:extLst>
      <p:ext uri="{BB962C8B-B14F-4D97-AF65-F5344CB8AC3E}">
        <p14:creationId xmlns:p14="http://schemas.microsoft.com/office/powerpoint/2010/main" val="336555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System and channel model under study</a:t>
            </a:r>
          </a:p>
          <a:p>
            <a:pPr marL="342900" lvl="1" indent="-342900">
              <a:buFont typeface="+mj-lt"/>
              <a:buAutoNum type="arabicPeriod"/>
            </a:pPr>
            <a:endParaRPr lang="en-US" sz="2000" b="1" dirty="0">
              <a:solidFill>
                <a:schemeClr val="bg1"/>
              </a:solidFill>
              <a:latin typeface="Graphik Semibold" panose="020B0703030202060203" pitchFamily="34" charset="0"/>
            </a:endParaRPr>
          </a:p>
        </p:txBody>
      </p:sp>
      <p:sp>
        <p:nvSpPr>
          <p:cNvPr id="3" name="Text Placeholder 2"/>
          <p:cNvSpPr>
            <a:spLocks noGrp="1"/>
          </p:cNvSpPr>
          <p:nvPr>
            <p:ph type="body" sz="quarter" idx="11"/>
          </p:nvPr>
        </p:nvSpPr>
        <p:spPr>
          <a:xfrm>
            <a:off x="307975" y="561457"/>
            <a:ext cx="4701641" cy="411923"/>
          </a:xfrm>
          <a:noFill/>
          <a:ln>
            <a:solidFill>
              <a:schemeClr val="bg1"/>
            </a:solidFill>
          </a:ln>
        </p:spPr>
        <p:txBody>
          <a:bodyPr>
            <a:normAutofit fontScale="85000" lnSpcReduction="20000"/>
          </a:bodyPr>
          <a:lstStyle/>
          <a:p>
            <a:r>
              <a:rPr lang="en-US" sz="3200" dirty="0"/>
              <a:t>System Model</a:t>
            </a:r>
            <a:endParaRPr lang="en-US" sz="3200" b="0" dirty="0"/>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 Placeholder 2">
            <a:extLst>
              <a:ext uri="{FF2B5EF4-FFF2-40B4-BE49-F238E27FC236}">
                <a16:creationId xmlns:a16="http://schemas.microsoft.com/office/drawing/2014/main" id="{436AA689-4E1E-4242-95DC-787AAF46D53B}"/>
              </a:ext>
            </a:extLst>
          </p:cNvPr>
          <p:cNvSpPr txBox="1">
            <a:spLocks/>
          </p:cNvSpPr>
          <p:nvPr/>
        </p:nvSpPr>
        <p:spPr>
          <a:xfrm>
            <a:off x="269824" y="3698483"/>
            <a:ext cx="4701641" cy="411923"/>
          </a:xfrm>
          <a:prstGeom prst="rect">
            <a:avLst/>
          </a:prstGeom>
          <a:noFill/>
          <a:ln>
            <a:solidFill>
              <a:schemeClr val="bg1"/>
            </a:solidFill>
          </a:ln>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lang="en-GB" sz="2400" b="1" kern="1200" dirty="0" smtClean="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Channel Model</a:t>
            </a:r>
            <a:endParaRPr lang="en-US" sz="3200" b="0"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A07D914-3652-475B-A9C5-6FB83E9C9D1A}"/>
                  </a:ext>
                </a:extLst>
              </p:cNvPr>
              <p:cNvSpPr txBox="1"/>
              <p:nvPr/>
            </p:nvSpPr>
            <p:spPr>
              <a:xfrm>
                <a:off x="3032309" y="1235999"/>
                <a:ext cx="1350563" cy="276999"/>
              </a:xfrm>
              <a:prstGeom prst="rect">
                <a:avLst/>
              </a:prstGeom>
              <a:noFill/>
            </p:spPr>
            <p:txBody>
              <a:bodyPr wrap="none" lIns="0" tIns="0" rIns="0" bIns="0" rtlCol="0">
                <a:spAutoFit/>
              </a:bodyPr>
              <a:lstStyle/>
              <a:p>
                <a:r>
                  <a:rPr lang="en-US" i="1" dirty="0">
                    <a:latin typeface="Curlz MT" panose="04040404050702020202" pitchFamily="82" charset="0"/>
                  </a:rPr>
                  <a:t> N</a:t>
                </a:r>
                <a14:m>
                  <m:oMath xmlns:m="http://schemas.openxmlformats.org/officeDocument/2006/math">
                    <m:r>
                      <a:rPr lang="en-US" i="1" smtClean="0">
                        <a:latin typeface="Cambria Math" panose="02040503050406030204" pitchFamily="18" charset="0"/>
                      </a:rPr>
                      <m:t>=</m:t>
                    </m:r>
                    <m:r>
                      <a:rPr lang="fr-LU" b="0" i="1" smtClean="0">
                        <a:latin typeface="Cambria Math" panose="02040503050406030204" pitchFamily="18" charset="0"/>
                      </a:rPr>
                      <m:t>{1,…,</m:t>
                    </m:r>
                    <m:r>
                      <a:rPr lang="fr-LU" b="0" i="1" smtClean="0">
                        <a:latin typeface="Cambria Math" panose="02040503050406030204" pitchFamily="18" charset="0"/>
                      </a:rPr>
                      <m:t>𝑁</m:t>
                    </m:r>
                    <m:r>
                      <a:rPr lang="fr-LU" b="0" i="1" smtClean="0">
                        <a:latin typeface="Cambria Math" panose="02040503050406030204" pitchFamily="18" charset="0"/>
                      </a:rPr>
                      <m:t>}</m:t>
                    </m:r>
                  </m:oMath>
                </a14:m>
                <a:endParaRPr lang="en-US" dirty="0"/>
              </a:p>
            </p:txBody>
          </p:sp>
        </mc:Choice>
        <mc:Fallback xmlns="">
          <p:sp>
            <p:nvSpPr>
              <p:cNvPr id="18" name="TextBox 17">
                <a:extLst>
                  <a:ext uri="{FF2B5EF4-FFF2-40B4-BE49-F238E27FC236}">
                    <a16:creationId xmlns:a16="http://schemas.microsoft.com/office/drawing/2014/main" id="{7A07D914-3652-475B-A9C5-6FB83E9C9D1A}"/>
                  </a:ext>
                </a:extLst>
              </p:cNvPr>
              <p:cNvSpPr txBox="1">
                <a:spLocks noRot="1" noChangeAspect="1" noMove="1" noResize="1" noEditPoints="1" noAdjustHandles="1" noChangeArrowheads="1" noChangeShapeType="1" noTextEdit="1"/>
              </p:cNvSpPr>
              <p:nvPr/>
            </p:nvSpPr>
            <p:spPr>
              <a:xfrm>
                <a:off x="3032309" y="1235999"/>
                <a:ext cx="1350563" cy="276999"/>
              </a:xfrm>
              <a:prstGeom prst="rect">
                <a:avLst/>
              </a:prstGeom>
              <a:blipFill>
                <a:blip r:embed="rId3"/>
                <a:stretch>
                  <a:fillRect l="-5405" t="-28889" r="-7658"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B577994-53DF-43FB-8B78-F0DB465BF130}"/>
                  </a:ext>
                </a:extLst>
              </p:cNvPr>
              <p:cNvSpPr txBox="1"/>
              <p:nvPr/>
            </p:nvSpPr>
            <p:spPr>
              <a:xfrm>
                <a:off x="3069388" y="1708334"/>
                <a:ext cx="1324914" cy="276999"/>
              </a:xfrm>
              <a:prstGeom prst="rect">
                <a:avLst/>
              </a:prstGeom>
              <a:noFill/>
            </p:spPr>
            <p:txBody>
              <a:bodyPr wrap="none" lIns="0" tIns="0" rIns="0" bIns="0" rtlCol="0">
                <a:spAutoFit/>
              </a:bodyPr>
              <a:lstStyle/>
              <a:p>
                <a:r>
                  <a:rPr lang="en-US" i="1" dirty="0">
                    <a:latin typeface="Curlz MT" panose="04040404050702020202" pitchFamily="82" charset="0"/>
                  </a:rPr>
                  <a:t>M</a:t>
                </a:r>
                <a14:m>
                  <m:oMath xmlns:m="http://schemas.openxmlformats.org/officeDocument/2006/math">
                    <m:r>
                      <a:rPr lang="en-US" i="1" smtClean="0">
                        <a:latin typeface="Cambria Math" panose="02040503050406030204" pitchFamily="18" charset="0"/>
                      </a:rPr>
                      <m:t>=</m:t>
                    </m:r>
                    <m:r>
                      <a:rPr lang="fr-LU" b="0" i="1" smtClean="0">
                        <a:latin typeface="Cambria Math" panose="02040503050406030204" pitchFamily="18" charset="0"/>
                      </a:rPr>
                      <m:t>{1,…,</m:t>
                    </m:r>
                    <m:r>
                      <a:rPr lang="fr-LU" b="0" i="1" smtClean="0">
                        <a:latin typeface="Cambria Math" panose="02040503050406030204" pitchFamily="18" charset="0"/>
                      </a:rPr>
                      <m:t>𝑀</m:t>
                    </m:r>
                    <m:r>
                      <a:rPr lang="fr-LU" b="0" i="1" smtClean="0">
                        <a:latin typeface="Cambria Math" panose="02040503050406030204" pitchFamily="18" charset="0"/>
                      </a:rPr>
                      <m:t>}</m:t>
                    </m:r>
                  </m:oMath>
                </a14:m>
                <a:endParaRPr lang="en-US" dirty="0"/>
              </a:p>
            </p:txBody>
          </p:sp>
        </mc:Choice>
        <mc:Fallback xmlns="">
          <p:sp>
            <p:nvSpPr>
              <p:cNvPr id="19" name="TextBox 18">
                <a:extLst>
                  <a:ext uri="{FF2B5EF4-FFF2-40B4-BE49-F238E27FC236}">
                    <a16:creationId xmlns:a16="http://schemas.microsoft.com/office/drawing/2014/main" id="{6B577994-53DF-43FB-8B78-F0DB465BF130}"/>
                  </a:ext>
                </a:extLst>
              </p:cNvPr>
              <p:cNvSpPr txBox="1">
                <a:spLocks noRot="1" noChangeAspect="1" noMove="1" noResize="1" noEditPoints="1" noAdjustHandles="1" noChangeArrowheads="1" noChangeShapeType="1" noTextEdit="1"/>
              </p:cNvSpPr>
              <p:nvPr/>
            </p:nvSpPr>
            <p:spPr>
              <a:xfrm>
                <a:off x="3069388" y="1708334"/>
                <a:ext cx="1324914" cy="276999"/>
              </a:xfrm>
              <a:prstGeom prst="rect">
                <a:avLst/>
              </a:prstGeom>
              <a:blipFill>
                <a:blip r:embed="rId4"/>
                <a:stretch>
                  <a:fillRect l="-11060" t="-28261" r="-8295"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71AC179-D883-40A8-A98D-6D6523008B94}"/>
                  </a:ext>
                </a:extLst>
              </p:cNvPr>
              <p:cNvSpPr txBox="1"/>
              <p:nvPr/>
            </p:nvSpPr>
            <p:spPr>
              <a:xfrm>
                <a:off x="3051226" y="2199123"/>
                <a:ext cx="2823948" cy="289182"/>
              </a:xfrm>
              <a:prstGeom prst="rect">
                <a:avLst/>
              </a:prstGeom>
              <a:noFill/>
            </p:spPr>
            <p:txBody>
              <a:bodyPr wrap="square" lIns="0" tIns="0" rIns="0" bIns="0" rtlCol="0">
                <a:spAutoFit/>
              </a:bodyPr>
              <a:lstStyle/>
              <a:p>
                <a:r>
                  <a:rPr lang="en-US" dirty="0">
                    <a:latin typeface="Amasis MT Pro Medium" panose="020B0604020202020204" pitchFamily="18" charset="0"/>
                    <a:cs typeface="Aharoni" panose="020B0604020202020204" pitchFamily="2" charset="-79"/>
                  </a:rPr>
                  <a:t>V(t)</a:t>
                </a:r>
                <a14:m>
                  <m:oMath xmlns:m="http://schemas.openxmlformats.org/officeDocument/2006/math">
                    <m:r>
                      <a:rPr lang="fr-LU" b="0" i="1" smtClean="0">
                        <a:latin typeface="Cambria Math" panose="02040503050406030204" pitchFamily="18" charset="0"/>
                      </a:rPr>
                      <m:t>={</m:t>
                    </m:r>
                    <m:sSub>
                      <m:sSubPr>
                        <m:ctrlPr>
                          <a:rPr lang="fr-LU" i="1">
                            <a:latin typeface="Cambria Math" panose="02040503050406030204" pitchFamily="18" charset="0"/>
                          </a:rPr>
                        </m:ctrlPr>
                      </m:sSubPr>
                      <m:e>
                        <m:r>
                          <a:rPr lang="fr-LU" i="1">
                            <a:latin typeface="Cambria Math" panose="02040503050406030204" pitchFamily="18" charset="0"/>
                          </a:rPr>
                          <m:t>𝑣</m:t>
                        </m:r>
                      </m:e>
                      <m:sub>
                        <m:r>
                          <a:rPr lang="fr-LU" i="1">
                            <a:latin typeface="Cambria Math" panose="02040503050406030204" pitchFamily="18" charset="0"/>
                          </a:rPr>
                          <m:t>𝑛</m:t>
                        </m:r>
                        <m:r>
                          <a:rPr lang="fr-LU" i="1">
                            <a:latin typeface="Cambria Math" panose="02040503050406030204" pitchFamily="18" charset="0"/>
                          </a:rPr>
                          <m:t>,</m:t>
                        </m:r>
                        <m:r>
                          <a:rPr lang="fr-LU" i="1">
                            <a:latin typeface="Cambria Math" panose="02040503050406030204" pitchFamily="18" charset="0"/>
                          </a:rPr>
                          <m:t>𝑚</m:t>
                        </m:r>
                      </m:sub>
                    </m:sSub>
                    <m:r>
                      <a:rPr lang="fr-LU" b="0" i="1" smtClean="0">
                        <a:latin typeface="Cambria Math" panose="02040503050406030204" pitchFamily="18" charset="0"/>
                      </a:rPr>
                      <m:t>|</m:t>
                    </m:r>
                    <m:r>
                      <a:rPr lang="fr-LU" b="0" i="1" smtClean="0">
                        <a:latin typeface="Cambria Math" panose="02040503050406030204" pitchFamily="18" charset="0"/>
                      </a:rPr>
                      <m:t>𝑛</m:t>
                    </m:r>
                    <m:r>
                      <a:rPr lang="fr-LU" b="0" i="1" smtClean="0">
                        <a:latin typeface="Cambria Math" panose="02040503050406030204" pitchFamily="18" charset="0"/>
                        <a:ea typeface="Cambria Math" panose="02040503050406030204" pitchFamily="18" charset="0"/>
                      </a:rPr>
                      <m:t>∈</m:t>
                    </m:r>
                    <m:r>
                      <m:rPr>
                        <m:nor/>
                      </m:rPr>
                      <a:rPr lang="en-US" i="1" dirty="0">
                        <a:latin typeface="Curlz MT" panose="04040404050702020202" pitchFamily="82" charset="0"/>
                      </a:rPr>
                      <m:t>N</m:t>
                    </m:r>
                    <m:r>
                      <a:rPr lang="fr-LU" b="0" i="1" smtClean="0">
                        <a:latin typeface="Cambria Math" panose="02040503050406030204" pitchFamily="18" charset="0"/>
                        <a:ea typeface="Cambria Math" panose="02040503050406030204" pitchFamily="18" charset="0"/>
                      </a:rPr>
                      <m:t>, </m:t>
                    </m:r>
                    <m:r>
                      <a:rPr lang="fr-LU" b="0" i="1" smtClean="0">
                        <a:latin typeface="Cambria Math" panose="02040503050406030204" pitchFamily="18" charset="0"/>
                        <a:ea typeface="Cambria Math" panose="02040503050406030204" pitchFamily="18" charset="0"/>
                      </a:rPr>
                      <m:t>𝑚</m:t>
                    </m:r>
                    <m:r>
                      <a:rPr lang="fr-LU" b="0" i="1" smtClean="0">
                        <a:latin typeface="Cambria Math" panose="02040503050406030204" pitchFamily="18" charset="0"/>
                        <a:ea typeface="Cambria Math" panose="02040503050406030204" pitchFamily="18" charset="0"/>
                      </a:rPr>
                      <m:t>∈</m:t>
                    </m:r>
                    <m:r>
                      <m:rPr>
                        <m:nor/>
                      </m:rPr>
                      <a:rPr lang="en-US" i="1" dirty="0">
                        <a:latin typeface="Curlz MT" panose="04040404050702020202" pitchFamily="82" charset="0"/>
                      </a:rPr>
                      <m:t>M</m:t>
                    </m:r>
                    <m:r>
                      <m:rPr>
                        <m:nor/>
                      </m:rPr>
                      <a:rPr lang="fr-LU" b="0" i="0" dirty="0" smtClean="0">
                        <a:latin typeface="Curlz MT" panose="04040404050702020202" pitchFamily="82" charset="0"/>
                      </a:rPr>
                      <m:t> </m:t>
                    </m:r>
                  </m:oMath>
                </a14:m>
                <a:r>
                  <a:rPr lang="en-US" dirty="0"/>
                  <a:t>}</a:t>
                </a:r>
              </a:p>
            </p:txBody>
          </p:sp>
        </mc:Choice>
        <mc:Fallback xmlns="">
          <p:sp>
            <p:nvSpPr>
              <p:cNvPr id="20" name="TextBox 19">
                <a:extLst>
                  <a:ext uri="{FF2B5EF4-FFF2-40B4-BE49-F238E27FC236}">
                    <a16:creationId xmlns:a16="http://schemas.microsoft.com/office/drawing/2014/main" id="{A71AC179-D883-40A8-A98D-6D6523008B94}"/>
                  </a:ext>
                </a:extLst>
              </p:cNvPr>
              <p:cNvSpPr txBox="1">
                <a:spLocks noRot="1" noChangeAspect="1" noMove="1" noResize="1" noEditPoints="1" noAdjustHandles="1" noChangeArrowheads="1" noChangeShapeType="1" noTextEdit="1"/>
              </p:cNvSpPr>
              <p:nvPr/>
            </p:nvSpPr>
            <p:spPr>
              <a:xfrm>
                <a:off x="3051226" y="2199123"/>
                <a:ext cx="2823948" cy="289182"/>
              </a:xfrm>
              <a:prstGeom prst="rect">
                <a:avLst/>
              </a:prstGeom>
              <a:blipFill>
                <a:blip r:embed="rId5"/>
                <a:stretch>
                  <a:fillRect l="-5184" t="-27660" r="-216" b="-46809"/>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036C4348-7624-46EB-829B-7384C58F3CD6}"/>
              </a:ext>
            </a:extLst>
          </p:cNvPr>
          <p:cNvSpPr txBox="1"/>
          <p:nvPr/>
        </p:nvSpPr>
        <p:spPr>
          <a:xfrm>
            <a:off x="460374" y="1177228"/>
            <a:ext cx="2391843" cy="400110"/>
          </a:xfrm>
          <a:prstGeom prst="rect">
            <a:avLst/>
          </a:prstGeom>
          <a:noFill/>
        </p:spPr>
        <p:txBody>
          <a:bodyPr wrap="square" rtlCol="0">
            <a:spAutoFit/>
          </a:bodyPr>
          <a:lstStyle/>
          <a:p>
            <a:r>
              <a:rPr lang="fr-LU" sz="2000" b="1" dirty="0"/>
              <a:t>Set of LEO Satellites: </a:t>
            </a:r>
            <a:endParaRPr lang="en-US" sz="2000" b="1" dirty="0"/>
          </a:p>
        </p:txBody>
      </p:sp>
      <p:sp>
        <p:nvSpPr>
          <p:cNvPr id="24" name="TextBox 23">
            <a:extLst>
              <a:ext uri="{FF2B5EF4-FFF2-40B4-BE49-F238E27FC236}">
                <a16:creationId xmlns:a16="http://schemas.microsoft.com/office/drawing/2014/main" id="{0D92B158-787B-4E68-B040-2D30D86B750F}"/>
              </a:ext>
            </a:extLst>
          </p:cNvPr>
          <p:cNvSpPr txBox="1"/>
          <p:nvPr/>
        </p:nvSpPr>
        <p:spPr>
          <a:xfrm>
            <a:off x="460374" y="1643923"/>
            <a:ext cx="2400199" cy="400110"/>
          </a:xfrm>
          <a:prstGeom prst="rect">
            <a:avLst/>
          </a:prstGeom>
          <a:noFill/>
        </p:spPr>
        <p:txBody>
          <a:bodyPr wrap="square" rtlCol="0">
            <a:spAutoFit/>
          </a:bodyPr>
          <a:lstStyle/>
          <a:p>
            <a:r>
              <a:rPr lang="fr-LU" sz="2000" b="1" dirty="0"/>
              <a:t>Set of </a:t>
            </a:r>
            <a:r>
              <a:rPr lang="fr-LU" sz="2000" b="1" dirty="0" err="1"/>
              <a:t>ground</a:t>
            </a:r>
            <a:r>
              <a:rPr lang="fr-LU" sz="2000" b="1" dirty="0"/>
              <a:t> </a:t>
            </a:r>
            <a:r>
              <a:rPr lang="fr-LU" sz="2000" b="1" dirty="0" err="1"/>
              <a:t>users</a:t>
            </a:r>
            <a:r>
              <a:rPr lang="fr-LU" sz="2000" b="1" dirty="0"/>
              <a:t>: </a:t>
            </a:r>
            <a:endParaRPr lang="en-US" sz="2000" b="1" dirty="0"/>
          </a:p>
        </p:txBody>
      </p:sp>
      <p:sp>
        <p:nvSpPr>
          <p:cNvPr id="25" name="TextBox 24">
            <a:extLst>
              <a:ext uri="{FF2B5EF4-FFF2-40B4-BE49-F238E27FC236}">
                <a16:creationId xmlns:a16="http://schemas.microsoft.com/office/drawing/2014/main" id="{137239BD-C5B2-4568-B8CE-C02B29A41803}"/>
              </a:ext>
            </a:extLst>
          </p:cNvPr>
          <p:cNvSpPr txBox="1"/>
          <p:nvPr/>
        </p:nvSpPr>
        <p:spPr>
          <a:xfrm>
            <a:off x="363651" y="2111055"/>
            <a:ext cx="2823947" cy="400110"/>
          </a:xfrm>
          <a:prstGeom prst="rect">
            <a:avLst/>
          </a:prstGeom>
          <a:noFill/>
        </p:spPr>
        <p:txBody>
          <a:bodyPr wrap="square" rtlCol="0">
            <a:spAutoFit/>
          </a:bodyPr>
          <a:lstStyle/>
          <a:p>
            <a:r>
              <a:rPr lang="fr-LU" sz="2000" b="1" dirty="0"/>
              <a:t> Satellite user </a:t>
            </a:r>
            <a:r>
              <a:rPr lang="fr-LU" sz="2000" b="1" dirty="0" err="1"/>
              <a:t>visibility</a:t>
            </a:r>
            <a:r>
              <a:rPr lang="fr-LU" sz="2000" b="1" dirty="0"/>
              <a:t> : </a:t>
            </a:r>
            <a:endParaRPr lang="en-US" sz="2000" b="1" dirty="0"/>
          </a:p>
        </p:txBody>
      </p:sp>
      <p:sp>
        <p:nvSpPr>
          <p:cNvPr id="26" name="TextBox 25">
            <a:extLst>
              <a:ext uri="{FF2B5EF4-FFF2-40B4-BE49-F238E27FC236}">
                <a16:creationId xmlns:a16="http://schemas.microsoft.com/office/drawing/2014/main" id="{F1D3929B-DBAD-4345-A7CD-9178F6579884}"/>
              </a:ext>
            </a:extLst>
          </p:cNvPr>
          <p:cNvSpPr txBox="1"/>
          <p:nvPr/>
        </p:nvSpPr>
        <p:spPr>
          <a:xfrm>
            <a:off x="423741" y="2632778"/>
            <a:ext cx="4873666" cy="369332"/>
          </a:xfrm>
          <a:prstGeom prst="rect">
            <a:avLst/>
          </a:prstGeom>
          <a:noFill/>
        </p:spPr>
        <p:txBody>
          <a:bodyPr wrap="square" rtlCol="0">
            <a:spAutoFit/>
          </a:bodyPr>
          <a:lstStyle/>
          <a:p>
            <a:r>
              <a:rPr lang="en-US" dirty="0">
                <a:latin typeface="Arial" panose="020B0604020202020204" pitchFamily="34" charset="0"/>
              </a:rPr>
              <a:t>T</a:t>
            </a:r>
            <a:r>
              <a:rPr lang="en-US" dirty="0">
                <a:effectLst/>
                <a:latin typeface="Arial" panose="020B0604020202020204" pitchFamily="34" charset="0"/>
              </a:rPr>
              <a:t>he maximum number of beams per satellite:</a:t>
            </a:r>
            <a:endParaRPr lang="en-US"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AF2F0EA-0955-4C6E-B4C1-4F38DE9218F2}"/>
                  </a:ext>
                </a:extLst>
              </p:cNvPr>
              <p:cNvSpPr txBox="1"/>
              <p:nvPr/>
            </p:nvSpPr>
            <p:spPr>
              <a:xfrm>
                <a:off x="5198666" y="2620595"/>
                <a:ext cx="4371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LU" i="1" smtClean="0">
                              <a:latin typeface="Cambria Math" panose="02040503050406030204" pitchFamily="18" charset="0"/>
                            </a:rPr>
                          </m:ctrlPr>
                        </m:sSubPr>
                        <m:e>
                          <m:r>
                            <a:rPr lang="fr-LU" b="0" i="1" smtClean="0">
                              <a:latin typeface="Cambria Math" panose="02040503050406030204" pitchFamily="18" charset="0"/>
                            </a:rPr>
                            <m:t>𝑁</m:t>
                          </m:r>
                        </m:e>
                        <m:sub>
                          <m:r>
                            <a:rPr lang="fr-LU" b="0" i="1" smtClean="0">
                              <a:latin typeface="Cambria Math" panose="02040503050406030204" pitchFamily="18" charset="0"/>
                            </a:rPr>
                            <m:t>𝐵</m:t>
                          </m:r>
                        </m:sub>
                      </m:sSub>
                    </m:oMath>
                  </m:oMathPara>
                </a14:m>
                <a:endParaRPr lang="en-US" dirty="0"/>
              </a:p>
            </p:txBody>
          </p:sp>
        </mc:Choice>
        <mc:Fallback xmlns="">
          <p:sp>
            <p:nvSpPr>
              <p:cNvPr id="28" name="TextBox 27">
                <a:extLst>
                  <a:ext uri="{FF2B5EF4-FFF2-40B4-BE49-F238E27FC236}">
                    <a16:creationId xmlns:a16="http://schemas.microsoft.com/office/drawing/2014/main" id="{8AF2F0EA-0955-4C6E-B4C1-4F38DE9218F2}"/>
                  </a:ext>
                </a:extLst>
              </p:cNvPr>
              <p:cNvSpPr txBox="1">
                <a:spLocks noRot="1" noChangeAspect="1" noMove="1" noResize="1" noEditPoints="1" noAdjustHandles="1" noChangeArrowheads="1" noChangeShapeType="1" noTextEdit="1"/>
              </p:cNvSpPr>
              <p:nvPr/>
            </p:nvSpPr>
            <p:spPr>
              <a:xfrm>
                <a:off x="5198666" y="2620595"/>
                <a:ext cx="437197" cy="381515"/>
              </a:xfrm>
              <a:prstGeom prst="rect">
                <a:avLst/>
              </a:prstGeom>
              <a:blipFill>
                <a:blip r:embed="rId6"/>
                <a:stretch>
                  <a:fillRect/>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651AD2DC-40E4-497D-B07A-086DBD4C15EB}"/>
              </a:ext>
            </a:extLst>
          </p:cNvPr>
          <p:cNvSpPr txBox="1"/>
          <p:nvPr/>
        </p:nvSpPr>
        <p:spPr>
          <a:xfrm>
            <a:off x="423741" y="3078094"/>
            <a:ext cx="5672259" cy="369332"/>
          </a:xfrm>
          <a:prstGeom prst="rect">
            <a:avLst/>
          </a:prstGeom>
          <a:noFill/>
        </p:spPr>
        <p:txBody>
          <a:bodyPr wrap="square" rtlCol="0">
            <a:spAutoFit/>
          </a:bodyPr>
          <a:lstStyle/>
          <a:p>
            <a:r>
              <a:rPr lang="en-US" dirty="0">
                <a:latin typeface="Arial" panose="020B0604020202020204" pitchFamily="34" charset="0"/>
              </a:rPr>
              <a:t>T</a:t>
            </a:r>
            <a:r>
              <a:rPr lang="en-US" dirty="0">
                <a:effectLst/>
                <a:latin typeface="Arial" panose="020B0604020202020204" pitchFamily="34" charset="0"/>
              </a:rPr>
              <a:t>he traffic demand of the m-</a:t>
            </a:r>
            <a:r>
              <a:rPr lang="en-US" dirty="0" err="1">
                <a:effectLst/>
                <a:latin typeface="Arial" panose="020B0604020202020204" pitchFamily="34" charset="0"/>
              </a:rPr>
              <a:t>th</a:t>
            </a:r>
            <a:r>
              <a:rPr lang="en-US" dirty="0">
                <a:effectLst/>
                <a:latin typeface="Arial" panose="020B0604020202020204" pitchFamily="34" charset="0"/>
              </a:rPr>
              <a:t> user at time instance t :</a:t>
            </a:r>
            <a:endParaRPr lang="en-US"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B540E24-9569-4B30-9441-5DFA8100AB98}"/>
                  </a:ext>
                </a:extLst>
              </p:cNvPr>
              <p:cNvSpPr txBox="1"/>
              <p:nvPr/>
            </p:nvSpPr>
            <p:spPr>
              <a:xfrm>
                <a:off x="6012180" y="3059668"/>
                <a:ext cx="6824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LU" i="1" smtClean="0">
                              <a:latin typeface="Cambria Math" panose="02040503050406030204" pitchFamily="18" charset="0"/>
                            </a:rPr>
                          </m:ctrlPr>
                        </m:sSubPr>
                        <m:e>
                          <m:r>
                            <a:rPr lang="fr-LU" b="0" i="1" smtClean="0">
                              <a:latin typeface="Cambria Math" panose="02040503050406030204" pitchFamily="18" charset="0"/>
                            </a:rPr>
                            <m:t>𝐷</m:t>
                          </m:r>
                        </m:e>
                        <m:sub>
                          <m:r>
                            <a:rPr lang="fr-LU" b="0" i="1" smtClean="0">
                              <a:latin typeface="Cambria Math" panose="02040503050406030204" pitchFamily="18" charset="0"/>
                            </a:rPr>
                            <m:t>𝑚</m:t>
                          </m:r>
                        </m:sub>
                      </m:sSub>
                      <m:r>
                        <a:rPr lang="fr-LU" b="0" i="1" smtClean="0">
                          <a:latin typeface="Cambria Math" panose="02040503050406030204" pitchFamily="18" charset="0"/>
                        </a:rPr>
                        <m:t>(</m:t>
                      </m:r>
                      <m:r>
                        <a:rPr lang="fr-LU" b="0" i="1" smtClean="0">
                          <a:latin typeface="Cambria Math" panose="02040503050406030204" pitchFamily="18" charset="0"/>
                        </a:rPr>
                        <m:t>𝑡</m:t>
                      </m:r>
                      <m:r>
                        <a:rPr lang="fr-LU" b="0" i="1" smtClean="0">
                          <a:latin typeface="Cambria Math" panose="02040503050406030204" pitchFamily="18" charset="0"/>
                        </a:rPr>
                        <m:t>)</m:t>
                      </m:r>
                    </m:oMath>
                  </m:oMathPara>
                </a14:m>
                <a:endParaRPr lang="en-US" dirty="0"/>
              </a:p>
            </p:txBody>
          </p:sp>
        </mc:Choice>
        <mc:Fallback xmlns="">
          <p:sp>
            <p:nvSpPr>
              <p:cNvPr id="31" name="TextBox 30">
                <a:extLst>
                  <a:ext uri="{FF2B5EF4-FFF2-40B4-BE49-F238E27FC236}">
                    <a16:creationId xmlns:a16="http://schemas.microsoft.com/office/drawing/2014/main" id="{3B540E24-9569-4B30-9441-5DFA8100AB98}"/>
                  </a:ext>
                </a:extLst>
              </p:cNvPr>
              <p:cNvSpPr txBox="1">
                <a:spLocks noRot="1" noChangeAspect="1" noMove="1" noResize="1" noEditPoints="1" noAdjustHandles="1" noChangeArrowheads="1" noChangeShapeType="1" noTextEdit="1"/>
              </p:cNvSpPr>
              <p:nvPr/>
            </p:nvSpPr>
            <p:spPr>
              <a:xfrm>
                <a:off x="6012180" y="3059668"/>
                <a:ext cx="682404" cy="369332"/>
              </a:xfrm>
              <a:prstGeom prst="rect">
                <a:avLst/>
              </a:prstGeom>
              <a:blipFill>
                <a:blip r:embed="rId7"/>
                <a:stretch>
                  <a:fillRect r="-17857" b="-11475"/>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467066A8-2F61-4D8A-8BBF-576803CA8880}"/>
              </a:ext>
            </a:extLst>
          </p:cNvPr>
          <p:cNvSpPr txBox="1"/>
          <p:nvPr/>
        </p:nvSpPr>
        <p:spPr>
          <a:xfrm>
            <a:off x="307975" y="4110406"/>
            <a:ext cx="7030085" cy="369332"/>
          </a:xfrm>
          <a:prstGeom prst="rect">
            <a:avLst/>
          </a:prstGeom>
          <a:noFill/>
        </p:spPr>
        <p:txBody>
          <a:bodyPr wrap="square" rtlCol="0">
            <a:spAutoFit/>
          </a:bodyPr>
          <a:lstStyle/>
          <a:p>
            <a:r>
              <a:rPr lang="en-US" dirty="0">
                <a:latin typeface="Arial" panose="020B0604020202020204" pitchFamily="34" charset="0"/>
              </a:rPr>
              <a:t>P</a:t>
            </a:r>
            <a:r>
              <a:rPr lang="en-US" dirty="0">
                <a:effectLst/>
                <a:latin typeface="Arial" panose="020B0604020202020204" pitchFamily="34" charset="0"/>
              </a:rPr>
              <a:t>ath losses of the link between the n-</a:t>
            </a:r>
            <a:r>
              <a:rPr lang="en-US" dirty="0" err="1">
                <a:effectLst/>
                <a:latin typeface="Arial" panose="020B0604020202020204" pitchFamily="34" charset="0"/>
              </a:rPr>
              <a:t>th</a:t>
            </a:r>
            <a:r>
              <a:rPr lang="en-US" dirty="0">
                <a:effectLst/>
                <a:latin typeface="Arial" panose="020B0604020202020204" pitchFamily="34" charset="0"/>
              </a:rPr>
              <a:t> satellite and the m-</a:t>
            </a:r>
            <a:r>
              <a:rPr lang="en-US" dirty="0" err="1">
                <a:effectLst/>
                <a:latin typeface="Arial" panose="020B0604020202020204" pitchFamily="34" charset="0"/>
              </a:rPr>
              <a:t>th</a:t>
            </a:r>
            <a:r>
              <a:rPr lang="en-US" dirty="0">
                <a:effectLst/>
                <a:latin typeface="Arial" panose="020B0604020202020204" pitchFamily="34" charset="0"/>
              </a:rPr>
              <a:t> user </a:t>
            </a:r>
            <a:r>
              <a:rPr lang="en-US" dirty="0">
                <a:latin typeface="Arial" panose="020B0604020202020204" pitchFamily="34" charset="0"/>
              </a:rPr>
              <a:t>:</a:t>
            </a:r>
            <a:endParaRPr lang="en-US"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B2568E0-C18F-4801-8DE0-FE7AAC113B57}"/>
                  </a:ext>
                </a:extLst>
              </p:cNvPr>
              <p:cNvSpPr txBox="1"/>
              <p:nvPr/>
            </p:nvSpPr>
            <p:spPr>
              <a:xfrm>
                <a:off x="7376211" y="4180169"/>
                <a:ext cx="3197286" cy="299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fr-LU" b="0" i="1" smtClean="0">
                              <a:latin typeface="Cambria Math" panose="02040503050406030204" pitchFamily="18" charset="0"/>
                            </a:rPr>
                            <m:t>𝑃𝐿</m:t>
                          </m:r>
                        </m:e>
                        <m:sub>
                          <m:r>
                            <a:rPr lang="fr-LU" b="0" i="1" smtClean="0">
                              <a:latin typeface="Cambria Math" panose="02040503050406030204" pitchFamily="18" charset="0"/>
                            </a:rPr>
                            <m:t>𝑚</m:t>
                          </m:r>
                        </m:sub>
                        <m:sup>
                          <m:r>
                            <a:rPr lang="fr-LU" b="0" i="1" smtClean="0">
                              <a:latin typeface="Cambria Math" panose="02040503050406030204" pitchFamily="18" charset="0"/>
                            </a:rPr>
                            <m:t>𝑛</m:t>
                          </m:r>
                        </m:sup>
                      </m:sSubSup>
                      <m:r>
                        <a:rPr lang="en-US" i="1" smtClean="0">
                          <a:latin typeface="Cambria Math" panose="02040503050406030204" pitchFamily="18" charset="0"/>
                        </a:rPr>
                        <m:t>=</m:t>
                      </m:r>
                      <m:r>
                        <a:rPr lang="fr-LU" b="0" i="1" smtClean="0">
                          <a:latin typeface="Cambria Math" panose="02040503050406030204" pitchFamily="18" charset="0"/>
                        </a:rPr>
                        <m:t> </m:t>
                      </m:r>
                      <m:sSub>
                        <m:sSubPr>
                          <m:ctrlPr>
                            <a:rPr lang="fr-LU" b="0" i="1" smtClean="0">
                              <a:latin typeface="Cambria Math" panose="02040503050406030204" pitchFamily="18" charset="0"/>
                            </a:rPr>
                          </m:ctrlPr>
                        </m:sSubPr>
                        <m:e>
                          <m:r>
                            <a:rPr lang="fr-LU" b="0" i="1" smtClean="0">
                              <a:latin typeface="Cambria Math" panose="02040503050406030204" pitchFamily="18" charset="0"/>
                            </a:rPr>
                            <m:t>𝑃𝐿</m:t>
                          </m:r>
                        </m:e>
                        <m:sub>
                          <m:r>
                            <a:rPr lang="fr-LU" b="0" i="1" smtClean="0">
                              <a:latin typeface="Cambria Math" panose="02040503050406030204" pitchFamily="18" charset="0"/>
                            </a:rPr>
                            <m:t>𝑏</m:t>
                          </m:r>
                        </m:sub>
                      </m:sSub>
                      <m:d>
                        <m:dPr>
                          <m:ctrlPr>
                            <a:rPr lang="fr-LU" b="0" i="1" smtClean="0">
                              <a:latin typeface="Cambria Math" panose="02040503050406030204" pitchFamily="18" charset="0"/>
                            </a:rPr>
                          </m:ctrlPr>
                        </m:dPr>
                        <m:e>
                          <m:r>
                            <a:rPr lang="fr-LU" b="0" i="1" smtClean="0">
                              <a:latin typeface="Cambria Math" panose="02040503050406030204" pitchFamily="18" charset="0"/>
                            </a:rPr>
                            <m:t>𝑛</m:t>
                          </m:r>
                          <m:r>
                            <a:rPr lang="fr-LU" b="0" i="1" smtClean="0">
                              <a:latin typeface="Cambria Math" panose="02040503050406030204" pitchFamily="18" charset="0"/>
                            </a:rPr>
                            <m:t>,</m:t>
                          </m:r>
                          <m:r>
                            <a:rPr lang="fr-LU" b="0" i="1" smtClean="0">
                              <a:latin typeface="Cambria Math" panose="02040503050406030204" pitchFamily="18" charset="0"/>
                            </a:rPr>
                            <m:t>𝑚</m:t>
                          </m:r>
                        </m:e>
                      </m:d>
                      <m:r>
                        <a:rPr lang="fr-LU" b="0" i="1" smtClean="0">
                          <a:latin typeface="Cambria Math" panose="02040503050406030204" pitchFamily="18" charset="0"/>
                        </a:rPr>
                        <m:t>+</m:t>
                      </m:r>
                      <m:sSub>
                        <m:sSubPr>
                          <m:ctrlPr>
                            <a:rPr lang="fr-LU" i="1">
                              <a:latin typeface="Cambria Math" panose="02040503050406030204" pitchFamily="18" charset="0"/>
                            </a:rPr>
                          </m:ctrlPr>
                        </m:sSubPr>
                        <m:e>
                          <m:r>
                            <a:rPr lang="fr-LU" i="1">
                              <a:latin typeface="Cambria Math" panose="02040503050406030204" pitchFamily="18" charset="0"/>
                            </a:rPr>
                            <m:t>𝑃𝐿</m:t>
                          </m:r>
                        </m:e>
                        <m:sub>
                          <m:r>
                            <a:rPr lang="fr-LU" b="0" i="1" smtClean="0">
                              <a:latin typeface="Cambria Math" panose="02040503050406030204" pitchFamily="18" charset="0"/>
                            </a:rPr>
                            <m:t>𝑔</m:t>
                          </m:r>
                        </m:sub>
                      </m:sSub>
                      <m:r>
                        <a:rPr lang="fr-LU" b="0" i="0" smtClean="0">
                          <a:latin typeface="Cambria Math" panose="02040503050406030204" pitchFamily="18" charset="0"/>
                        </a:rPr>
                        <m:t>+</m:t>
                      </m:r>
                      <m:sSub>
                        <m:sSubPr>
                          <m:ctrlPr>
                            <a:rPr lang="fr-LU" i="1">
                              <a:latin typeface="Cambria Math" panose="02040503050406030204" pitchFamily="18" charset="0"/>
                            </a:rPr>
                          </m:ctrlPr>
                        </m:sSubPr>
                        <m:e>
                          <m:r>
                            <a:rPr lang="fr-LU" i="1">
                              <a:latin typeface="Cambria Math" panose="02040503050406030204" pitchFamily="18" charset="0"/>
                            </a:rPr>
                            <m:t>𝑃𝐿</m:t>
                          </m:r>
                        </m:e>
                        <m:sub>
                          <m:r>
                            <a:rPr lang="fr-LU" b="0" i="1" smtClean="0">
                              <a:latin typeface="Cambria Math" panose="02040503050406030204" pitchFamily="18" charset="0"/>
                            </a:rPr>
                            <m:t>𝑠</m:t>
                          </m:r>
                        </m:sub>
                      </m:sSub>
                    </m:oMath>
                  </m:oMathPara>
                </a14:m>
                <a:endParaRPr lang="en-US" dirty="0"/>
              </a:p>
            </p:txBody>
          </p:sp>
        </mc:Choice>
        <mc:Fallback xmlns="">
          <p:sp>
            <p:nvSpPr>
              <p:cNvPr id="38" name="TextBox 37">
                <a:extLst>
                  <a:ext uri="{FF2B5EF4-FFF2-40B4-BE49-F238E27FC236}">
                    <a16:creationId xmlns:a16="http://schemas.microsoft.com/office/drawing/2014/main" id="{EB2568E0-C18F-4801-8DE0-FE7AAC113B57}"/>
                  </a:ext>
                </a:extLst>
              </p:cNvPr>
              <p:cNvSpPr txBox="1">
                <a:spLocks noRot="1" noChangeAspect="1" noMove="1" noResize="1" noEditPoints="1" noAdjustHandles="1" noChangeArrowheads="1" noChangeShapeType="1" noTextEdit="1"/>
              </p:cNvSpPr>
              <p:nvPr/>
            </p:nvSpPr>
            <p:spPr>
              <a:xfrm>
                <a:off x="7376211" y="4180169"/>
                <a:ext cx="3197286" cy="299569"/>
              </a:xfrm>
              <a:prstGeom prst="rect">
                <a:avLst/>
              </a:prstGeom>
              <a:blipFill>
                <a:blip r:embed="rId8"/>
                <a:stretch>
                  <a:fillRect b="-22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93918DB-99DF-477D-9AFB-6315B1420ADF}"/>
                  </a:ext>
                </a:extLst>
              </p:cNvPr>
              <p:cNvSpPr txBox="1"/>
              <p:nvPr/>
            </p:nvSpPr>
            <p:spPr>
              <a:xfrm>
                <a:off x="7376211" y="4676560"/>
                <a:ext cx="3690626" cy="289182"/>
              </a:xfrm>
              <a:prstGeom prst="rect">
                <a:avLst/>
              </a:prstGeom>
              <a:noFill/>
            </p:spPr>
            <p:txBody>
              <a:bodyPr wrap="none" lIns="0" tIns="0" rIns="0" bIns="0" rtlCol="0">
                <a:spAutoFit/>
              </a:bodyPr>
              <a:lstStyle/>
              <a:p>
                <a14:m>
                  <m:oMath xmlns:m="http://schemas.openxmlformats.org/officeDocument/2006/math">
                    <m:sSub>
                      <m:sSubPr>
                        <m:ctrlPr>
                          <a:rPr lang="fr-LU" i="1" smtClean="0">
                            <a:latin typeface="Cambria Math" panose="02040503050406030204" pitchFamily="18" charset="0"/>
                          </a:rPr>
                        </m:ctrlPr>
                      </m:sSubPr>
                      <m:e>
                        <m:r>
                          <a:rPr lang="fr-LU" b="0" i="1" smtClean="0">
                            <a:latin typeface="Cambria Math" panose="02040503050406030204" pitchFamily="18" charset="0"/>
                          </a:rPr>
                          <m:t>𝑆𝑁𝑅</m:t>
                        </m:r>
                      </m:e>
                      <m:sub>
                        <m:r>
                          <a:rPr lang="fr-LU" b="0" i="1" smtClean="0">
                            <a:latin typeface="Cambria Math" panose="02040503050406030204" pitchFamily="18" charset="0"/>
                          </a:rPr>
                          <m:t>𝑛</m:t>
                        </m:r>
                        <m:r>
                          <a:rPr lang="fr-LU" b="0" i="1" smtClean="0">
                            <a:latin typeface="Cambria Math" panose="02040503050406030204" pitchFamily="18" charset="0"/>
                          </a:rPr>
                          <m:t>,</m:t>
                        </m:r>
                        <m:r>
                          <a:rPr lang="fr-LU" b="0" i="1" smtClean="0">
                            <a:latin typeface="Cambria Math" panose="02040503050406030204" pitchFamily="18" charset="0"/>
                          </a:rPr>
                          <m:t>𝑚</m:t>
                        </m:r>
                      </m:sub>
                    </m:sSub>
                    <m:r>
                      <a:rPr lang="fr-LU" i="1">
                        <a:latin typeface="Cambria Math" panose="02040503050406030204" pitchFamily="18" charset="0"/>
                      </a:rPr>
                      <m:t> </m:t>
                    </m:r>
                    <m:r>
                      <a:rPr lang="en-US" i="1" smtClean="0">
                        <a:latin typeface="Cambria Math" panose="02040503050406030204" pitchFamily="18" charset="0"/>
                      </a:rPr>
                      <m:t>=</m:t>
                    </m:r>
                    <m:sSub>
                      <m:sSubPr>
                        <m:ctrlPr>
                          <a:rPr lang="fr-LU" i="1">
                            <a:latin typeface="Cambria Math" panose="02040503050406030204" pitchFamily="18" charset="0"/>
                          </a:rPr>
                        </m:ctrlPr>
                      </m:sSubPr>
                      <m:e>
                        <m:r>
                          <a:rPr lang="fr-LU" i="1">
                            <a:latin typeface="Cambria Math" panose="02040503050406030204" pitchFamily="18" charset="0"/>
                          </a:rPr>
                          <m:t>𝐺</m:t>
                        </m:r>
                      </m:e>
                      <m:sub>
                        <m:r>
                          <a:rPr lang="fr-LU" b="0" i="1" smtClean="0">
                            <a:latin typeface="Cambria Math" panose="02040503050406030204" pitchFamily="18" charset="0"/>
                          </a:rPr>
                          <m:t>𝑡</m:t>
                        </m:r>
                      </m:sub>
                    </m:sSub>
                    <m:r>
                      <a:rPr lang="fr-LU" i="1">
                        <a:latin typeface="Cambria Math" panose="02040503050406030204" pitchFamily="18" charset="0"/>
                      </a:rPr>
                      <m:t>+</m:t>
                    </m:r>
                    <m:sSub>
                      <m:sSubPr>
                        <m:ctrlPr>
                          <a:rPr lang="fr-LU" b="0" i="1" smtClean="0">
                            <a:latin typeface="Cambria Math" panose="02040503050406030204" pitchFamily="18" charset="0"/>
                          </a:rPr>
                        </m:ctrlPr>
                      </m:sSubPr>
                      <m:e>
                        <m:r>
                          <a:rPr lang="fr-LU" b="0" i="1" smtClean="0">
                            <a:latin typeface="Cambria Math" panose="02040503050406030204" pitchFamily="18" charset="0"/>
                          </a:rPr>
                          <m:t>𝐺</m:t>
                        </m:r>
                      </m:e>
                      <m:sub>
                        <m:r>
                          <a:rPr lang="fr-LU" b="0" i="1" smtClean="0">
                            <a:latin typeface="Cambria Math" panose="02040503050406030204" pitchFamily="18" charset="0"/>
                          </a:rPr>
                          <m:t>𝑟</m:t>
                        </m:r>
                      </m:sub>
                    </m:sSub>
                    <m:r>
                      <a:rPr lang="fr-LU" b="0" i="1" smtClean="0">
                        <a:latin typeface="Cambria Math" panose="02040503050406030204" pitchFamily="18" charset="0"/>
                      </a:rPr>
                      <m:t>+</m:t>
                    </m:r>
                    <m:sSub>
                      <m:sSubPr>
                        <m:ctrlPr>
                          <a:rPr lang="fr-LU" i="1">
                            <a:latin typeface="Cambria Math" panose="02040503050406030204" pitchFamily="18" charset="0"/>
                          </a:rPr>
                        </m:ctrlPr>
                      </m:sSubPr>
                      <m:e>
                        <m:r>
                          <a:rPr lang="fr-LU" i="1">
                            <a:latin typeface="Cambria Math" panose="02040503050406030204" pitchFamily="18" charset="0"/>
                          </a:rPr>
                          <m:t>𝑃</m:t>
                        </m:r>
                      </m:e>
                      <m:sub>
                        <m:r>
                          <a:rPr lang="fr-LU" b="0" i="1" smtClean="0">
                            <a:latin typeface="Cambria Math" panose="02040503050406030204" pitchFamily="18" charset="0"/>
                          </a:rPr>
                          <m:t>𝑛</m:t>
                        </m:r>
                        <m:r>
                          <a:rPr lang="fr-LU" b="0" i="1" smtClean="0">
                            <a:latin typeface="Cambria Math" panose="02040503050406030204" pitchFamily="18" charset="0"/>
                          </a:rPr>
                          <m:t>,</m:t>
                        </m:r>
                        <m:r>
                          <a:rPr lang="fr-LU" b="0" i="1" smtClean="0">
                            <a:latin typeface="Cambria Math" panose="02040503050406030204" pitchFamily="18" charset="0"/>
                          </a:rPr>
                          <m:t>𝑚</m:t>
                        </m:r>
                      </m:sub>
                    </m:sSub>
                    <m:r>
                      <a:rPr lang="fr-LU" b="0" i="0"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fr-LU" i="1">
                            <a:latin typeface="Cambria Math" panose="02040503050406030204" pitchFamily="18" charset="0"/>
                          </a:rPr>
                          <m:t>𝑃𝐿</m:t>
                        </m:r>
                      </m:e>
                      <m:sub>
                        <m:r>
                          <a:rPr lang="fr-LU" i="1">
                            <a:latin typeface="Cambria Math" panose="02040503050406030204" pitchFamily="18" charset="0"/>
                          </a:rPr>
                          <m:t>𝑚</m:t>
                        </m:r>
                      </m:sub>
                      <m:sup>
                        <m:r>
                          <a:rPr lang="fr-LU" i="1">
                            <a:latin typeface="Cambria Math" panose="02040503050406030204" pitchFamily="18" charset="0"/>
                          </a:rPr>
                          <m:t>𝑛</m:t>
                        </m:r>
                      </m:sup>
                    </m:sSubSup>
                  </m:oMath>
                </a14:m>
                <a:r>
                  <a:rPr lang="fr-LU" dirty="0"/>
                  <a:t> </a:t>
                </a:r>
                <a14:m>
                  <m:oMath xmlns:m="http://schemas.openxmlformats.org/officeDocument/2006/math">
                    <m:r>
                      <a:rPr lang="fr-LU">
                        <a:latin typeface="Cambria Math" panose="02040503050406030204" pitchFamily="18" charset="0"/>
                      </a:rPr>
                      <m:t>−</m:t>
                    </m:r>
                    <m:sSub>
                      <m:sSubPr>
                        <m:ctrlPr>
                          <a:rPr lang="fr-LU" i="1">
                            <a:latin typeface="Cambria Math" panose="02040503050406030204" pitchFamily="18" charset="0"/>
                          </a:rPr>
                        </m:ctrlPr>
                      </m:sSubPr>
                      <m:e>
                        <m:r>
                          <a:rPr lang="fr-LU" i="1">
                            <a:latin typeface="Cambria Math" panose="02040503050406030204" pitchFamily="18" charset="0"/>
                          </a:rPr>
                          <m:t>𝑃</m:t>
                        </m:r>
                      </m:e>
                      <m:sub>
                        <m:r>
                          <a:rPr lang="fr-LU" i="1">
                            <a:latin typeface="Cambria Math" panose="02040503050406030204" pitchFamily="18" charset="0"/>
                          </a:rPr>
                          <m:t>𝑛</m:t>
                        </m:r>
                      </m:sub>
                    </m:sSub>
                  </m:oMath>
                </a14:m>
                <a:endParaRPr lang="en-US" dirty="0"/>
              </a:p>
            </p:txBody>
          </p:sp>
        </mc:Choice>
        <mc:Fallback xmlns="">
          <p:sp>
            <p:nvSpPr>
              <p:cNvPr id="39" name="TextBox 38">
                <a:extLst>
                  <a:ext uri="{FF2B5EF4-FFF2-40B4-BE49-F238E27FC236}">
                    <a16:creationId xmlns:a16="http://schemas.microsoft.com/office/drawing/2014/main" id="{F93918DB-99DF-477D-9AFB-6315B1420ADF}"/>
                  </a:ext>
                </a:extLst>
              </p:cNvPr>
              <p:cNvSpPr txBox="1">
                <a:spLocks noRot="1" noChangeAspect="1" noMove="1" noResize="1" noEditPoints="1" noAdjustHandles="1" noChangeArrowheads="1" noChangeShapeType="1" noTextEdit="1"/>
              </p:cNvSpPr>
              <p:nvPr/>
            </p:nvSpPr>
            <p:spPr>
              <a:xfrm>
                <a:off x="7376211" y="4676560"/>
                <a:ext cx="3690626" cy="289182"/>
              </a:xfrm>
              <a:prstGeom prst="rect">
                <a:avLst/>
              </a:prstGeom>
              <a:blipFill>
                <a:blip r:embed="rId9"/>
                <a:stretch>
                  <a:fillRect l="-2149" r="-331" b="-10417"/>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B86A77CE-A002-4C06-BE52-7094C6FC1165}"/>
              </a:ext>
            </a:extLst>
          </p:cNvPr>
          <p:cNvSpPr txBox="1"/>
          <p:nvPr/>
        </p:nvSpPr>
        <p:spPr>
          <a:xfrm>
            <a:off x="307975" y="4676560"/>
            <a:ext cx="6125649" cy="369332"/>
          </a:xfrm>
          <a:prstGeom prst="rect">
            <a:avLst/>
          </a:prstGeom>
          <a:noFill/>
        </p:spPr>
        <p:txBody>
          <a:bodyPr wrap="square" rtlCol="0">
            <a:spAutoFit/>
          </a:bodyPr>
          <a:lstStyle/>
          <a:p>
            <a:r>
              <a:rPr lang="en-US" dirty="0">
                <a:effectLst/>
                <a:latin typeface="Arial" panose="020B0604020202020204" pitchFamily="34" charset="0"/>
              </a:rPr>
              <a:t>SNR from the n-</a:t>
            </a:r>
            <a:r>
              <a:rPr lang="en-US" dirty="0" err="1">
                <a:effectLst/>
                <a:latin typeface="Arial" panose="020B0604020202020204" pitchFamily="34" charset="0"/>
              </a:rPr>
              <a:t>th</a:t>
            </a:r>
            <a:r>
              <a:rPr lang="en-US" dirty="0">
                <a:effectLst/>
                <a:latin typeface="Arial" panose="020B0604020202020204" pitchFamily="34" charset="0"/>
              </a:rPr>
              <a:t> satellite to the m-</a:t>
            </a:r>
            <a:r>
              <a:rPr lang="en-US" dirty="0" err="1">
                <a:effectLst/>
                <a:latin typeface="Arial" panose="020B0604020202020204" pitchFamily="34" charset="0"/>
              </a:rPr>
              <a:t>th</a:t>
            </a:r>
            <a:r>
              <a:rPr lang="en-US" dirty="0">
                <a:effectLst/>
                <a:latin typeface="Arial" panose="020B0604020202020204" pitchFamily="34" charset="0"/>
              </a:rPr>
              <a:t> user in dB :</a:t>
            </a:r>
            <a:endParaRPr lang="en-US" dirty="0"/>
          </a:p>
        </p:txBody>
      </p:sp>
      <p:cxnSp>
        <p:nvCxnSpPr>
          <p:cNvPr id="42" name="Straight Arrow Connector 41">
            <a:extLst>
              <a:ext uri="{FF2B5EF4-FFF2-40B4-BE49-F238E27FC236}">
                <a16:creationId xmlns:a16="http://schemas.microsoft.com/office/drawing/2014/main" id="{798CB03A-C1C2-4890-8962-74C2D19B8765}"/>
              </a:ext>
            </a:extLst>
          </p:cNvPr>
          <p:cNvCxnSpPr/>
          <p:nvPr/>
        </p:nvCxnSpPr>
        <p:spPr>
          <a:xfrm flipV="1">
            <a:off x="9201150" y="4965742"/>
            <a:ext cx="357873" cy="6692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0A9131E-DC17-4A98-B6A4-B8E52F4A38F0}"/>
              </a:ext>
            </a:extLst>
          </p:cNvPr>
          <p:cNvCxnSpPr/>
          <p:nvPr/>
        </p:nvCxnSpPr>
        <p:spPr>
          <a:xfrm flipV="1">
            <a:off x="10501610" y="4965742"/>
            <a:ext cx="357873" cy="6692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EEBF60D-D6E3-4ED3-943D-4836FEF58846}"/>
              </a:ext>
            </a:extLst>
          </p:cNvPr>
          <p:cNvSpPr txBox="1"/>
          <p:nvPr/>
        </p:nvSpPr>
        <p:spPr>
          <a:xfrm>
            <a:off x="8115300" y="5592642"/>
            <a:ext cx="3690626" cy="400110"/>
          </a:xfrm>
          <a:prstGeom prst="rect">
            <a:avLst/>
          </a:prstGeom>
          <a:noFill/>
        </p:spPr>
        <p:txBody>
          <a:bodyPr wrap="square" rtlCol="0">
            <a:spAutoFit/>
          </a:bodyPr>
          <a:lstStyle/>
          <a:p>
            <a:r>
              <a:rPr lang="fr-LU" sz="2000" dirty="0"/>
              <a:t>Transmit Power    Noise Power</a:t>
            </a:r>
            <a:endParaRPr lang="en-US" sz="2000" dirty="0"/>
          </a:p>
        </p:txBody>
      </p:sp>
      <p:cxnSp>
        <p:nvCxnSpPr>
          <p:cNvPr id="27" name="Straight Arrow Connector 26">
            <a:extLst>
              <a:ext uri="{FF2B5EF4-FFF2-40B4-BE49-F238E27FC236}">
                <a16:creationId xmlns:a16="http://schemas.microsoft.com/office/drawing/2014/main" id="{FE1C42BA-ABE3-4694-85BA-01EB6D1D54A8}"/>
              </a:ext>
            </a:extLst>
          </p:cNvPr>
          <p:cNvCxnSpPr>
            <a:cxnSpLocks/>
          </p:cNvCxnSpPr>
          <p:nvPr/>
        </p:nvCxnSpPr>
        <p:spPr>
          <a:xfrm flipH="1">
            <a:off x="9609826" y="3698483"/>
            <a:ext cx="94244" cy="4939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7AA9B2F-4FA5-4328-92DE-394756AFE01A}"/>
              </a:ext>
            </a:extLst>
          </p:cNvPr>
          <p:cNvSpPr txBox="1"/>
          <p:nvPr/>
        </p:nvSpPr>
        <p:spPr>
          <a:xfrm>
            <a:off x="8592397" y="3396832"/>
            <a:ext cx="3690626" cy="400110"/>
          </a:xfrm>
          <a:prstGeom prst="rect">
            <a:avLst/>
          </a:prstGeom>
          <a:noFill/>
        </p:spPr>
        <p:txBody>
          <a:bodyPr wrap="square" rtlCol="0">
            <a:spAutoFit/>
          </a:bodyPr>
          <a:lstStyle/>
          <a:p>
            <a:r>
              <a:rPr lang="fr-LU" sz="2000" dirty="0"/>
              <a:t>Gas </a:t>
            </a:r>
            <a:r>
              <a:rPr lang="en-US" sz="2000" dirty="0"/>
              <a:t>attenuation </a:t>
            </a:r>
            <a:r>
              <a:rPr lang="fr-LU" sz="2000" dirty="0"/>
              <a:t> </a:t>
            </a:r>
            <a:r>
              <a:rPr lang="en-US" sz="2000" dirty="0"/>
              <a:t>Scintillation Loss</a:t>
            </a:r>
          </a:p>
        </p:txBody>
      </p:sp>
      <p:cxnSp>
        <p:nvCxnSpPr>
          <p:cNvPr id="33" name="Straight Arrow Connector 32">
            <a:extLst>
              <a:ext uri="{FF2B5EF4-FFF2-40B4-BE49-F238E27FC236}">
                <a16:creationId xmlns:a16="http://schemas.microsoft.com/office/drawing/2014/main" id="{4E2754B9-5197-465B-9919-5226DF6C111C}"/>
              </a:ext>
            </a:extLst>
          </p:cNvPr>
          <p:cNvCxnSpPr>
            <a:cxnSpLocks/>
          </p:cNvCxnSpPr>
          <p:nvPr/>
        </p:nvCxnSpPr>
        <p:spPr>
          <a:xfrm flipH="1">
            <a:off x="10425461" y="3698483"/>
            <a:ext cx="520963" cy="5844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4856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oat, sitting, water, large&#10;&#10;Description automatically generated">
            <a:extLst>
              <a:ext uri="{FF2B5EF4-FFF2-40B4-BE49-F238E27FC236}">
                <a16:creationId xmlns:a16="http://schemas.microsoft.com/office/drawing/2014/main" id="{77210977-2254-E140-8B3E-A45F6F31BCC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497" y="0"/>
            <a:ext cx="12278497" cy="6858000"/>
          </a:xfrm>
          <a:prstGeom prst="rect">
            <a:avLst/>
          </a:prstGeom>
        </p:spPr>
      </p:pic>
      <p:sp>
        <p:nvSpPr>
          <p:cNvPr id="6" name="TextBox 5">
            <a:extLst>
              <a:ext uri="{FF2B5EF4-FFF2-40B4-BE49-F238E27FC236}">
                <a16:creationId xmlns:a16="http://schemas.microsoft.com/office/drawing/2014/main" id="{9DE8A534-5C35-410C-9D80-776EDE35A6B5}"/>
              </a:ext>
            </a:extLst>
          </p:cNvPr>
          <p:cNvSpPr txBox="1"/>
          <p:nvPr/>
        </p:nvSpPr>
        <p:spPr>
          <a:xfrm>
            <a:off x="636871" y="1256467"/>
            <a:ext cx="7934730" cy="4093428"/>
          </a:xfrm>
          <a:prstGeom prst="rect">
            <a:avLst/>
          </a:prstGeom>
          <a:noFill/>
        </p:spPr>
        <p:txBody>
          <a:bodyPr wrap="square" rtlCol="0">
            <a:spAutoFit/>
          </a:bodyPr>
          <a:lstStyle>
            <a:defPPr>
              <a:defRPr lang="en-US"/>
            </a:defPPr>
            <a:lvl1pPr marL="342900" indent="-342900">
              <a:buFont typeface="+mj-lt"/>
              <a:buAutoNum type="arabicPeriod"/>
              <a:defRPr sz="2000" b="1">
                <a:solidFill>
                  <a:schemeClr val="bg1"/>
                </a:solidFill>
                <a:latin typeface="Graphik Semibold" panose="020B0703030202060203" pitchFamily="34" charset="0"/>
              </a:defRPr>
            </a:lvl1pPr>
          </a:lstStyle>
          <a:p>
            <a:r>
              <a:rPr lang="fr-CH" dirty="0">
                <a:solidFill>
                  <a:schemeClr val="tx1"/>
                </a:solidFill>
              </a:rPr>
              <a:t>Introduction</a:t>
            </a:r>
            <a:endParaRPr lang="en-US" dirty="0">
              <a:solidFill>
                <a:schemeClr val="tx1"/>
              </a:solidFill>
            </a:endParaRPr>
          </a:p>
          <a:p>
            <a:endParaRPr lang="fr-CH" dirty="0"/>
          </a:p>
          <a:p>
            <a:r>
              <a:rPr lang="en-US" dirty="0">
                <a:solidFill>
                  <a:schemeClr val="tx1"/>
                </a:solidFill>
              </a:rPr>
              <a:t>Problem statement, System and Channel Model</a:t>
            </a:r>
          </a:p>
          <a:p>
            <a:pPr marL="342900" lvl="1" indent="-342900">
              <a:buFont typeface="+mj-lt"/>
              <a:buAutoNum type="arabicPeriod"/>
            </a:pPr>
            <a:endParaRPr lang="en-US" sz="2000" b="1" dirty="0">
              <a:latin typeface="Graphik Semibold" panose="020B0703030202060203" pitchFamily="34" charset="0"/>
            </a:endParaRPr>
          </a:p>
          <a:p>
            <a:r>
              <a:rPr lang="en-US" dirty="0"/>
              <a:t>Optimization Problem Formulation and Relaxation </a:t>
            </a:r>
          </a:p>
          <a:p>
            <a:endParaRPr lang="en-US" dirty="0">
              <a:solidFill>
                <a:schemeClr val="tx1"/>
              </a:solidFill>
            </a:endParaRPr>
          </a:p>
          <a:p>
            <a:r>
              <a:rPr lang="en-US" dirty="0">
                <a:solidFill>
                  <a:schemeClr val="tx1"/>
                </a:solidFill>
              </a:rPr>
              <a:t>Numerical results</a:t>
            </a:r>
          </a:p>
          <a:p>
            <a:endParaRPr lang="en-US" sz="2000" b="1" dirty="0">
              <a:solidFill>
                <a:schemeClr val="tx1"/>
              </a:solidFill>
              <a:latin typeface="Graphik Semibold" panose="020B0703030202060203" pitchFamily="34" charset="0"/>
            </a:endParaRPr>
          </a:p>
          <a:p>
            <a:r>
              <a:rPr lang="en-US" sz="2000" b="1" dirty="0">
                <a:solidFill>
                  <a:schemeClr val="tx1"/>
                </a:solidFill>
                <a:latin typeface="Graphik Semibold" panose="020B0703030202060203" pitchFamily="34" charset="0"/>
              </a:rPr>
              <a:t>Conclusion</a:t>
            </a:r>
            <a:endParaRPr lang="en-US" dirty="0">
              <a:solidFill>
                <a:schemeClr val="tx1"/>
              </a:solidFill>
            </a:endParaRPr>
          </a:p>
          <a:p>
            <a:endParaRPr lang="en-US" sz="2000" b="1" dirty="0">
              <a:solidFill>
                <a:schemeClr val="tx1"/>
              </a:solidFill>
              <a:latin typeface="Graphik Semibold" panose="020B0703030202060203" pitchFamily="34" charset="0"/>
            </a:endParaRPr>
          </a:p>
          <a:p>
            <a:r>
              <a:rPr lang="en-US" sz="2000" b="1" dirty="0">
                <a:solidFill>
                  <a:schemeClr val="tx1"/>
                </a:solidFill>
                <a:latin typeface="Graphik Semibold" panose="020B0703030202060203" pitchFamily="34" charset="0"/>
              </a:rPr>
              <a:t>Future Work</a:t>
            </a:r>
            <a:br>
              <a:rPr lang="en-US" sz="2000" b="1" dirty="0">
                <a:solidFill>
                  <a:schemeClr val="bg1"/>
                </a:solidFill>
                <a:latin typeface="Graphik Semibold" panose="020B0703030202060203" pitchFamily="34" charset="0"/>
              </a:rPr>
            </a:br>
            <a:endParaRPr lang="en-US" sz="2000" b="1" dirty="0">
              <a:solidFill>
                <a:schemeClr val="bg1"/>
              </a:solidFill>
              <a:latin typeface="Graphik Semibold" panose="020B0703030202060203" pitchFamily="34" charset="0"/>
            </a:endParaRPr>
          </a:p>
          <a:p>
            <a:endParaRPr lang="en-US" dirty="0">
              <a:latin typeface="+mn-lt"/>
            </a:endParaRPr>
          </a:p>
        </p:txBody>
      </p:sp>
      <p:pic>
        <p:nvPicPr>
          <p:cNvPr id="7" name="Graphic 6">
            <a:extLst>
              <a:ext uri="{FF2B5EF4-FFF2-40B4-BE49-F238E27FC236}">
                <a16:creationId xmlns:a16="http://schemas.microsoft.com/office/drawing/2014/main" id="{7457E091-E20F-574F-B21F-DF6DB7DE3A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89382" y="1462210"/>
            <a:ext cx="1256457" cy="987835"/>
          </a:xfrm>
          <a:prstGeom prst="rect">
            <a:avLst/>
          </a:prstGeom>
        </p:spPr>
      </p:pic>
      <p:grpSp>
        <p:nvGrpSpPr>
          <p:cNvPr id="9" name="Group 8">
            <a:extLst>
              <a:ext uri="{FF2B5EF4-FFF2-40B4-BE49-F238E27FC236}">
                <a16:creationId xmlns:a16="http://schemas.microsoft.com/office/drawing/2014/main" id="{410FC9B3-6D23-C044-BC70-F4CBCCD74147}"/>
              </a:ext>
            </a:extLst>
          </p:cNvPr>
          <p:cNvGrpSpPr/>
          <p:nvPr/>
        </p:nvGrpSpPr>
        <p:grpSpPr>
          <a:xfrm>
            <a:off x="-104859" y="66314"/>
            <a:ext cx="12216715" cy="1418626"/>
            <a:chOff x="-24715" y="5825730"/>
            <a:chExt cx="12216715" cy="1418626"/>
          </a:xfrm>
        </p:grpSpPr>
        <p:pic>
          <p:nvPicPr>
            <p:cNvPr id="11" name="Image 5" descr="Bande_Logo_UNI_PP_right_long.eps">
              <a:extLst>
                <a:ext uri="{FF2B5EF4-FFF2-40B4-BE49-F238E27FC236}">
                  <a16:creationId xmlns:a16="http://schemas.microsoft.com/office/drawing/2014/main" id="{EEB7CB92-331A-0B45-8A12-E75D37DCF015}"/>
                </a:ext>
              </a:extLst>
            </p:cNvPr>
            <p:cNvPicPr/>
            <p:nvPr/>
          </p:nvPicPr>
          <p:blipFill rotWithShape="1">
            <a:blip r:embed="rId5"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a:solidFill>
                    <a:srgbClr val="FFFFFF"/>
                  </a:solid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20806795-C84B-1141-8495-A9590BF17FE3}"/>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3" name="Picture 12">
              <a:extLst>
                <a:ext uri="{FF2B5EF4-FFF2-40B4-BE49-F238E27FC236}">
                  <a16:creationId xmlns:a16="http://schemas.microsoft.com/office/drawing/2014/main" id="{4DE845FA-2485-814D-BF58-7584A9D13EB6}"/>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sp>
        <p:nvSpPr>
          <p:cNvPr id="14" name="Text Placeholder 2"/>
          <p:cNvSpPr>
            <a:spLocks noGrp="1"/>
          </p:cNvSpPr>
          <p:nvPr>
            <p:ph type="body" sz="quarter" idx="11"/>
          </p:nvPr>
        </p:nvSpPr>
        <p:spPr>
          <a:xfrm>
            <a:off x="636871" y="570956"/>
            <a:ext cx="11362565" cy="476250"/>
          </a:xfrm>
        </p:spPr>
        <p:txBody>
          <a:bodyPr>
            <a:normAutofit/>
          </a:bodyPr>
          <a:lstStyle/>
          <a:p>
            <a:r>
              <a:rPr lang="en-US" dirty="0">
                <a:solidFill>
                  <a:schemeClr val="bg1"/>
                </a:solidFill>
              </a:rPr>
              <a:t>Outline</a:t>
            </a:r>
            <a:endParaRPr lang="en-US" b="0" dirty="0">
              <a:solidFill>
                <a:schemeClr val="bg1"/>
              </a:solidFill>
            </a:endParaRPr>
          </a:p>
        </p:txBody>
      </p:sp>
    </p:spTree>
    <p:extLst>
      <p:ext uri="{BB962C8B-B14F-4D97-AF65-F5344CB8AC3E}">
        <p14:creationId xmlns:p14="http://schemas.microsoft.com/office/powerpoint/2010/main" val="3014655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fr-CH" dirty="0" err="1"/>
              <a:t>Optimization</a:t>
            </a:r>
            <a:r>
              <a:rPr lang="fr-CH" dirty="0"/>
              <a:t> </a:t>
            </a:r>
            <a:r>
              <a:rPr lang="fr-CH" dirty="0" err="1"/>
              <a:t>problem</a:t>
            </a:r>
            <a:r>
              <a:rPr lang="fr-CH" dirty="0"/>
              <a:t> formulation and Relaxation</a:t>
            </a:r>
            <a:endParaRPr lang="en-US" dirty="0"/>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p:cNvPicPr>
            <a:picLocks noChangeAspect="1"/>
          </p:cNvPicPr>
          <p:nvPr/>
        </p:nvPicPr>
        <p:blipFill>
          <a:blip r:embed="rId3"/>
          <a:stretch>
            <a:fillRect/>
          </a:stretch>
        </p:blipFill>
        <p:spPr>
          <a:xfrm>
            <a:off x="11255445" y="5674764"/>
            <a:ext cx="677827" cy="525316"/>
          </a:xfrm>
          <a:prstGeom prst="rect">
            <a:avLst/>
          </a:prstGeom>
        </p:spPr>
      </p:pic>
      <p:pic>
        <p:nvPicPr>
          <p:cNvPr id="13" name="Picture 12">
            <a:extLst>
              <a:ext uri="{FF2B5EF4-FFF2-40B4-BE49-F238E27FC236}">
                <a16:creationId xmlns:a16="http://schemas.microsoft.com/office/drawing/2014/main" id="{C0095AAB-9CD8-43DB-ABFE-18FDEFC1370E}"/>
              </a:ext>
            </a:extLst>
          </p:cNvPr>
          <p:cNvPicPr>
            <a:picLocks noChangeAspect="1"/>
          </p:cNvPicPr>
          <p:nvPr/>
        </p:nvPicPr>
        <p:blipFill>
          <a:blip r:embed="rId4"/>
          <a:stretch>
            <a:fillRect/>
          </a:stretch>
        </p:blipFill>
        <p:spPr>
          <a:xfrm>
            <a:off x="307975" y="722947"/>
            <a:ext cx="5109290" cy="4523423"/>
          </a:xfrm>
          <a:prstGeom prst="rect">
            <a:avLst/>
          </a:prstGeom>
        </p:spPr>
      </p:pic>
      <p:cxnSp>
        <p:nvCxnSpPr>
          <p:cNvPr id="16" name="Straight Connector 15">
            <a:extLst>
              <a:ext uri="{FF2B5EF4-FFF2-40B4-BE49-F238E27FC236}">
                <a16:creationId xmlns:a16="http://schemas.microsoft.com/office/drawing/2014/main" id="{19849BA6-005E-4891-80B1-BF5D641A2B14}"/>
              </a:ext>
            </a:extLst>
          </p:cNvPr>
          <p:cNvCxnSpPr/>
          <p:nvPr/>
        </p:nvCxnSpPr>
        <p:spPr>
          <a:xfrm>
            <a:off x="8195310" y="160338"/>
            <a:ext cx="0" cy="641191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101D5CA-600A-4A4E-86C9-425EB037B7B9}"/>
              </a:ext>
            </a:extLst>
          </p:cNvPr>
          <p:cNvSpPr txBox="1"/>
          <p:nvPr/>
        </p:nvSpPr>
        <p:spPr>
          <a:xfrm>
            <a:off x="8938845" y="1039052"/>
            <a:ext cx="3154447" cy="338554"/>
          </a:xfrm>
          <a:prstGeom prst="rect">
            <a:avLst/>
          </a:prstGeom>
          <a:noFill/>
        </p:spPr>
        <p:txBody>
          <a:bodyPr wrap="square" rtlCol="0">
            <a:spAutoFit/>
          </a:bodyPr>
          <a:lstStyle/>
          <a:p>
            <a:r>
              <a:rPr lang="en-US" sz="1600" dirty="0">
                <a:latin typeface="Arial" panose="020B0604020202020204" pitchFamily="34" charset="0"/>
              </a:rPr>
              <a:t>F</a:t>
            </a:r>
            <a:r>
              <a:rPr lang="en-US" sz="1600" dirty="0">
                <a:effectLst/>
                <a:latin typeface="Arial" panose="020B0604020202020204" pitchFamily="34" charset="0"/>
              </a:rPr>
              <a:t>ixed circuit power consumption</a:t>
            </a:r>
            <a:endParaRPr lang="en-US" sz="160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18997BC-2EEA-4CE4-A42B-56FF50A03026}"/>
                  </a:ext>
                </a:extLst>
              </p:cNvPr>
              <p:cNvSpPr txBox="1"/>
              <p:nvPr/>
            </p:nvSpPr>
            <p:spPr>
              <a:xfrm>
                <a:off x="8346554" y="1033666"/>
                <a:ext cx="480061" cy="369332"/>
              </a:xfrm>
              <a:prstGeom prst="rect">
                <a:avLst/>
              </a:prstGeom>
              <a:noFill/>
            </p:spPr>
            <p:txBody>
              <a:bodyPr wrap="square">
                <a:spAutoFit/>
              </a:bodyPr>
              <a:lstStyle/>
              <a:p>
                <a14:m>
                  <m:oMath xmlns:m="http://schemas.openxmlformats.org/officeDocument/2006/math">
                    <m:sSub>
                      <m:sSubPr>
                        <m:ctrlPr>
                          <a:rPr lang="fr-LU" i="1" smtClean="0">
                            <a:latin typeface="Cambria Math" panose="02040503050406030204" pitchFamily="18" charset="0"/>
                          </a:rPr>
                        </m:ctrlPr>
                      </m:sSubPr>
                      <m:e>
                        <m:r>
                          <a:rPr lang="fr-LU" b="0" i="1" smtClean="0">
                            <a:latin typeface="Cambria Math" panose="02040503050406030204" pitchFamily="18" charset="0"/>
                          </a:rPr>
                          <m:t>𝑃</m:t>
                        </m:r>
                      </m:e>
                      <m:sub>
                        <m:r>
                          <a:rPr lang="fr-LU" b="0" i="1" smtClean="0">
                            <a:latin typeface="Cambria Math" panose="02040503050406030204" pitchFamily="18" charset="0"/>
                          </a:rPr>
                          <m:t>𝑐</m:t>
                        </m:r>
                      </m:sub>
                    </m:sSub>
                  </m:oMath>
                </a14:m>
                <a:r>
                  <a:rPr lang="en-US" dirty="0"/>
                  <a:t>:</a:t>
                </a:r>
              </a:p>
            </p:txBody>
          </p:sp>
        </mc:Choice>
        <mc:Fallback xmlns="">
          <p:sp>
            <p:nvSpPr>
              <p:cNvPr id="19" name="TextBox 18">
                <a:extLst>
                  <a:ext uri="{FF2B5EF4-FFF2-40B4-BE49-F238E27FC236}">
                    <a16:creationId xmlns:a16="http://schemas.microsoft.com/office/drawing/2014/main" id="{818997BC-2EEA-4CE4-A42B-56FF50A03026}"/>
                  </a:ext>
                </a:extLst>
              </p:cNvPr>
              <p:cNvSpPr txBox="1">
                <a:spLocks noRot="1" noChangeAspect="1" noMove="1" noResize="1" noEditPoints="1" noAdjustHandles="1" noChangeArrowheads="1" noChangeShapeType="1" noTextEdit="1"/>
              </p:cNvSpPr>
              <p:nvPr/>
            </p:nvSpPr>
            <p:spPr>
              <a:xfrm>
                <a:off x="8346554" y="1033666"/>
                <a:ext cx="480061" cy="369332"/>
              </a:xfrm>
              <a:prstGeom prst="rect">
                <a:avLst/>
              </a:prstGeom>
              <a:blipFill>
                <a:blip r:embed="rId5"/>
                <a:stretch>
                  <a:fillRect t="-10000" r="-2532" b="-26667"/>
                </a:stretch>
              </a:blipFill>
            </p:spPr>
            <p:txBody>
              <a:bodyPr/>
              <a:lstStyle/>
              <a:p>
                <a:r>
                  <a:rPr lang="en-US">
                    <a:noFill/>
                  </a:rPr>
                  <a:t> </a:t>
                </a:r>
              </a:p>
            </p:txBody>
          </p:sp>
        </mc:Fallback>
      </mc:AlternateContent>
      <p:pic>
        <p:nvPicPr>
          <p:cNvPr id="21" name="Picture 20">
            <a:extLst>
              <a:ext uri="{FF2B5EF4-FFF2-40B4-BE49-F238E27FC236}">
                <a16:creationId xmlns:a16="http://schemas.microsoft.com/office/drawing/2014/main" id="{D8094297-30A7-4789-A033-9EE07C28A96B}"/>
              </a:ext>
            </a:extLst>
          </p:cNvPr>
          <p:cNvPicPr>
            <a:picLocks noChangeAspect="1"/>
          </p:cNvPicPr>
          <p:nvPr/>
        </p:nvPicPr>
        <p:blipFill>
          <a:blip r:embed="rId6"/>
          <a:stretch>
            <a:fillRect/>
          </a:stretch>
        </p:blipFill>
        <p:spPr>
          <a:xfrm>
            <a:off x="8346554" y="2469156"/>
            <a:ext cx="2804159" cy="660083"/>
          </a:xfrm>
          <a:prstGeom prst="rect">
            <a:avLst/>
          </a:prstGeom>
        </p:spPr>
      </p:pic>
      <p:pic>
        <p:nvPicPr>
          <p:cNvPr id="23" name="Picture 22">
            <a:extLst>
              <a:ext uri="{FF2B5EF4-FFF2-40B4-BE49-F238E27FC236}">
                <a16:creationId xmlns:a16="http://schemas.microsoft.com/office/drawing/2014/main" id="{812319E7-78FA-496D-AB9E-035C6B50C4C2}"/>
              </a:ext>
            </a:extLst>
          </p:cNvPr>
          <p:cNvPicPr>
            <a:picLocks noChangeAspect="1"/>
          </p:cNvPicPr>
          <p:nvPr/>
        </p:nvPicPr>
        <p:blipFill>
          <a:blip r:embed="rId7"/>
          <a:stretch>
            <a:fillRect/>
          </a:stretch>
        </p:blipFill>
        <p:spPr>
          <a:xfrm>
            <a:off x="8358494" y="1684153"/>
            <a:ext cx="3171212" cy="660083"/>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E95B1F7-9F83-46EB-AFBF-FB25DAAB3EFD}"/>
                  </a:ext>
                </a:extLst>
              </p:cNvPr>
              <p:cNvSpPr txBox="1"/>
              <p:nvPr/>
            </p:nvSpPr>
            <p:spPr>
              <a:xfrm>
                <a:off x="8346554" y="3433254"/>
                <a:ext cx="758669"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𝛾</m:t>
                          </m:r>
                        </m:e>
                        <m:sub>
                          <m:r>
                            <a:rPr lang="fr-LU" b="0" i="1" smtClean="0">
                              <a:latin typeface="Cambria Math" panose="02040503050406030204" pitchFamily="18" charset="0"/>
                            </a:rPr>
                            <m:t>𝑛</m:t>
                          </m:r>
                          <m:r>
                            <a:rPr lang="fr-LU" b="0" i="1" smtClean="0">
                              <a:latin typeface="Cambria Math" panose="02040503050406030204" pitchFamily="18" charset="0"/>
                            </a:rPr>
                            <m:t>,</m:t>
                          </m:r>
                          <m:r>
                            <a:rPr lang="fr-LU" b="0" i="1" smtClean="0">
                              <a:latin typeface="Cambria Math" panose="02040503050406030204" pitchFamily="18" charset="0"/>
                            </a:rPr>
                            <m:t>𝑚</m:t>
                          </m:r>
                        </m:sub>
                      </m:sSub>
                      <m:r>
                        <a:rPr lang="fr-LU" b="0" i="1" smtClean="0">
                          <a:latin typeface="Cambria Math" panose="02040503050406030204" pitchFamily="18" charset="0"/>
                        </a:rPr>
                        <m:t>(</m:t>
                      </m:r>
                      <m:r>
                        <a:rPr lang="fr-LU" b="0" i="1" smtClean="0">
                          <a:latin typeface="Cambria Math" panose="02040503050406030204" pitchFamily="18" charset="0"/>
                        </a:rPr>
                        <m:t>𝑡</m:t>
                      </m:r>
                      <m:r>
                        <a:rPr lang="fr-LU" b="0" i="1" smtClean="0">
                          <a:latin typeface="Cambria Math" panose="02040503050406030204" pitchFamily="18" charset="0"/>
                        </a:rPr>
                        <m:t>)</m:t>
                      </m:r>
                    </m:oMath>
                  </m:oMathPara>
                </a14:m>
                <a:endParaRPr lang="en-US" dirty="0"/>
              </a:p>
            </p:txBody>
          </p:sp>
        </mc:Choice>
        <mc:Fallback xmlns="">
          <p:sp>
            <p:nvSpPr>
              <p:cNvPr id="26" name="TextBox 25">
                <a:extLst>
                  <a:ext uri="{FF2B5EF4-FFF2-40B4-BE49-F238E27FC236}">
                    <a16:creationId xmlns:a16="http://schemas.microsoft.com/office/drawing/2014/main" id="{EE95B1F7-9F83-46EB-AFBF-FB25DAAB3EFD}"/>
                  </a:ext>
                </a:extLst>
              </p:cNvPr>
              <p:cNvSpPr txBox="1">
                <a:spLocks noRot="1" noChangeAspect="1" noMove="1" noResize="1" noEditPoints="1" noAdjustHandles="1" noChangeArrowheads="1" noChangeShapeType="1" noTextEdit="1"/>
              </p:cNvSpPr>
              <p:nvPr/>
            </p:nvSpPr>
            <p:spPr>
              <a:xfrm>
                <a:off x="8346554" y="3433254"/>
                <a:ext cx="758669" cy="289182"/>
              </a:xfrm>
              <a:prstGeom prst="rect">
                <a:avLst/>
              </a:prstGeom>
              <a:blipFill>
                <a:blip r:embed="rId8"/>
                <a:stretch>
                  <a:fillRect l="-6400" r="-10400" b="-29167"/>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AD1A2F7C-8FFE-42EC-867E-BF8E280D2B92}"/>
              </a:ext>
            </a:extLst>
          </p:cNvPr>
          <p:cNvSpPr txBox="1"/>
          <p:nvPr/>
        </p:nvSpPr>
        <p:spPr>
          <a:xfrm>
            <a:off x="9105223" y="3372097"/>
            <a:ext cx="2715030" cy="646331"/>
          </a:xfrm>
          <a:prstGeom prst="rect">
            <a:avLst/>
          </a:prstGeom>
          <a:noFill/>
        </p:spPr>
        <p:txBody>
          <a:bodyPr wrap="square" rtlCol="0">
            <a:spAutoFit/>
          </a:bodyPr>
          <a:lstStyle/>
          <a:p>
            <a:r>
              <a:rPr lang="fr-LU" dirty="0"/>
              <a:t>: SNR </a:t>
            </a:r>
            <a:r>
              <a:rPr lang="fr-LU" dirty="0" err="1"/>
              <a:t>from</a:t>
            </a:r>
            <a:r>
              <a:rPr lang="fr-LU" dirty="0"/>
              <a:t> n-th satellite to                                                         </a:t>
            </a:r>
          </a:p>
          <a:p>
            <a:r>
              <a:rPr lang="fr-LU" dirty="0"/>
              <a:t>   </a:t>
            </a:r>
            <a:r>
              <a:rPr lang="fr-LU" dirty="0" err="1"/>
              <a:t>m-th</a:t>
            </a:r>
            <a:r>
              <a:rPr lang="fr-LU" dirty="0"/>
              <a:t> user in </a:t>
            </a:r>
            <a:r>
              <a:rPr lang="fr-LU" dirty="0" err="1"/>
              <a:t>linear</a:t>
            </a:r>
            <a:r>
              <a:rPr lang="fr-LU" dirty="0"/>
              <a:t> </a:t>
            </a:r>
            <a:r>
              <a:rPr lang="fr-LU" dirty="0" err="1"/>
              <a:t>scale</a:t>
            </a:r>
            <a:r>
              <a:rPr lang="fr-LU" dirty="0"/>
              <a:t> </a:t>
            </a:r>
            <a:endParaRPr lang="en-US" dirty="0"/>
          </a:p>
        </p:txBody>
      </p:sp>
      <p:sp>
        <p:nvSpPr>
          <p:cNvPr id="28" name="TextBox 27">
            <a:extLst>
              <a:ext uri="{FF2B5EF4-FFF2-40B4-BE49-F238E27FC236}">
                <a16:creationId xmlns:a16="http://schemas.microsoft.com/office/drawing/2014/main" id="{C480C4B9-4210-4313-A1A1-8C4A48404132}"/>
              </a:ext>
            </a:extLst>
          </p:cNvPr>
          <p:cNvSpPr txBox="1"/>
          <p:nvPr/>
        </p:nvSpPr>
        <p:spPr>
          <a:xfrm>
            <a:off x="8358962" y="4244902"/>
            <a:ext cx="4314211" cy="369332"/>
          </a:xfrm>
          <a:prstGeom prst="rect">
            <a:avLst/>
          </a:prstGeom>
          <a:noFill/>
        </p:spPr>
        <p:txBody>
          <a:bodyPr wrap="square" rtlCol="0">
            <a:spAutoFit/>
          </a:bodyPr>
          <a:lstStyle/>
          <a:p>
            <a:r>
              <a:rPr lang="fr-LU" dirty="0"/>
              <a:t>W : </a:t>
            </a:r>
            <a:r>
              <a:rPr lang="fr-LU" dirty="0" err="1"/>
              <a:t>Bandwidth</a:t>
            </a:r>
            <a:endParaRPr lang="en-US" dirty="0"/>
          </a:p>
        </p:txBody>
      </p:sp>
      <p:sp>
        <p:nvSpPr>
          <p:cNvPr id="3" name="TextBox 2">
            <a:extLst>
              <a:ext uri="{FF2B5EF4-FFF2-40B4-BE49-F238E27FC236}">
                <a16:creationId xmlns:a16="http://schemas.microsoft.com/office/drawing/2014/main" id="{F0A407EC-D5C6-4897-AD95-D81E8ADA82BF}"/>
              </a:ext>
            </a:extLst>
          </p:cNvPr>
          <p:cNvSpPr txBox="1"/>
          <p:nvPr/>
        </p:nvSpPr>
        <p:spPr>
          <a:xfrm>
            <a:off x="4579800" y="1360988"/>
            <a:ext cx="3173905" cy="323165"/>
          </a:xfrm>
          <a:prstGeom prst="rect">
            <a:avLst/>
          </a:prstGeom>
          <a:noFill/>
        </p:spPr>
        <p:txBody>
          <a:bodyPr wrap="square" rtlCol="0">
            <a:spAutoFit/>
          </a:bodyPr>
          <a:lstStyle/>
          <a:p>
            <a:r>
              <a:rPr lang="fr-LU" sz="1500" dirty="0"/>
              <a:t>Max </a:t>
            </a:r>
            <a:r>
              <a:rPr lang="fr-LU" sz="1500" dirty="0" err="1"/>
              <a:t>beam</a:t>
            </a:r>
            <a:r>
              <a:rPr lang="fr-LU" sz="1500" dirty="0"/>
              <a:t> power </a:t>
            </a:r>
            <a:r>
              <a:rPr lang="fr-LU" sz="1500" dirty="0" err="1"/>
              <a:t>constraint</a:t>
            </a:r>
            <a:endParaRPr lang="en-US" sz="1500" dirty="0"/>
          </a:p>
        </p:txBody>
      </p:sp>
      <p:sp>
        <p:nvSpPr>
          <p:cNvPr id="4" name="TextBox 3">
            <a:extLst>
              <a:ext uri="{FF2B5EF4-FFF2-40B4-BE49-F238E27FC236}">
                <a16:creationId xmlns:a16="http://schemas.microsoft.com/office/drawing/2014/main" id="{B6AA30D8-D6EC-4CED-AC4F-7D53CE3B23D9}"/>
              </a:ext>
            </a:extLst>
          </p:cNvPr>
          <p:cNvSpPr txBox="1"/>
          <p:nvPr/>
        </p:nvSpPr>
        <p:spPr>
          <a:xfrm>
            <a:off x="4579800" y="1758759"/>
            <a:ext cx="3451859" cy="323165"/>
          </a:xfrm>
          <a:prstGeom prst="rect">
            <a:avLst/>
          </a:prstGeom>
          <a:noFill/>
        </p:spPr>
        <p:txBody>
          <a:bodyPr wrap="square" rtlCol="0">
            <a:spAutoFit/>
          </a:bodyPr>
          <a:lstStyle/>
          <a:p>
            <a:r>
              <a:rPr lang="fr-LU" sz="1500" dirty="0" err="1"/>
              <a:t>Each</a:t>
            </a:r>
            <a:r>
              <a:rPr lang="fr-LU" sz="1500" dirty="0"/>
              <a:t> user can </a:t>
            </a:r>
            <a:r>
              <a:rPr lang="fr-LU" sz="1500" dirty="0" err="1"/>
              <a:t>be</a:t>
            </a:r>
            <a:r>
              <a:rPr lang="fr-LU" sz="1500" dirty="0"/>
              <a:t> </a:t>
            </a:r>
            <a:r>
              <a:rPr lang="fr-LU" sz="1500" dirty="0" err="1"/>
              <a:t>served</a:t>
            </a:r>
            <a:r>
              <a:rPr lang="fr-LU" sz="1500" dirty="0"/>
              <a:t> by 1 satellite</a:t>
            </a:r>
            <a:endParaRPr lang="en-US" dirty="0"/>
          </a:p>
        </p:txBody>
      </p:sp>
      <p:sp>
        <p:nvSpPr>
          <p:cNvPr id="18" name="TextBox 17">
            <a:extLst>
              <a:ext uri="{FF2B5EF4-FFF2-40B4-BE49-F238E27FC236}">
                <a16:creationId xmlns:a16="http://schemas.microsoft.com/office/drawing/2014/main" id="{B9829522-5C3F-4F3A-AEBB-7A9A63B3014D}"/>
              </a:ext>
            </a:extLst>
          </p:cNvPr>
          <p:cNvSpPr txBox="1"/>
          <p:nvPr/>
        </p:nvSpPr>
        <p:spPr>
          <a:xfrm>
            <a:off x="4556759" y="2209133"/>
            <a:ext cx="3825239" cy="323165"/>
          </a:xfrm>
          <a:prstGeom prst="rect">
            <a:avLst/>
          </a:prstGeom>
          <a:noFill/>
        </p:spPr>
        <p:txBody>
          <a:bodyPr wrap="square" rtlCol="0">
            <a:spAutoFit/>
          </a:bodyPr>
          <a:lstStyle/>
          <a:p>
            <a:r>
              <a:rPr lang="fr-LU" sz="1500" dirty="0"/>
              <a:t>User </a:t>
            </a:r>
            <a:r>
              <a:rPr lang="fr-LU" sz="1500" dirty="0" err="1"/>
              <a:t>having</a:t>
            </a:r>
            <a:r>
              <a:rPr lang="fr-LU" sz="1500" dirty="0"/>
              <a:t> </a:t>
            </a:r>
            <a:r>
              <a:rPr lang="fr-LU" sz="1500" dirty="0" err="1"/>
              <a:t>demand</a:t>
            </a:r>
            <a:r>
              <a:rPr lang="fr-LU" sz="1500" dirty="0"/>
              <a:t> </a:t>
            </a:r>
            <a:r>
              <a:rPr lang="fr-LU" sz="1500" dirty="0" err="1"/>
              <a:t>will</a:t>
            </a:r>
            <a:r>
              <a:rPr lang="fr-LU" sz="1500" dirty="0"/>
              <a:t> </a:t>
            </a:r>
            <a:r>
              <a:rPr lang="fr-LU" sz="1500" dirty="0" err="1"/>
              <a:t>be</a:t>
            </a:r>
            <a:r>
              <a:rPr lang="fr-LU" sz="1500" dirty="0"/>
              <a:t> </a:t>
            </a:r>
            <a:r>
              <a:rPr lang="fr-LU" sz="1500" dirty="0" err="1"/>
              <a:t>allocated</a:t>
            </a:r>
            <a:r>
              <a:rPr lang="fr-LU" sz="1500" dirty="0"/>
              <a:t> a </a:t>
            </a:r>
            <a:r>
              <a:rPr lang="fr-LU" sz="1500" dirty="0" err="1"/>
              <a:t>beam</a:t>
            </a:r>
            <a:r>
              <a:rPr lang="fr-LU" sz="1500" dirty="0"/>
              <a:t> </a:t>
            </a:r>
            <a:endParaRPr lang="en-US" sz="1500" dirty="0"/>
          </a:p>
        </p:txBody>
      </p:sp>
      <p:sp>
        <p:nvSpPr>
          <p:cNvPr id="20" name="TextBox 19">
            <a:extLst>
              <a:ext uri="{FF2B5EF4-FFF2-40B4-BE49-F238E27FC236}">
                <a16:creationId xmlns:a16="http://schemas.microsoft.com/office/drawing/2014/main" id="{34946F35-86C7-4DA8-B73E-1D72E637CF0D}"/>
              </a:ext>
            </a:extLst>
          </p:cNvPr>
          <p:cNvSpPr txBox="1"/>
          <p:nvPr/>
        </p:nvSpPr>
        <p:spPr>
          <a:xfrm>
            <a:off x="4556759" y="2847174"/>
            <a:ext cx="3173905" cy="323165"/>
          </a:xfrm>
          <a:prstGeom prst="rect">
            <a:avLst/>
          </a:prstGeom>
          <a:noFill/>
        </p:spPr>
        <p:txBody>
          <a:bodyPr wrap="square" rtlCol="0">
            <a:spAutoFit/>
          </a:bodyPr>
          <a:lstStyle/>
          <a:p>
            <a:r>
              <a:rPr lang="fr-LU" sz="1500" dirty="0"/>
              <a:t>Max </a:t>
            </a:r>
            <a:r>
              <a:rPr lang="fr-LU" sz="1500" dirty="0" err="1"/>
              <a:t>number</a:t>
            </a:r>
            <a:r>
              <a:rPr lang="fr-LU" sz="1500" dirty="0"/>
              <a:t> of </a:t>
            </a:r>
            <a:r>
              <a:rPr lang="fr-LU" sz="1500" dirty="0" err="1"/>
              <a:t>beam</a:t>
            </a:r>
            <a:r>
              <a:rPr lang="fr-LU" sz="1500" dirty="0"/>
              <a:t> per satellite</a:t>
            </a:r>
            <a:endParaRPr lang="en-US" sz="1500" dirty="0"/>
          </a:p>
        </p:txBody>
      </p:sp>
      <p:sp>
        <p:nvSpPr>
          <p:cNvPr id="22" name="TextBox 21">
            <a:extLst>
              <a:ext uri="{FF2B5EF4-FFF2-40B4-BE49-F238E27FC236}">
                <a16:creationId xmlns:a16="http://schemas.microsoft.com/office/drawing/2014/main" id="{C9D2C0CB-9541-45CF-B396-A48A08C83383}"/>
              </a:ext>
            </a:extLst>
          </p:cNvPr>
          <p:cNvSpPr txBox="1"/>
          <p:nvPr/>
        </p:nvSpPr>
        <p:spPr>
          <a:xfrm>
            <a:off x="4522648" y="3507140"/>
            <a:ext cx="3451859" cy="323165"/>
          </a:xfrm>
          <a:prstGeom prst="rect">
            <a:avLst/>
          </a:prstGeom>
          <a:noFill/>
        </p:spPr>
        <p:txBody>
          <a:bodyPr wrap="square" rtlCol="0">
            <a:spAutoFit/>
          </a:bodyPr>
          <a:lstStyle/>
          <a:p>
            <a:r>
              <a:rPr lang="fr-LU" sz="1500" dirty="0"/>
              <a:t>Satellite </a:t>
            </a:r>
            <a:r>
              <a:rPr lang="fr-LU" sz="1500" dirty="0" err="1"/>
              <a:t>is</a:t>
            </a:r>
            <a:r>
              <a:rPr lang="fr-LU" sz="1500" dirty="0"/>
              <a:t> ON </a:t>
            </a:r>
            <a:r>
              <a:rPr lang="fr-LU" sz="1500" dirty="0" err="1"/>
              <a:t>iff</a:t>
            </a:r>
            <a:r>
              <a:rPr lang="fr-LU" sz="1500" dirty="0"/>
              <a:t> </a:t>
            </a:r>
            <a:r>
              <a:rPr lang="fr-LU" sz="1500" dirty="0" err="1"/>
              <a:t>it</a:t>
            </a:r>
            <a:r>
              <a:rPr lang="fr-LU" sz="1500" dirty="0"/>
              <a:t> </a:t>
            </a:r>
            <a:r>
              <a:rPr lang="fr-LU" sz="1500" dirty="0" err="1"/>
              <a:t>is</a:t>
            </a:r>
            <a:r>
              <a:rPr lang="fr-LU" sz="1500" dirty="0"/>
              <a:t> </a:t>
            </a:r>
            <a:r>
              <a:rPr lang="fr-LU" sz="1500" dirty="0" err="1"/>
              <a:t>serving</a:t>
            </a:r>
            <a:r>
              <a:rPr lang="fr-LU" sz="1500" dirty="0"/>
              <a:t> </a:t>
            </a:r>
            <a:r>
              <a:rPr lang="fr-LU" sz="1500" dirty="0" err="1"/>
              <a:t>atleast</a:t>
            </a:r>
            <a:r>
              <a:rPr lang="fr-LU" sz="1500" dirty="0"/>
              <a:t> a user</a:t>
            </a:r>
            <a:endParaRPr lang="en-US" dirty="0"/>
          </a:p>
        </p:txBody>
      </p:sp>
      <p:sp>
        <p:nvSpPr>
          <p:cNvPr id="24" name="TextBox 23">
            <a:extLst>
              <a:ext uri="{FF2B5EF4-FFF2-40B4-BE49-F238E27FC236}">
                <a16:creationId xmlns:a16="http://schemas.microsoft.com/office/drawing/2014/main" id="{B089B048-1EBA-48F4-917D-DE8CAE42766D}"/>
              </a:ext>
            </a:extLst>
          </p:cNvPr>
          <p:cNvSpPr txBox="1"/>
          <p:nvPr/>
        </p:nvSpPr>
        <p:spPr>
          <a:xfrm>
            <a:off x="4511128" y="4013660"/>
            <a:ext cx="3684180" cy="323165"/>
          </a:xfrm>
          <a:prstGeom prst="rect">
            <a:avLst/>
          </a:prstGeom>
          <a:noFill/>
        </p:spPr>
        <p:txBody>
          <a:bodyPr wrap="square" rtlCol="0">
            <a:spAutoFit/>
          </a:bodyPr>
          <a:lstStyle/>
          <a:p>
            <a:r>
              <a:rPr lang="fr-LU" sz="1500" dirty="0"/>
              <a:t>User can </a:t>
            </a:r>
            <a:r>
              <a:rPr lang="fr-LU" sz="1500" dirty="0" err="1"/>
              <a:t>only</a:t>
            </a:r>
            <a:r>
              <a:rPr lang="fr-LU" sz="1500" dirty="0"/>
              <a:t> </a:t>
            </a:r>
            <a:r>
              <a:rPr lang="fr-LU" sz="1500" dirty="0" err="1"/>
              <a:t>be</a:t>
            </a:r>
            <a:r>
              <a:rPr lang="fr-LU" sz="1500" dirty="0"/>
              <a:t> </a:t>
            </a:r>
            <a:r>
              <a:rPr lang="fr-LU" sz="1500" dirty="0" err="1"/>
              <a:t>served</a:t>
            </a:r>
            <a:r>
              <a:rPr lang="fr-LU" sz="1500" dirty="0"/>
              <a:t> by visible satellite</a:t>
            </a:r>
            <a:endParaRPr lang="en-US" dirty="0"/>
          </a:p>
        </p:txBody>
      </p:sp>
      <p:sp>
        <p:nvSpPr>
          <p:cNvPr id="25" name="TextBox 24">
            <a:extLst>
              <a:ext uri="{FF2B5EF4-FFF2-40B4-BE49-F238E27FC236}">
                <a16:creationId xmlns:a16="http://schemas.microsoft.com/office/drawing/2014/main" id="{B3DB5D7A-1DD3-4D75-ADA1-92CC28B83A05}"/>
              </a:ext>
            </a:extLst>
          </p:cNvPr>
          <p:cNvSpPr txBox="1"/>
          <p:nvPr/>
        </p:nvSpPr>
        <p:spPr>
          <a:xfrm>
            <a:off x="5412679" y="4382342"/>
            <a:ext cx="3173905" cy="323165"/>
          </a:xfrm>
          <a:prstGeom prst="rect">
            <a:avLst/>
          </a:prstGeom>
          <a:noFill/>
        </p:spPr>
        <p:txBody>
          <a:bodyPr wrap="square" rtlCol="0">
            <a:spAutoFit/>
          </a:bodyPr>
          <a:lstStyle/>
          <a:p>
            <a:r>
              <a:rPr lang="fr-LU" sz="1500" dirty="0"/>
              <a:t>User QoS (</a:t>
            </a:r>
            <a:r>
              <a:rPr lang="fr-LU" sz="1500" dirty="0" err="1"/>
              <a:t>demand</a:t>
            </a:r>
            <a:r>
              <a:rPr lang="fr-LU" sz="1500" dirty="0"/>
              <a:t>) satisfaction</a:t>
            </a:r>
            <a:endParaRPr lang="en-US" sz="1500" dirty="0"/>
          </a:p>
        </p:txBody>
      </p:sp>
    </p:spTree>
    <p:extLst>
      <p:ext uri="{BB962C8B-B14F-4D97-AF65-F5344CB8AC3E}">
        <p14:creationId xmlns:p14="http://schemas.microsoft.com/office/powerpoint/2010/main" val="2652510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AD5154-A1E3-477C-9D96-941944CB69FD}"/>
              </a:ext>
            </a:extLst>
          </p:cNvPr>
          <p:cNvSpPr>
            <a:spLocks noGrp="1"/>
          </p:cNvSpPr>
          <p:nvPr>
            <p:ph type="body" sz="quarter" idx="12"/>
          </p:nvPr>
        </p:nvSpPr>
        <p:spPr/>
        <p:txBody>
          <a:bodyPr/>
          <a:lstStyle/>
          <a:p>
            <a:r>
              <a:rPr lang="fr-CH" dirty="0" err="1"/>
              <a:t>Optimization</a:t>
            </a:r>
            <a:r>
              <a:rPr lang="fr-CH" dirty="0"/>
              <a:t> </a:t>
            </a:r>
            <a:r>
              <a:rPr lang="fr-CH" dirty="0" err="1"/>
              <a:t>problem</a:t>
            </a:r>
            <a:r>
              <a:rPr lang="fr-CH" dirty="0"/>
              <a:t> formulation and Relaxation</a:t>
            </a:r>
            <a:endParaRPr lang="en-US" dirty="0"/>
          </a:p>
          <a:p>
            <a:endParaRPr lang="en-US" dirty="0"/>
          </a:p>
        </p:txBody>
      </p:sp>
      <p:sp>
        <p:nvSpPr>
          <p:cNvPr id="4" name="TextBox 3">
            <a:extLst>
              <a:ext uri="{FF2B5EF4-FFF2-40B4-BE49-F238E27FC236}">
                <a16:creationId xmlns:a16="http://schemas.microsoft.com/office/drawing/2014/main" id="{A7E060E9-B548-40B3-A158-C753A1D2CE0F}"/>
              </a:ext>
            </a:extLst>
          </p:cNvPr>
          <p:cNvSpPr txBox="1"/>
          <p:nvPr/>
        </p:nvSpPr>
        <p:spPr>
          <a:xfrm>
            <a:off x="640080" y="582930"/>
            <a:ext cx="8778240" cy="743280"/>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Problem Relaxation and Proposed Solution</a:t>
            </a:r>
            <a:endParaRPr kumimoji="0" lang="en-US" sz="2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endParaRPr lang="en-US" dirty="0"/>
          </a:p>
        </p:txBody>
      </p:sp>
      <p:sp>
        <p:nvSpPr>
          <p:cNvPr id="5" name="TextBox 4">
            <a:extLst>
              <a:ext uri="{FF2B5EF4-FFF2-40B4-BE49-F238E27FC236}">
                <a16:creationId xmlns:a16="http://schemas.microsoft.com/office/drawing/2014/main" id="{FC220CE6-15A9-4FEA-A8AC-7E41946200D8}"/>
              </a:ext>
            </a:extLst>
          </p:cNvPr>
          <p:cNvSpPr txBox="1"/>
          <p:nvPr/>
        </p:nvSpPr>
        <p:spPr>
          <a:xfrm>
            <a:off x="720090" y="1326210"/>
            <a:ext cx="11052810" cy="369332"/>
          </a:xfrm>
          <a:prstGeom prst="rect">
            <a:avLst/>
          </a:prstGeom>
          <a:noFill/>
        </p:spPr>
        <p:txBody>
          <a:bodyPr wrap="square" rtlCol="0">
            <a:spAutoFit/>
          </a:bodyPr>
          <a:lstStyle/>
          <a:p>
            <a:r>
              <a:rPr lang="en-US" dirty="0">
                <a:latin typeface="Arial" panose="020B0604020202020204" pitchFamily="34" charset="0"/>
              </a:rPr>
              <a:t>T</a:t>
            </a:r>
            <a:r>
              <a:rPr lang="en-US" dirty="0">
                <a:effectLst/>
                <a:latin typeface="Arial" panose="020B0604020202020204" pitchFamily="34" charset="0"/>
              </a:rPr>
              <a:t>he time horizon T is divided into equal time slots and solve the optimization problem in each time slot.</a:t>
            </a:r>
            <a:endParaRPr lang="en-US" dirty="0"/>
          </a:p>
        </p:txBody>
      </p:sp>
      <p:sp>
        <p:nvSpPr>
          <p:cNvPr id="6" name="TextBox 5">
            <a:extLst>
              <a:ext uri="{FF2B5EF4-FFF2-40B4-BE49-F238E27FC236}">
                <a16:creationId xmlns:a16="http://schemas.microsoft.com/office/drawing/2014/main" id="{85D078BF-0989-4C6E-9736-4E06D818F150}"/>
              </a:ext>
            </a:extLst>
          </p:cNvPr>
          <p:cNvSpPr txBox="1"/>
          <p:nvPr/>
        </p:nvSpPr>
        <p:spPr>
          <a:xfrm>
            <a:off x="834390" y="1863090"/>
            <a:ext cx="7372350" cy="369332"/>
          </a:xfrm>
          <a:prstGeom prst="rect">
            <a:avLst/>
          </a:prstGeom>
          <a:noFill/>
        </p:spPr>
        <p:txBody>
          <a:bodyPr wrap="square" rtlCol="0">
            <a:spAutoFit/>
          </a:bodyPr>
          <a:lstStyle/>
          <a:p>
            <a:r>
              <a:rPr lang="en-US" dirty="0">
                <a:latin typeface="Arial" panose="020B0604020202020204" pitchFamily="34" charset="0"/>
              </a:rPr>
              <a:t>C</a:t>
            </a:r>
            <a:r>
              <a:rPr lang="en-US" dirty="0">
                <a:effectLst/>
                <a:latin typeface="Arial" panose="020B0604020202020204" pitchFamily="34" charset="0"/>
              </a:rPr>
              <a:t>onstraint C7 can be approximated for high SNR regime as follows:</a:t>
            </a:r>
            <a:endParaRPr lang="en-US" dirty="0"/>
          </a:p>
        </p:txBody>
      </p:sp>
      <p:pic>
        <p:nvPicPr>
          <p:cNvPr id="8" name="Picture 7">
            <a:extLst>
              <a:ext uri="{FF2B5EF4-FFF2-40B4-BE49-F238E27FC236}">
                <a16:creationId xmlns:a16="http://schemas.microsoft.com/office/drawing/2014/main" id="{21790AF2-DD43-40A8-9A91-89DDC4BB914B}"/>
              </a:ext>
            </a:extLst>
          </p:cNvPr>
          <p:cNvPicPr>
            <a:picLocks noChangeAspect="1"/>
          </p:cNvPicPr>
          <p:nvPr/>
        </p:nvPicPr>
        <p:blipFill>
          <a:blip r:embed="rId2"/>
          <a:stretch>
            <a:fillRect/>
          </a:stretch>
        </p:blipFill>
        <p:spPr>
          <a:xfrm>
            <a:off x="3910012" y="2232422"/>
            <a:ext cx="4296728" cy="914730"/>
          </a:xfrm>
          <a:prstGeom prst="rect">
            <a:avLst/>
          </a:prstGeom>
        </p:spPr>
      </p:pic>
      <p:sp>
        <p:nvSpPr>
          <p:cNvPr id="9" name="TextBox 8">
            <a:extLst>
              <a:ext uri="{FF2B5EF4-FFF2-40B4-BE49-F238E27FC236}">
                <a16:creationId xmlns:a16="http://schemas.microsoft.com/office/drawing/2014/main" id="{0ED2596D-6CB4-4BA6-96E4-7F87933AE5A3}"/>
              </a:ext>
            </a:extLst>
          </p:cNvPr>
          <p:cNvSpPr txBox="1"/>
          <p:nvPr/>
        </p:nvSpPr>
        <p:spPr>
          <a:xfrm>
            <a:off x="971550" y="3429000"/>
            <a:ext cx="7806690" cy="369332"/>
          </a:xfrm>
          <a:prstGeom prst="rect">
            <a:avLst/>
          </a:prstGeom>
          <a:noFill/>
        </p:spPr>
        <p:txBody>
          <a:bodyPr wrap="square" rtlCol="0">
            <a:spAutoFit/>
          </a:bodyPr>
          <a:lstStyle/>
          <a:p>
            <a:r>
              <a:rPr lang="fr-LU" dirty="0" err="1">
                <a:latin typeface="Arial" panose="020B0604020202020204" pitchFamily="34" charset="0"/>
                <a:cs typeface="Arial" panose="020B0604020202020204" pitchFamily="34" charset="0"/>
              </a:rPr>
              <a:t>Now</a:t>
            </a:r>
            <a:r>
              <a:rPr lang="fr-LU" dirty="0">
                <a:latin typeface="Arial" panose="020B0604020202020204" pitchFamily="34" charset="0"/>
                <a:cs typeface="Arial" panose="020B0604020202020204" pitchFamily="34" charset="0"/>
              </a:rPr>
              <a:t>, </a:t>
            </a:r>
            <a:r>
              <a:rPr lang="fr-LU" dirty="0" err="1">
                <a:latin typeface="Arial" panose="020B0604020202020204" pitchFamily="34" charset="0"/>
                <a:cs typeface="Arial" panose="020B0604020202020204" pitchFamily="34" charset="0"/>
              </a:rPr>
              <a:t>using</a:t>
            </a:r>
            <a:r>
              <a:rPr lang="fr-LU" dirty="0">
                <a:latin typeface="Arial" panose="020B0604020202020204" pitchFamily="34" charset="0"/>
                <a:cs typeface="Arial" panose="020B0604020202020204" pitchFamily="34" charset="0"/>
              </a:rPr>
              <a:t> change of variable </a:t>
            </a:r>
            <a:r>
              <a:rPr lang="fr-LU" dirty="0" err="1">
                <a:latin typeface="Arial" panose="020B0604020202020204" pitchFamily="34" charset="0"/>
                <a:cs typeface="Arial" panose="020B0604020202020204" pitchFamily="34" charset="0"/>
              </a:rPr>
              <a:t>such</a:t>
            </a:r>
            <a:r>
              <a:rPr lang="fr-LU" dirty="0">
                <a:latin typeface="Arial" panose="020B0604020202020204" pitchFamily="34" charset="0"/>
                <a:cs typeface="Arial" panose="020B0604020202020204" pitchFamily="34" charset="0"/>
              </a:rPr>
              <a:t> </a:t>
            </a:r>
            <a:r>
              <a:rPr lang="fr-LU" dirty="0" err="1">
                <a:latin typeface="Arial" panose="020B0604020202020204" pitchFamily="34" charset="0"/>
                <a:cs typeface="Arial" panose="020B0604020202020204" pitchFamily="34" charset="0"/>
              </a:rPr>
              <a:t>that</a:t>
            </a: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40EE40E-772D-4792-B38A-D1B3F72A4302}"/>
                  </a:ext>
                </a:extLst>
              </p:cNvPr>
              <p:cNvSpPr txBox="1"/>
              <p:nvPr/>
            </p:nvSpPr>
            <p:spPr>
              <a:xfrm>
                <a:off x="5417265" y="3470086"/>
                <a:ext cx="1670201" cy="3029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fr-LU" b="0" i="1" smtClean="0">
                                  <a:latin typeface="Cambria Math" panose="02040503050406030204" pitchFamily="18" charset="0"/>
                                </a:rPr>
                                <m:t>𝑃</m:t>
                              </m:r>
                            </m:e>
                          </m:acc>
                        </m:e>
                        <m:sub>
                          <m:r>
                            <a:rPr lang="fr-LU" b="0" i="1" smtClean="0">
                              <a:latin typeface="Cambria Math" panose="02040503050406030204" pitchFamily="18" charset="0"/>
                            </a:rPr>
                            <m:t>𝑛</m:t>
                          </m:r>
                          <m:r>
                            <a:rPr lang="fr-LU" b="0" i="1" smtClean="0">
                              <a:latin typeface="Cambria Math" panose="02040503050406030204" pitchFamily="18" charset="0"/>
                            </a:rPr>
                            <m:t>,</m:t>
                          </m:r>
                          <m:r>
                            <a:rPr lang="fr-LU" b="0" i="1" smtClean="0">
                              <a:latin typeface="Cambria Math" panose="02040503050406030204" pitchFamily="18" charset="0"/>
                            </a:rPr>
                            <m:t>𝑚</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fr-LU" b="0" i="1" smtClean="0">
                              <a:latin typeface="Cambria Math" panose="02040503050406030204" pitchFamily="18" charset="0"/>
                            </a:rPr>
                            <m:t>𝑙𝑜𝑔</m:t>
                          </m:r>
                        </m:e>
                        <m:sub>
                          <m:r>
                            <a:rPr lang="fr-LU" b="0" i="1" smtClean="0">
                              <a:latin typeface="Cambria Math" panose="02040503050406030204" pitchFamily="18" charset="0"/>
                            </a:rPr>
                            <m:t>2</m:t>
                          </m:r>
                        </m:sub>
                      </m:sSub>
                      <m:r>
                        <a:rPr lang="fr-LU" b="0" i="1" smtClean="0">
                          <a:latin typeface="Cambria Math" panose="02040503050406030204" pitchFamily="18" charset="0"/>
                        </a:rPr>
                        <m:t> </m:t>
                      </m:r>
                      <m:sSub>
                        <m:sSubPr>
                          <m:ctrlPr>
                            <a:rPr lang="fr-LU" b="0" i="1" smtClean="0">
                              <a:latin typeface="Cambria Math" panose="02040503050406030204" pitchFamily="18" charset="0"/>
                            </a:rPr>
                          </m:ctrlPr>
                        </m:sSubPr>
                        <m:e>
                          <m:r>
                            <a:rPr lang="fr-LU" b="0" i="1" smtClean="0">
                              <a:latin typeface="Cambria Math" panose="02040503050406030204" pitchFamily="18" charset="0"/>
                            </a:rPr>
                            <m:t>𝑃</m:t>
                          </m:r>
                        </m:e>
                        <m:sub>
                          <m:r>
                            <a:rPr lang="fr-LU" b="0" i="1" smtClean="0">
                              <a:latin typeface="Cambria Math" panose="02040503050406030204" pitchFamily="18" charset="0"/>
                            </a:rPr>
                            <m:t>𝑛</m:t>
                          </m:r>
                          <m:r>
                            <a:rPr lang="fr-LU" b="0" i="1" smtClean="0">
                              <a:latin typeface="Cambria Math" panose="02040503050406030204" pitchFamily="18" charset="0"/>
                            </a:rPr>
                            <m:t>,</m:t>
                          </m:r>
                          <m:r>
                            <a:rPr lang="fr-LU" b="0" i="1" smtClean="0">
                              <a:latin typeface="Cambria Math" panose="02040503050406030204" pitchFamily="18" charset="0"/>
                            </a:rPr>
                            <m:t>𝑚</m:t>
                          </m:r>
                        </m:sub>
                      </m:sSub>
                    </m:oMath>
                  </m:oMathPara>
                </a14:m>
                <a:endParaRPr lang="en-US" dirty="0"/>
              </a:p>
            </p:txBody>
          </p:sp>
        </mc:Choice>
        <mc:Fallback xmlns="">
          <p:sp>
            <p:nvSpPr>
              <p:cNvPr id="10" name="TextBox 9">
                <a:extLst>
                  <a:ext uri="{FF2B5EF4-FFF2-40B4-BE49-F238E27FC236}">
                    <a16:creationId xmlns:a16="http://schemas.microsoft.com/office/drawing/2014/main" id="{640EE40E-772D-4792-B38A-D1B3F72A4302}"/>
                  </a:ext>
                </a:extLst>
              </p:cNvPr>
              <p:cNvSpPr txBox="1">
                <a:spLocks noRot="1" noChangeAspect="1" noMove="1" noResize="1" noEditPoints="1" noAdjustHandles="1" noChangeArrowheads="1" noChangeShapeType="1" noTextEdit="1"/>
              </p:cNvSpPr>
              <p:nvPr/>
            </p:nvSpPr>
            <p:spPr>
              <a:xfrm>
                <a:off x="5417265" y="3470086"/>
                <a:ext cx="1670201" cy="302968"/>
              </a:xfrm>
              <a:prstGeom prst="rect">
                <a:avLst/>
              </a:prstGeom>
              <a:blipFill>
                <a:blip r:embed="rId3"/>
                <a:stretch>
                  <a:fillRect l="-2920" t="-14000" b="-28000"/>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3AEC33CA-2F7D-4107-AB1C-FFD761E535F9}"/>
              </a:ext>
            </a:extLst>
          </p:cNvPr>
          <p:cNvPicPr>
            <a:picLocks noChangeAspect="1"/>
          </p:cNvPicPr>
          <p:nvPr/>
        </p:nvPicPr>
        <p:blipFill>
          <a:blip r:embed="rId4"/>
          <a:stretch>
            <a:fillRect/>
          </a:stretch>
        </p:blipFill>
        <p:spPr>
          <a:xfrm>
            <a:off x="3836670" y="4080180"/>
            <a:ext cx="5044440" cy="2194890"/>
          </a:xfrm>
          <a:prstGeom prst="rect">
            <a:avLst/>
          </a:prstGeom>
        </p:spPr>
      </p:pic>
    </p:spTree>
    <p:extLst>
      <p:ext uri="{BB962C8B-B14F-4D97-AF65-F5344CB8AC3E}">
        <p14:creationId xmlns:p14="http://schemas.microsoft.com/office/powerpoint/2010/main" val="682267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oat, sitting, water, large&#10;&#10;Description automatically generated">
            <a:extLst>
              <a:ext uri="{FF2B5EF4-FFF2-40B4-BE49-F238E27FC236}">
                <a16:creationId xmlns:a16="http://schemas.microsoft.com/office/drawing/2014/main" id="{77210977-2254-E140-8B3E-A45F6F31BCC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497" y="0"/>
            <a:ext cx="12278497" cy="6858000"/>
          </a:xfrm>
          <a:prstGeom prst="rect">
            <a:avLst/>
          </a:prstGeom>
        </p:spPr>
      </p:pic>
      <p:sp>
        <p:nvSpPr>
          <p:cNvPr id="6" name="TextBox 5">
            <a:extLst>
              <a:ext uri="{FF2B5EF4-FFF2-40B4-BE49-F238E27FC236}">
                <a16:creationId xmlns:a16="http://schemas.microsoft.com/office/drawing/2014/main" id="{9DE8A534-5C35-410C-9D80-776EDE35A6B5}"/>
              </a:ext>
            </a:extLst>
          </p:cNvPr>
          <p:cNvSpPr txBox="1"/>
          <p:nvPr/>
        </p:nvSpPr>
        <p:spPr>
          <a:xfrm>
            <a:off x="636871" y="1256467"/>
            <a:ext cx="7934730" cy="4093428"/>
          </a:xfrm>
          <a:prstGeom prst="rect">
            <a:avLst/>
          </a:prstGeom>
          <a:noFill/>
        </p:spPr>
        <p:txBody>
          <a:bodyPr wrap="square" rtlCol="0">
            <a:spAutoFit/>
          </a:bodyPr>
          <a:lstStyle>
            <a:defPPr>
              <a:defRPr lang="en-US"/>
            </a:defPPr>
            <a:lvl1pPr marL="342900" indent="-342900">
              <a:buFont typeface="+mj-lt"/>
              <a:buAutoNum type="arabicPeriod"/>
              <a:defRPr sz="2000" b="1">
                <a:solidFill>
                  <a:schemeClr val="bg1"/>
                </a:solidFill>
                <a:latin typeface="Graphik Semibold" panose="020B0703030202060203" pitchFamily="34" charset="0"/>
              </a:defRPr>
            </a:lvl1pPr>
          </a:lstStyle>
          <a:p>
            <a:r>
              <a:rPr lang="fr-CH" dirty="0">
                <a:solidFill>
                  <a:schemeClr val="tx1"/>
                </a:solidFill>
              </a:rPr>
              <a:t>Introduction</a:t>
            </a:r>
            <a:endParaRPr lang="en-US" dirty="0">
              <a:solidFill>
                <a:schemeClr val="tx1"/>
              </a:solidFill>
            </a:endParaRPr>
          </a:p>
          <a:p>
            <a:endParaRPr lang="fr-CH" dirty="0"/>
          </a:p>
          <a:p>
            <a:r>
              <a:rPr lang="en-US" dirty="0">
                <a:solidFill>
                  <a:schemeClr val="tx1"/>
                </a:solidFill>
              </a:rPr>
              <a:t>Problem statement, System and Channel Model</a:t>
            </a:r>
          </a:p>
          <a:p>
            <a:pPr marL="342900" lvl="1" indent="-342900">
              <a:buFont typeface="+mj-lt"/>
              <a:buAutoNum type="arabicPeriod"/>
            </a:pPr>
            <a:endParaRPr lang="en-US" sz="2000" b="1" dirty="0">
              <a:latin typeface="Graphik Semibold" panose="020B0703030202060203" pitchFamily="34" charset="0"/>
            </a:endParaRPr>
          </a:p>
          <a:p>
            <a:r>
              <a:rPr lang="en-US" dirty="0">
                <a:solidFill>
                  <a:schemeClr val="tx1"/>
                </a:solidFill>
              </a:rPr>
              <a:t>Optimization Problem Formulation and Relaxation </a:t>
            </a:r>
          </a:p>
          <a:p>
            <a:endParaRPr lang="en-US" dirty="0">
              <a:solidFill>
                <a:schemeClr val="tx1"/>
              </a:solidFill>
            </a:endParaRPr>
          </a:p>
          <a:p>
            <a:r>
              <a:rPr lang="en-US" dirty="0"/>
              <a:t>Numerical results</a:t>
            </a:r>
          </a:p>
          <a:p>
            <a:endParaRPr lang="en-US" sz="2000" b="1" dirty="0">
              <a:solidFill>
                <a:schemeClr val="tx1"/>
              </a:solidFill>
              <a:latin typeface="Graphik Semibold" panose="020B0703030202060203" pitchFamily="34" charset="0"/>
            </a:endParaRPr>
          </a:p>
          <a:p>
            <a:r>
              <a:rPr lang="en-US" sz="2000" b="1" dirty="0">
                <a:solidFill>
                  <a:schemeClr val="tx1"/>
                </a:solidFill>
                <a:latin typeface="Graphik Semibold" panose="020B0703030202060203" pitchFamily="34" charset="0"/>
              </a:rPr>
              <a:t>Conclusion</a:t>
            </a:r>
            <a:endParaRPr lang="en-US" dirty="0">
              <a:solidFill>
                <a:schemeClr val="tx1"/>
              </a:solidFill>
            </a:endParaRPr>
          </a:p>
          <a:p>
            <a:endParaRPr lang="en-US" sz="2000" b="1" dirty="0">
              <a:solidFill>
                <a:schemeClr val="tx1"/>
              </a:solidFill>
              <a:latin typeface="Graphik Semibold" panose="020B0703030202060203" pitchFamily="34" charset="0"/>
            </a:endParaRPr>
          </a:p>
          <a:p>
            <a:r>
              <a:rPr lang="en-US" sz="2000" b="1" dirty="0">
                <a:solidFill>
                  <a:schemeClr val="tx1"/>
                </a:solidFill>
                <a:latin typeface="Graphik Semibold" panose="020B0703030202060203" pitchFamily="34" charset="0"/>
              </a:rPr>
              <a:t>Future Work</a:t>
            </a:r>
            <a:br>
              <a:rPr lang="en-US" sz="2000" b="1" dirty="0">
                <a:solidFill>
                  <a:schemeClr val="bg1"/>
                </a:solidFill>
                <a:latin typeface="Graphik Semibold" panose="020B0703030202060203" pitchFamily="34" charset="0"/>
              </a:rPr>
            </a:br>
            <a:endParaRPr lang="en-US" sz="2000" b="1" dirty="0">
              <a:solidFill>
                <a:schemeClr val="bg1"/>
              </a:solidFill>
              <a:latin typeface="Graphik Semibold" panose="020B0703030202060203" pitchFamily="34" charset="0"/>
            </a:endParaRPr>
          </a:p>
          <a:p>
            <a:endParaRPr lang="en-US" dirty="0">
              <a:latin typeface="+mn-lt"/>
            </a:endParaRPr>
          </a:p>
        </p:txBody>
      </p:sp>
      <p:pic>
        <p:nvPicPr>
          <p:cNvPr id="7" name="Graphic 6">
            <a:extLst>
              <a:ext uri="{FF2B5EF4-FFF2-40B4-BE49-F238E27FC236}">
                <a16:creationId xmlns:a16="http://schemas.microsoft.com/office/drawing/2014/main" id="{7457E091-E20F-574F-B21F-DF6DB7DE3A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89382" y="1462210"/>
            <a:ext cx="1256457" cy="987835"/>
          </a:xfrm>
          <a:prstGeom prst="rect">
            <a:avLst/>
          </a:prstGeom>
        </p:spPr>
      </p:pic>
      <p:grpSp>
        <p:nvGrpSpPr>
          <p:cNvPr id="9" name="Group 8">
            <a:extLst>
              <a:ext uri="{FF2B5EF4-FFF2-40B4-BE49-F238E27FC236}">
                <a16:creationId xmlns:a16="http://schemas.microsoft.com/office/drawing/2014/main" id="{410FC9B3-6D23-C044-BC70-F4CBCCD74147}"/>
              </a:ext>
            </a:extLst>
          </p:cNvPr>
          <p:cNvGrpSpPr/>
          <p:nvPr/>
        </p:nvGrpSpPr>
        <p:grpSpPr>
          <a:xfrm>
            <a:off x="-104859" y="66314"/>
            <a:ext cx="12216715" cy="1418626"/>
            <a:chOff x="-24715" y="5825730"/>
            <a:chExt cx="12216715" cy="1418626"/>
          </a:xfrm>
        </p:grpSpPr>
        <p:pic>
          <p:nvPicPr>
            <p:cNvPr id="11" name="Image 5" descr="Bande_Logo_UNI_PP_right_long.eps">
              <a:extLst>
                <a:ext uri="{FF2B5EF4-FFF2-40B4-BE49-F238E27FC236}">
                  <a16:creationId xmlns:a16="http://schemas.microsoft.com/office/drawing/2014/main" id="{EEB7CB92-331A-0B45-8A12-E75D37DCF015}"/>
                </a:ext>
              </a:extLst>
            </p:cNvPr>
            <p:cNvPicPr/>
            <p:nvPr/>
          </p:nvPicPr>
          <p:blipFill rotWithShape="1">
            <a:blip r:embed="rId5"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lc="http://schemas.openxmlformats.org/drawingml/2006/lockedCanvas" xmlns:a14="http://schemas.microsoft.com/office/drawing/2010/main" xmlns=""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solidFill>
                    <a:srgbClr val="FFFFFF"/>
                  </a:solidFill>
                </a14:hiddenFill>
              </a:ext>
              <a:ext uri="{91240B29-F687-4f45-9708-019B960494DF}">
                <a14:hiddenLine xmlns:lc="http://schemas.openxmlformats.org/drawingml/2006/lockedCanvas" xmlns:a14="http://schemas.microsoft.com/office/drawing/2010/main" xmlns=""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20806795-C84B-1141-8495-A9590BF17FE3}"/>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3" name="Picture 12">
              <a:extLst>
                <a:ext uri="{FF2B5EF4-FFF2-40B4-BE49-F238E27FC236}">
                  <a16:creationId xmlns:a16="http://schemas.microsoft.com/office/drawing/2014/main" id="{4DE845FA-2485-814D-BF58-7584A9D13EB6}"/>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sp>
        <p:nvSpPr>
          <p:cNvPr id="14" name="Text Placeholder 2"/>
          <p:cNvSpPr>
            <a:spLocks noGrp="1"/>
          </p:cNvSpPr>
          <p:nvPr>
            <p:ph type="body" sz="quarter" idx="11"/>
          </p:nvPr>
        </p:nvSpPr>
        <p:spPr>
          <a:xfrm>
            <a:off x="636871" y="570956"/>
            <a:ext cx="11362565" cy="476250"/>
          </a:xfrm>
        </p:spPr>
        <p:txBody>
          <a:bodyPr>
            <a:normAutofit/>
          </a:bodyPr>
          <a:lstStyle/>
          <a:p>
            <a:r>
              <a:rPr lang="en-US" dirty="0">
                <a:solidFill>
                  <a:schemeClr val="bg1"/>
                </a:solidFill>
              </a:rPr>
              <a:t>Outline</a:t>
            </a:r>
            <a:endParaRPr lang="en-US" b="0" dirty="0">
              <a:solidFill>
                <a:schemeClr val="bg1"/>
              </a:solidFill>
            </a:endParaRPr>
          </a:p>
        </p:txBody>
      </p:sp>
    </p:spTree>
    <p:extLst>
      <p:ext uri="{BB962C8B-B14F-4D97-AF65-F5344CB8AC3E}">
        <p14:creationId xmlns:p14="http://schemas.microsoft.com/office/powerpoint/2010/main" val="421301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Numerical results</a:t>
            </a:r>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FA55B71E-3EB1-47EB-8DEB-F71AC0FF3356}"/>
              </a:ext>
            </a:extLst>
          </p:cNvPr>
          <p:cNvPicPr>
            <a:picLocks noChangeAspect="1"/>
          </p:cNvPicPr>
          <p:nvPr/>
        </p:nvPicPr>
        <p:blipFill>
          <a:blip r:embed="rId3"/>
          <a:stretch>
            <a:fillRect/>
          </a:stretch>
        </p:blipFill>
        <p:spPr>
          <a:xfrm>
            <a:off x="7246620" y="834391"/>
            <a:ext cx="4686653" cy="4537710"/>
          </a:xfrm>
          <a:prstGeom prst="rect">
            <a:avLst/>
          </a:prstGeom>
        </p:spPr>
      </p:pic>
      <p:pic>
        <p:nvPicPr>
          <p:cNvPr id="12" name="Picture 11">
            <a:extLst>
              <a:ext uri="{FF2B5EF4-FFF2-40B4-BE49-F238E27FC236}">
                <a16:creationId xmlns:a16="http://schemas.microsoft.com/office/drawing/2014/main" id="{42DAF71E-A895-482C-B1E3-38988473010C}"/>
              </a:ext>
            </a:extLst>
          </p:cNvPr>
          <p:cNvPicPr>
            <a:picLocks noChangeAspect="1"/>
          </p:cNvPicPr>
          <p:nvPr/>
        </p:nvPicPr>
        <p:blipFill>
          <a:blip r:embed="rId4"/>
          <a:stretch>
            <a:fillRect/>
          </a:stretch>
        </p:blipFill>
        <p:spPr>
          <a:xfrm>
            <a:off x="833715" y="1408450"/>
            <a:ext cx="5704245" cy="3280410"/>
          </a:xfrm>
          <a:prstGeom prst="rect">
            <a:avLst/>
          </a:prstGeom>
        </p:spPr>
      </p:pic>
      <p:sp>
        <p:nvSpPr>
          <p:cNvPr id="13" name="TextBox 12">
            <a:extLst>
              <a:ext uri="{FF2B5EF4-FFF2-40B4-BE49-F238E27FC236}">
                <a16:creationId xmlns:a16="http://schemas.microsoft.com/office/drawing/2014/main" id="{D47C2B5E-E7C9-4D32-B9FA-D22EBB7C368A}"/>
              </a:ext>
            </a:extLst>
          </p:cNvPr>
          <p:cNvSpPr txBox="1"/>
          <p:nvPr/>
        </p:nvSpPr>
        <p:spPr>
          <a:xfrm>
            <a:off x="731521" y="4709160"/>
            <a:ext cx="6195060" cy="923330"/>
          </a:xfrm>
          <a:prstGeom prst="rect">
            <a:avLst/>
          </a:prstGeom>
          <a:noFill/>
        </p:spPr>
        <p:txBody>
          <a:bodyPr wrap="square" rtlCol="0">
            <a:spAutoFit/>
          </a:bodyPr>
          <a:lstStyle/>
          <a:p>
            <a:pPr algn="just"/>
            <a:r>
              <a:rPr lang="en-US" dirty="0">
                <a:effectLst/>
                <a:latin typeface="Arial" panose="020B0604020202020204" pitchFamily="34" charset="0"/>
              </a:rPr>
              <a:t>A schematic diagram of the LEO constellation that includes 140 LEO satellites (represented as red squares) distributed over the Earth surface.</a:t>
            </a:r>
            <a:endParaRPr lang="en-US" dirty="0"/>
          </a:p>
        </p:txBody>
      </p:sp>
      <p:sp>
        <p:nvSpPr>
          <p:cNvPr id="16" name="Text Placeholder 2">
            <a:extLst>
              <a:ext uri="{FF2B5EF4-FFF2-40B4-BE49-F238E27FC236}">
                <a16:creationId xmlns:a16="http://schemas.microsoft.com/office/drawing/2014/main" id="{C413418F-CE63-477A-B11D-BD10FD8C27CD}"/>
              </a:ext>
            </a:extLst>
          </p:cNvPr>
          <p:cNvSpPr>
            <a:spLocks noGrp="1"/>
          </p:cNvSpPr>
          <p:nvPr>
            <p:ph type="body" sz="quarter" idx="11"/>
          </p:nvPr>
        </p:nvSpPr>
        <p:spPr>
          <a:xfrm>
            <a:off x="307975" y="561457"/>
            <a:ext cx="4701641" cy="411923"/>
          </a:xfrm>
          <a:noFill/>
          <a:ln>
            <a:solidFill>
              <a:schemeClr val="bg1"/>
            </a:solidFill>
          </a:ln>
        </p:spPr>
        <p:txBody>
          <a:bodyPr>
            <a:normAutofit fontScale="85000" lnSpcReduction="20000"/>
          </a:bodyPr>
          <a:lstStyle/>
          <a:p>
            <a:r>
              <a:rPr lang="fr-LU" sz="3200" dirty="0"/>
              <a:t>N</a:t>
            </a:r>
            <a:r>
              <a:rPr lang="en-US" sz="3200" dirty="0" err="1"/>
              <a:t>umerical</a:t>
            </a:r>
            <a:r>
              <a:rPr lang="en-US" sz="3200" dirty="0"/>
              <a:t> Results</a:t>
            </a:r>
          </a:p>
        </p:txBody>
      </p:sp>
      <p:sp>
        <p:nvSpPr>
          <p:cNvPr id="3" name="TextBox 2">
            <a:extLst>
              <a:ext uri="{FF2B5EF4-FFF2-40B4-BE49-F238E27FC236}">
                <a16:creationId xmlns:a16="http://schemas.microsoft.com/office/drawing/2014/main" id="{4A8DB36D-056D-4CB2-94CE-332AE41DBCE7}"/>
              </a:ext>
            </a:extLst>
          </p:cNvPr>
          <p:cNvSpPr txBox="1"/>
          <p:nvPr/>
        </p:nvSpPr>
        <p:spPr>
          <a:xfrm>
            <a:off x="651510" y="5973377"/>
            <a:ext cx="9955530" cy="707886"/>
          </a:xfrm>
          <a:prstGeom prst="rect">
            <a:avLst/>
          </a:prstGeom>
          <a:noFill/>
        </p:spPr>
        <p:txBody>
          <a:bodyPr wrap="square" rtlCol="0">
            <a:spAutoFit/>
          </a:bodyPr>
          <a:lstStyle/>
          <a:p>
            <a:pPr marL="285750" indent="-285750">
              <a:buFont typeface="Wingdings" panose="05000000000000000000" pitchFamily="2" charset="2"/>
              <a:buChar char="v"/>
            </a:pPr>
            <a:r>
              <a:rPr lang="en-US" sz="2000" b="1" dirty="0"/>
              <a:t>The visibility between a user and a satellite is computed using the Earth-centered, Earth-fixed coordinate (ECEF) coordinates of the satellite and user coordinates.</a:t>
            </a:r>
          </a:p>
        </p:txBody>
      </p:sp>
    </p:spTree>
    <p:extLst>
      <p:ext uri="{BB962C8B-B14F-4D97-AF65-F5344CB8AC3E}">
        <p14:creationId xmlns:p14="http://schemas.microsoft.com/office/powerpoint/2010/main" val="3781991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Numerical results</a:t>
            </a:r>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8AB6F12A-F7E2-4866-826D-83BCFE955D22}"/>
              </a:ext>
            </a:extLst>
          </p:cNvPr>
          <p:cNvPicPr>
            <a:picLocks noChangeAspect="1"/>
          </p:cNvPicPr>
          <p:nvPr/>
        </p:nvPicPr>
        <p:blipFill>
          <a:blip r:embed="rId3"/>
          <a:stretch>
            <a:fillRect/>
          </a:stretch>
        </p:blipFill>
        <p:spPr>
          <a:xfrm>
            <a:off x="6602730" y="485060"/>
            <a:ext cx="3752850" cy="989648"/>
          </a:xfrm>
          <a:prstGeom prst="rect">
            <a:avLst/>
          </a:prstGeom>
        </p:spPr>
      </p:pic>
      <p:sp>
        <p:nvSpPr>
          <p:cNvPr id="12" name="TextBox 11">
            <a:extLst>
              <a:ext uri="{FF2B5EF4-FFF2-40B4-BE49-F238E27FC236}">
                <a16:creationId xmlns:a16="http://schemas.microsoft.com/office/drawing/2014/main" id="{C6D2FAD1-207B-4FFA-B94B-78831C969A71}"/>
              </a:ext>
            </a:extLst>
          </p:cNvPr>
          <p:cNvSpPr txBox="1"/>
          <p:nvPr/>
        </p:nvSpPr>
        <p:spPr>
          <a:xfrm>
            <a:off x="543600" y="845820"/>
            <a:ext cx="5960070" cy="369332"/>
          </a:xfrm>
          <a:prstGeom prst="rect">
            <a:avLst/>
          </a:prstGeom>
          <a:noFill/>
        </p:spPr>
        <p:txBody>
          <a:bodyPr wrap="square" rtlCol="0">
            <a:spAutoFit/>
          </a:bodyPr>
          <a:lstStyle/>
          <a:p>
            <a:r>
              <a:rPr lang="en-US" dirty="0">
                <a:effectLst/>
                <a:latin typeface="Arial" panose="020B0604020202020204" pitchFamily="34" charset="0"/>
              </a:rPr>
              <a:t>The slant range from a user on the ground to a satellite </a:t>
            </a:r>
            <a:endParaRPr lang="en-US" dirty="0"/>
          </a:p>
        </p:txBody>
      </p:sp>
      <p:sp>
        <p:nvSpPr>
          <p:cNvPr id="13" name="TextBox 12">
            <a:extLst>
              <a:ext uri="{FF2B5EF4-FFF2-40B4-BE49-F238E27FC236}">
                <a16:creationId xmlns:a16="http://schemas.microsoft.com/office/drawing/2014/main" id="{631A707F-9910-45E8-8D53-80ED5F7B9953}"/>
              </a:ext>
            </a:extLst>
          </p:cNvPr>
          <p:cNvSpPr txBox="1"/>
          <p:nvPr/>
        </p:nvSpPr>
        <p:spPr>
          <a:xfrm>
            <a:off x="674370" y="1474708"/>
            <a:ext cx="2125980" cy="369332"/>
          </a:xfrm>
          <a:prstGeom prst="rect">
            <a:avLst/>
          </a:prstGeom>
          <a:noFill/>
        </p:spPr>
        <p:txBody>
          <a:bodyPr wrap="square" rtlCol="0">
            <a:spAutoFit/>
          </a:bodyPr>
          <a:lstStyle/>
          <a:p>
            <a:r>
              <a:rPr lang="fr-LU" dirty="0"/>
              <a:t>Min </a:t>
            </a:r>
            <a:r>
              <a:rPr lang="fr-LU" dirty="0" err="1"/>
              <a:t>elevation</a:t>
            </a:r>
            <a:r>
              <a:rPr lang="fr-LU" dirty="0"/>
              <a:t> angle </a:t>
            </a:r>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7FBFE8E-682C-4673-B90B-B3E5D9C7916D}"/>
                  </a:ext>
                </a:extLst>
              </p:cNvPr>
              <p:cNvSpPr txBox="1"/>
              <p:nvPr/>
            </p:nvSpPr>
            <p:spPr>
              <a:xfrm>
                <a:off x="2800350" y="1520874"/>
                <a:ext cx="11414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m:t>
                          </m:r>
                        </m:e>
                        <m:sub>
                          <m:r>
                            <a:rPr lang="fr-LU" b="0" i="1" smtClean="0">
                              <a:latin typeface="Cambria Math" panose="02040503050406030204" pitchFamily="18" charset="0"/>
                            </a:rPr>
                            <m:t>𝑚𝑖𝑛</m:t>
                          </m:r>
                        </m:sub>
                      </m:sSub>
                      <m:r>
                        <a:rPr lang="fr-LU" b="0" i="1" smtClean="0">
                          <a:latin typeface="Cambria Math" panose="02040503050406030204" pitchFamily="18" charset="0"/>
                        </a:rPr>
                        <m:t>=</m:t>
                      </m:r>
                      <m:sSup>
                        <m:sSupPr>
                          <m:ctrlPr>
                            <a:rPr lang="fr-LU" b="0" i="1" smtClean="0">
                              <a:latin typeface="Cambria Math" panose="02040503050406030204" pitchFamily="18" charset="0"/>
                            </a:rPr>
                          </m:ctrlPr>
                        </m:sSupPr>
                        <m:e>
                          <m:r>
                            <a:rPr lang="fr-LU" b="0" i="1" smtClean="0">
                              <a:latin typeface="Cambria Math" panose="02040503050406030204" pitchFamily="18" charset="0"/>
                            </a:rPr>
                            <m:t>10</m:t>
                          </m:r>
                        </m:e>
                        <m:sup>
                          <m:r>
                            <a:rPr lang="fr-LU" b="0" i="1" smtClean="0">
                              <a:latin typeface="Cambria Math" panose="02040503050406030204" pitchFamily="18" charset="0"/>
                            </a:rPr>
                            <m:t>𝑜</m:t>
                          </m:r>
                        </m:sup>
                      </m:sSup>
                    </m:oMath>
                  </m:oMathPara>
                </a14:m>
                <a:endParaRPr lang="en-US" dirty="0"/>
              </a:p>
            </p:txBody>
          </p:sp>
        </mc:Choice>
        <mc:Fallback xmlns="">
          <p:sp>
            <p:nvSpPr>
              <p:cNvPr id="14" name="TextBox 13">
                <a:extLst>
                  <a:ext uri="{FF2B5EF4-FFF2-40B4-BE49-F238E27FC236}">
                    <a16:creationId xmlns:a16="http://schemas.microsoft.com/office/drawing/2014/main" id="{F7FBFE8E-682C-4673-B90B-B3E5D9C7916D}"/>
                  </a:ext>
                </a:extLst>
              </p:cNvPr>
              <p:cNvSpPr txBox="1">
                <a:spLocks noRot="1" noChangeAspect="1" noMove="1" noResize="1" noEditPoints="1" noAdjustHandles="1" noChangeArrowheads="1" noChangeShapeType="1" noTextEdit="1"/>
              </p:cNvSpPr>
              <p:nvPr/>
            </p:nvSpPr>
            <p:spPr>
              <a:xfrm>
                <a:off x="2800350" y="1520874"/>
                <a:ext cx="1141402" cy="276999"/>
              </a:xfrm>
              <a:prstGeom prst="rect">
                <a:avLst/>
              </a:prstGeom>
              <a:blipFill>
                <a:blip r:embed="rId4"/>
                <a:stretch>
                  <a:fillRect l="-3191" b="-17391"/>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99CA9814-A907-4FEC-8394-7E90A3730F1A}"/>
              </a:ext>
            </a:extLst>
          </p:cNvPr>
          <p:cNvSpPr txBox="1"/>
          <p:nvPr/>
        </p:nvSpPr>
        <p:spPr>
          <a:xfrm>
            <a:off x="2091690" y="5337126"/>
            <a:ext cx="9041130" cy="923330"/>
          </a:xfrm>
          <a:prstGeom prst="rect">
            <a:avLst/>
          </a:prstGeom>
          <a:noFill/>
        </p:spPr>
        <p:txBody>
          <a:bodyPr wrap="square" rtlCol="0">
            <a:spAutoFit/>
          </a:bodyPr>
          <a:lstStyle/>
          <a:p>
            <a:pPr algn="just"/>
            <a:r>
              <a:rPr lang="en-US" dirty="0">
                <a:effectLst/>
                <a:latin typeface="Arial" panose="020B0604020202020204" pitchFamily="34" charset="0"/>
              </a:rPr>
              <a:t>A snapshot of the constellation coverage showing the association of the active satellites and the users obtained from the proposed solution to satisfy demands of maritime users over the Earth surface</a:t>
            </a:r>
            <a:endParaRPr lang="en-US" dirty="0"/>
          </a:p>
        </p:txBody>
      </p:sp>
      <p:pic>
        <p:nvPicPr>
          <p:cNvPr id="20" name="Picture 19" descr="Map&#10;&#10;Description automatically generated">
            <a:extLst>
              <a:ext uri="{FF2B5EF4-FFF2-40B4-BE49-F238E27FC236}">
                <a16:creationId xmlns:a16="http://schemas.microsoft.com/office/drawing/2014/main" id="{06C0DE66-45C3-487F-BE4D-D9ADDEF2EE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0350" y="1938216"/>
            <a:ext cx="6160770" cy="3398909"/>
          </a:xfrm>
          <a:prstGeom prst="rect">
            <a:avLst/>
          </a:prstGeom>
        </p:spPr>
      </p:pic>
    </p:spTree>
    <p:extLst>
      <p:ext uri="{BB962C8B-B14F-4D97-AF65-F5344CB8AC3E}">
        <p14:creationId xmlns:p14="http://schemas.microsoft.com/office/powerpoint/2010/main" val="780599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Numerical results</a:t>
            </a:r>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7" name="Straight Connector 6"/>
          <p:cNvCxnSpPr/>
          <p:nvPr/>
        </p:nvCxnSpPr>
        <p:spPr>
          <a:xfrm>
            <a:off x="5998866" y="492843"/>
            <a:ext cx="20096" cy="6225701"/>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4E77CE4-B2E6-4D17-8222-3D199A79E327}"/>
              </a:ext>
            </a:extLst>
          </p:cNvPr>
          <p:cNvPicPr>
            <a:picLocks noChangeAspect="1"/>
          </p:cNvPicPr>
          <p:nvPr/>
        </p:nvPicPr>
        <p:blipFill>
          <a:blip r:embed="rId3"/>
          <a:stretch>
            <a:fillRect/>
          </a:stretch>
        </p:blipFill>
        <p:spPr>
          <a:xfrm>
            <a:off x="460375" y="941070"/>
            <a:ext cx="5518395" cy="3253740"/>
          </a:xfrm>
          <a:prstGeom prst="rect">
            <a:avLst/>
          </a:prstGeom>
        </p:spPr>
      </p:pic>
      <p:pic>
        <p:nvPicPr>
          <p:cNvPr id="18" name="Picture 17">
            <a:extLst>
              <a:ext uri="{FF2B5EF4-FFF2-40B4-BE49-F238E27FC236}">
                <a16:creationId xmlns:a16="http://schemas.microsoft.com/office/drawing/2014/main" id="{08C4CE8C-1ACB-4EC3-95BD-2A806F062DB9}"/>
              </a:ext>
            </a:extLst>
          </p:cNvPr>
          <p:cNvPicPr>
            <a:picLocks noChangeAspect="1"/>
          </p:cNvPicPr>
          <p:nvPr/>
        </p:nvPicPr>
        <p:blipFill>
          <a:blip r:embed="rId4"/>
          <a:stretch>
            <a:fillRect/>
          </a:stretch>
        </p:blipFill>
        <p:spPr>
          <a:xfrm>
            <a:off x="6306596" y="929640"/>
            <a:ext cx="5240468" cy="3317078"/>
          </a:xfrm>
          <a:prstGeom prst="rect">
            <a:avLst/>
          </a:prstGeom>
        </p:spPr>
      </p:pic>
      <p:sp>
        <p:nvSpPr>
          <p:cNvPr id="19" name="TextBox 18">
            <a:extLst>
              <a:ext uri="{FF2B5EF4-FFF2-40B4-BE49-F238E27FC236}">
                <a16:creationId xmlns:a16="http://schemas.microsoft.com/office/drawing/2014/main" id="{5688BF6D-DF89-4402-8A88-CFB631FC83B0}"/>
              </a:ext>
            </a:extLst>
          </p:cNvPr>
          <p:cNvSpPr txBox="1"/>
          <p:nvPr/>
        </p:nvSpPr>
        <p:spPr>
          <a:xfrm>
            <a:off x="155574" y="4354830"/>
            <a:ext cx="5639435" cy="923330"/>
          </a:xfrm>
          <a:prstGeom prst="rect">
            <a:avLst/>
          </a:prstGeom>
          <a:noFill/>
        </p:spPr>
        <p:txBody>
          <a:bodyPr wrap="square" rtlCol="0">
            <a:spAutoFit/>
          </a:bodyPr>
          <a:lstStyle/>
          <a:p>
            <a:pPr algn="just"/>
            <a:r>
              <a:rPr lang="en-US" dirty="0">
                <a:effectLst/>
                <a:latin typeface="Arial" panose="020B0604020202020204" pitchFamily="34" charset="0"/>
              </a:rPr>
              <a:t>The plot shows the number of active satellite required to satisfy the demand of all the user vs time when every satellite has 30 beams.</a:t>
            </a:r>
            <a:endParaRPr lang="en-US" dirty="0"/>
          </a:p>
        </p:txBody>
      </p:sp>
      <p:sp>
        <p:nvSpPr>
          <p:cNvPr id="20" name="TextBox 19">
            <a:extLst>
              <a:ext uri="{FF2B5EF4-FFF2-40B4-BE49-F238E27FC236}">
                <a16:creationId xmlns:a16="http://schemas.microsoft.com/office/drawing/2014/main" id="{F95EFA71-F71F-4247-821F-B0AF45F10456}"/>
              </a:ext>
            </a:extLst>
          </p:cNvPr>
          <p:cNvSpPr txBox="1"/>
          <p:nvPr/>
        </p:nvSpPr>
        <p:spPr>
          <a:xfrm>
            <a:off x="6306596" y="4457700"/>
            <a:ext cx="5457638" cy="1200329"/>
          </a:xfrm>
          <a:prstGeom prst="rect">
            <a:avLst/>
          </a:prstGeom>
          <a:noFill/>
        </p:spPr>
        <p:txBody>
          <a:bodyPr wrap="square" rtlCol="0">
            <a:spAutoFit/>
          </a:bodyPr>
          <a:lstStyle/>
          <a:p>
            <a:pPr algn="just"/>
            <a:r>
              <a:rPr lang="en-US" dirty="0">
                <a:effectLst/>
                <a:latin typeface="Arial" panose="020B0604020202020204" pitchFamily="34" charset="0"/>
              </a:rPr>
              <a:t>The figure plots a comparison in terms of the average number of active beams required to satisfy the demand of all the users over an orbital time period with and without using the proposed solution.</a:t>
            </a:r>
            <a:endParaRPr lang="en-US" dirty="0"/>
          </a:p>
        </p:txBody>
      </p:sp>
    </p:spTree>
    <p:extLst>
      <p:ext uri="{BB962C8B-B14F-4D97-AF65-F5344CB8AC3E}">
        <p14:creationId xmlns:p14="http://schemas.microsoft.com/office/powerpoint/2010/main" val="2199516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Numerical results</a:t>
            </a:r>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 name="Picture 15">
            <a:extLst>
              <a:ext uri="{FF2B5EF4-FFF2-40B4-BE49-F238E27FC236}">
                <a16:creationId xmlns:a16="http://schemas.microsoft.com/office/drawing/2014/main" id="{838120FD-C118-4BE8-8F43-1FA05104DEF4}"/>
              </a:ext>
            </a:extLst>
          </p:cNvPr>
          <p:cNvPicPr>
            <a:picLocks noChangeAspect="1"/>
          </p:cNvPicPr>
          <p:nvPr/>
        </p:nvPicPr>
        <p:blipFill>
          <a:blip r:embed="rId3"/>
          <a:stretch>
            <a:fillRect/>
          </a:stretch>
        </p:blipFill>
        <p:spPr>
          <a:xfrm>
            <a:off x="3246120" y="1280160"/>
            <a:ext cx="6195060" cy="3669030"/>
          </a:xfrm>
          <a:prstGeom prst="rect">
            <a:avLst/>
          </a:prstGeom>
        </p:spPr>
      </p:pic>
      <p:sp>
        <p:nvSpPr>
          <p:cNvPr id="17" name="TextBox 16">
            <a:extLst>
              <a:ext uri="{FF2B5EF4-FFF2-40B4-BE49-F238E27FC236}">
                <a16:creationId xmlns:a16="http://schemas.microsoft.com/office/drawing/2014/main" id="{F46CAD49-DB21-46E1-B57A-67764C6D18D0}"/>
              </a:ext>
            </a:extLst>
          </p:cNvPr>
          <p:cNvSpPr txBox="1"/>
          <p:nvPr/>
        </p:nvSpPr>
        <p:spPr>
          <a:xfrm>
            <a:off x="960120" y="5097780"/>
            <a:ext cx="10264140" cy="646331"/>
          </a:xfrm>
          <a:prstGeom prst="rect">
            <a:avLst/>
          </a:prstGeom>
          <a:noFill/>
        </p:spPr>
        <p:txBody>
          <a:bodyPr wrap="square" rtlCol="0">
            <a:spAutoFit/>
          </a:bodyPr>
          <a:lstStyle/>
          <a:p>
            <a:pPr algn="just"/>
            <a:r>
              <a:rPr lang="en-US" dirty="0">
                <a:effectLst/>
                <a:latin typeface="Arial" panose="020B0604020202020204" pitchFamily="34" charset="0"/>
              </a:rPr>
              <a:t>The figure plots a comparison in terms of the total power consumption of the constellation during an orbital time period for two different values of number of satellite beams using the proposed solution.</a:t>
            </a:r>
            <a:endParaRPr lang="en-US" dirty="0"/>
          </a:p>
        </p:txBody>
      </p:sp>
    </p:spTree>
    <p:extLst>
      <p:ext uri="{BB962C8B-B14F-4D97-AF65-F5344CB8AC3E}">
        <p14:creationId xmlns:p14="http://schemas.microsoft.com/office/powerpoint/2010/main" val="2146468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oat, sitting, water, large&#10;&#10;Description automatically generated">
            <a:extLst>
              <a:ext uri="{FF2B5EF4-FFF2-40B4-BE49-F238E27FC236}">
                <a16:creationId xmlns:a16="http://schemas.microsoft.com/office/drawing/2014/main" id="{77210977-2254-E140-8B3E-A45F6F31BCC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497" y="0"/>
            <a:ext cx="12278497" cy="6858000"/>
          </a:xfrm>
          <a:prstGeom prst="rect">
            <a:avLst/>
          </a:prstGeom>
        </p:spPr>
      </p:pic>
      <p:sp>
        <p:nvSpPr>
          <p:cNvPr id="6" name="TextBox 5">
            <a:extLst>
              <a:ext uri="{FF2B5EF4-FFF2-40B4-BE49-F238E27FC236}">
                <a16:creationId xmlns:a16="http://schemas.microsoft.com/office/drawing/2014/main" id="{9DE8A534-5C35-410C-9D80-776EDE35A6B5}"/>
              </a:ext>
            </a:extLst>
          </p:cNvPr>
          <p:cNvSpPr txBox="1"/>
          <p:nvPr/>
        </p:nvSpPr>
        <p:spPr>
          <a:xfrm>
            <a:off x="636871" y="1256467"/>
            <a:ext cx="7934730" cy="4093428"/>
          </a:xfrm>
          <a:prstGeom prst="rect">
            <a:avLst/>
          </a:prstGeom>
          <a:noFill/>
        </p:spPr>
        <p:txBody>
          <a:bodyPr wrap="square" rtlCol="0">
            <a:spAutoFit/>
          </a:bodyPr>
          <a:lstStyle>
            <a:defPPr>
              <a:defRPr lang="en-US"/>
            </a:defPPr>
            <a:lvl1pPr marL="342900" indent="-342900">
              <a:buFont typeface="+mj-lt"/>
              <a:buAutoNum type="arabicPeriod"/>
              <a:defRPr sz="2000" b="1">
                <a:solidFill>
                  <a:schemeClr val="bg1"/>
                </a:solidFill>
                <a:latin typeface="Graphik Semibold" panose="020B0703030202060203" pitchFamily="34" charset="0"/>
              </a:defRPr>
            </a:lvl1pPr>
          </a:lstStyle>
          <a:p>
            <a:r>
              <a:rPr lang="fr-CH" dirty="0">
                <a:solidFill>
                  <a:schemeClr val="bg2">
                    <a:lumMod val="10000"/>
                  </a:schemeClr>
                </a:solidFill>
              </a:rPr>
              <a:t>Introduction</a:t>
            </a:r>
            <a:endParaRPr lang="en-US" dirty="0">
              <a:solidFill>
                <a:schemeClr val="bg2">
                  <a:lumMod val="10000"/>
                </a:schemeClr>
              </a:solidFill>
            </a:endParaRPr>
          </a:p>
          <a:p>
            <a:endParaRPr lang="fr-CH" dirty="0">
              <a:solidFill>
                <a:schemeClr val="bg2">
                  <a:lumMod val="10000"/>
                </a:schemeClr>
              </a:solidFill>
            </a:endParaRPr>
          </a:p>
          <a:p>
            <a:r>
              <a:rPr lang="en-US" dirty="0">
                <a:solidFill>
                  <a:schemeClr val="bg2">
                    <a:lumMod val="10000"/>
                  </a:schemeClr>
                </a:solidFill>
              </a:rPr>
              <a:t>Problem statement and methods under study</a:t>
            </a:r>
          </a:p>
          <a:p>
            <a:pPr marL="342900" lvl="1" indent="-342900">
              <a:buFont typeface="+mj-lt"/>
              <a:buAutoNum type="arabicPeriod"/>
            </a:pPr>
            <a:endParaRPr lang="en-US" sz="2000" b="1" dirty="0">
              <a:solidFill>
                <a:schemeClr val="bg2">
                  <a:lumMod val="10000"/>
                </a:schemeClr>
              </a:solidFill>
              <a:latin typeface="Graphik Semibold" panose="020B0703030202060203" pitchFamily="34" charset="0"/>
            </a:endParaRPr>
          </a:p>
          <a:p>
            <a:r>
              <a:rPr lang="en-US" dirty="0">
                <a:solidFill>
                  <a:schemeClr val="bg2">
                    <a:lumMod val="10000"/>
                  </a:schemeClr>
                </a:solidFill>
              </a:rPr>
              <a:t>Simulation </a:t>
            </a:r>
          </a:p>
          <a:p>
            <a:endParaRPr lang="en-US" dirty="0">
              <a:solidFill>
                <a:schemeClr val="bg2">
                  <a:lumMod val="10000"/>
                </a:schemeClr>
              </a:solidFill>
            </a:endParaRPr>
          </a:p>
          <a:p>
            <a:r>
              <a:rPr lang="en-US" dirty="0">
                <a:solidFill>
                  <a:schemeClr val="bg2">
                    <a:lumMod val="10000"/>
                  </a:schemeClr>
                </a:solidFill>
              </a:rPr>
              <a:t>Numerical results</a:t>
            </a:r>
          </a:p>
          <a:p>
            <a:endParaRPr lang="en-US" sz="2000" b="1" dirty="0">
              <a:solidFill>
                <a:schemeClr val="bg1"/>
              </a:solidFill>
              <a:latin typeface="Graphik Semibold" panose="020B0703030202060203" pitchFamily="34" charset="0"/>
            </a:endParaRPr>
          </a:p>
          <a:p>
            <a:r>
              <a:rPr lang="en-US" sz="2000" b="1" dirty="0">
                <a:solidFill>
                  <a:schemeClr val="bg1"/>
                </a:solidFill>
                <a:latin typeface="Graphik Semibold" panose="020B0703030202060203" pitchFamily="34" charset="0"/>
              </a:rPr>
              <a:t>Conclusion</a:t>
            </a:r>
            <a:endParaRPr lang="en-US" dirty="0"/>
          </a:p>
          <a:p>
            <a:endParaRPr lang="en-US" sz="2000" b="1" dirty="0">
              <a:solidFill>
                <a:schemeClr val="bg1"/>
              </a:solidFill>
              <a:latin typeface="Graphik Semibold" panose="020B0703030202060203" pitchFamily="34" charset="0"/>
            </a:endParaRPr>
          </a:p>
          <a:p>
            <a:r>
              <a:rPr lang="en-US" sz="2000" b="1" dirty="0">
                <a:solidFill>
                  <a:schemeClr val="tx1"/>
                </a:solidFill>
                <a:latin typeface="Graphik Semibold" panose="020B0703030202060203" pitchFamily="34" charset="0"/>
              </a:rPr>
              <a:t>Future Work</a:t>
            </a:r>
            <a:br>
              <a:rPr lang="en-US" sz="2000" b="1" dirty="0">
                <a:solidFill>
                  <a:schemeClr val="bg1"/>
                </a:solidFill>
                <a:latin typeface="Graphik Semibold" panose="020B0703030202060203" pitchFamily="34" charset="0"/>
              </a:rPr>
            </a:br>
            <a:endParaRPr lang="en-US" sz="2000" b="1" dirty="0">
              <a:solidFill>
                <a:schemeClr val="bg1"/>
              </a:solidFill>
              <a:latin typeface="Graphik Semibold" panose="020B0703030202060203" pitchFamily="34" charset="0"/>
            </a:endParaRPr>
          </a:p>
          <a:p>
            <a:endParaRPr lang="en-US" dirty="0">
              <a:latin typeface="+mn-lt"/>
            </a:endParaRPr>
          </a:p>
        </p:txBody>
      </p:sp>
      <p:grpSp>
        <p:nvGrpSpPr>
          <p:cNvPr id="9" name="Group 8">
            <a:extLst>
              <a:ext uri="{FF2B5EF4-FFF2-40B4-BE49-F238E27FC236}">
                <a16:creationId xmlns:a16="http://schemas.microsoft.com/office/drawing/2014/main" id="{410FC9B3-6D23-C044-BC70-F4CBCCD74147}"/>
              </a:ext>
            </a:extLst>
          </p:cNvPr>
          <p:cNvGrpSpPr/>
          <p:nvPr/>
        </p:nvGrpSpPr>
        <p:grpSpPr>
          <a:xfrm>
            <a:off x="-104859" y="99768"/>
            <a:ext cx="12216715" cy="1418626"/>
            <a:chOff x="-24715" y="5825730"/>
            <a:chExt cx="12216715" cy="1418626"/>
          </a:xfrm>
        </p:grpSpPr>
        <p:pic>
          <p:nvPicPr>
            <p:cNvPr id="11" name="Image 5" descr="Bande_Logo_UNI_PP_right_long.eps">
              <a:extLst>
                <a:ext uri="{FF2B5EF4-FFF2-40B4-BE49-F238E27FC236}">
                  <a16:creationId xmlns:a16="http://schemas.microsoft.com/office/drawing/2014/main" id="{EEB7CB92-331A-0B45-8A12-E75D37DCF015}"/>
                </a:ext>
              </a:extLst>
            </p:cNvPr>
            <p:cNvPicPr/>
            <p:nvPr/>
          </p:nvPicPr>
          <p:blipFill rotWithShape="1">
            <a:blip r:embed="rId3"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a:solidFill>
                    <a:srgbClr val="FFFFFF"/>
                  </a:solid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20806795-C84B-1141-8495-A9590BF17FE3}"/>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3" name="Picture 12">
              <a:extLst>
                <a:ext uri="{FF2B5EF4-FFF2-40B4-BE49-F238E27FC236}">
                  <a16:creationId xmlns:a16="http://schemas.microsoft.com/office/drawing/2014/main" id="{4DE845FA-2485-814D-BF58-7584A9D13EB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sp>
        <p:nvSpPr>
          <p:cNvPr id="14" name="Text Placeholder 2"/>
          <p:cNvSpPr>
            <a:spLocks noGrp="1"/>
          </p:cNvSpPr>
          <p:nvPr>
            <p:ph type="body" sz="quarter" idx="11"/>
          </p:nvPr>
        </p:nvSpPr>
        <p:spPr>
          <a:xfrm>
            <a:off x="636871" y="570956"/>
            <a:ext cx="11362565" cy="476250"/>
          </a:xfrm>
        </p:spPr>
        <p:txBody>
          <a:bodyPr>
            <a:normAutofit/>
          </a:bodyPr>
          <a:lstStyle/>
          <a:p>
            <a:r>
              <a:rPr lang="en-US" dirty="0">
                <a:solidFill>
                  <a:schemeClr val="bg1"/>
                </a:solidFill>
              </a:rPr>
              <a:t>Outline</a:t>
            </a:r>
            <a:endParaRPr lang="en-US" b="0" dirty="0">
              <a:solidFill>
                <a:schemeClr val="bg1"/>
              </a:solidFill>
            </a:endParaRPr>
          </a:p>
        </p:txBody>
      </p:sp>
      <p:pic>
        <p:nvPicPr>
          <p:cNvPr id="10" name="Graphic 6">
            <a:extLst>
              <a:ext uri="{FF2B5EF4-FFF2-40B4-BE49-F238E27FC236}">
                <a16:creationId xmlns:a16="http://schemas.microsoft.com/office/drawing/2014/main" id="{7457E091-E20F-574F-B21F-DF6DB7DE3A4C}"/>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189382" y="1495664"/>
            <a:ext cx="1256457" cy="987835"/>
          </a:xfrm>
          <a:prstGeom prst="rect">
            <a:avLst/>
          </a:prstGeom>
        </p:spPr>
      </p:pic>
    </p:spTree>
    <p:extLst>
      <p:ext uri="{BB962C8B-B14F-4D97-AF65-F5344CB8AC3E}">
        <p14:creationId xmlns:p14="http://schemas.microsoft.com/office/powerpoint/2010/main" val="138886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Conclusion</a:t>
            </a:r>
          </a:p>
        </p:txBody>
      </p:sp>
      <p:sp>
        <p:nvSpPr>
          <p:cNvPr id="3" name="Text Placeholder 2"/>
          <p:cNvSpPr>
            <a:spLocks noGrp="1"/>
          </p:cNvSpPr>
          <p:nvPr>
            <p:ph type="body" sz="quarter" idx="11"/>
          </p:nvPr>
        </p:nvSpPr>
        <p:spPr>
          <a:xfrm>
            <a:off x="460375" y="505088"/>
            <a:ext cx="6193309" cy="411923"/>
          </a:xfrm>
          <a:noFill/>
          <a:ln>
            <a:solidFill>
              <a:schemeClr val="bg1"/>
            </a:solidFill>
          </a:ln>
        </p:spPr>
        <p:txBody>
          <a:bodyPr>
            <a:noAutofit/>
          </a:bodyPr>
          <a:lstStyle/>
          <a:p>
            <a:r>
              <a:rPr lang="en-US" sz="2200" dirty="0"/>
              <a:t>Conclusion</a:t>
            </a:r>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474465" y="1089933"/>
            <a:ext cx="11100637" cy="5262979"/>
          </a:xfrm>
          <a:prstGeom prst="rect">
            <a:avLst/>
          </a:prstGeom>
        </p:spPr>
        <p:txBody>
          <a:bodyPr wrap="square">
            <a:spAutoFit/>
          </a:bodyPr>
          <a:lstStyle/>
          <a:p>
            <a:pPr marL="342900" indent="-342900" algn="just">
              <a:buFont typeface="+mj-lt"/>
              <a:buAutoNum type="arabicPeriod"/>
            </a:pPr>
            <a:r>
              <a:rPr lang="en-US" sz="2400" dirty="0">
                <a:latin typeface="Arial" panose="020B0604020202020204" pitchFamily="34" charset="0"/>
              </a:rPr>
              <a:t>A</a:t>
            </a:r>
            <a:r>
              <a:rPr lang="en-US" sz="2400" dirty="0">
                <a:effectLst/>
                <a:latin typeface="Arial" panose="020B0604020202020204" pitchFamily="34" charset="0"/>
              </a:rPr>
              <a:t> dynamic traffic-aware satellite switch-off approach is proposed to minimize the power consumption in LEO satellite constellations.</a:t>
            </a:r>
          </a:p>
          <a:p>
            <a:pPr marL="342900" indent="-342900" algn="just">
              <a:buFont typeface="+mj-lt"/>
              <a:buAutoNum type="arabicPeriod"/>
            </a:pPr>
            <a:endParaRPr lang="en-US" sz="2400" dirty="0">
              <a:latin typeface="Arial" panose="020B0604020202020204" pitchFamily="34" charset="0"/>
            </a:endParaRPr>
          </a:p>
          <a:p>
            <a:pPr marL="342900" indent="-342900" algn="just">
              <a:buAutoNum type="arabicPeriod"/>
            </a:pPr>
            <a:r>
              <a:rPr lang="en-US" sz="2400" dirty="0">
                <a:latin typeface="Arial" panose="020B0604020202020204" pitchFamily="34" charset="0"/>
              </a:rPr>
              <a:t>A</a:t>
            </a:r>
            <a:r>
              <a:rPr lang="en-US" sz="2400" dirty="0">
                <a:effectLst/>
                <a:latin typeface="Arial" panose="020B0604020202020204" pitchFamily="34" charset="0"/>
              </a:rPr>
              <a:t> mixed binary integer optimization problem has been formulated and</a:t>
            </a:r>
            <a:br>
              <a:rPr lang="en-US" sz="2400" dirty="0"/>
            </a:br>
            <a:r>
              <a:rPr lang="en-US" sz="2400" dirty="0">
                <a:effectLst/>
                <a:latin typeface="Arial" panose="020B0604020202020204" pitchFamily="34" charset="0"/>
              </a:rPr>
              <a:t>solved by relaxation to minimize the total power consumed by the LEO constellation without causing any demand dissatisfaction.</a:t>
            </a:r>
            <a:endParaRPr lang="en-US" sz="2400" dirty="0">
              <a:latin typeface="Arial" panose="020B0604020202020204" pitchFamily="34" charset="0"/>
            </a:endParaRPr>
          </a:p>
          <a:p>
            <a:pPr marL="342900" indent="-342900" algn="just">
              <a:buAutoNum type="arabicPeriod"/>
            </a:pPr>
            <a:endParaRPr lang="en-US" sz="2400" dirty="0">
              <a:latin typeface="Arial" panose="020B0604020202020204" pitchFamily="34" charset="0"/>
            </a:endParaRPr>
          </a:p>
          <a:p>
            <a:pPr marL="342900" indent="-342900" algn="just">
              <a:buAutoNum type="arabicPeriod"/>
            </a:pPr>
            <a:r>
              <a:rPr lang="en-US" sz="2400" dirty="0">
                <a:effectLst/>
                <a:latin typeface="Arial" panose="020B0604020202020204" pitchFamily="34" charset="0"/>
              </a:rPr>
              <a:t>The results have shown that a considerable percentage of the satellite nodes can be dispensable and switched-off, which may reach 40%</a:t>
            </a:r>
            <a:br>
              <a:rPr lang="en-US" sz="2400" dirty="0"/>
            </a:br>
            <a:r>
              <a:rPr lang="en-US" sz="2400" dirty="0">
                <a:effectLst/>
                <a:latin typeface="Arial" panose="020B0604020202020204" pitchFamily="34" charset="0"/>
              </a:rPr>
              <a:t>in some cases.</a:t>
            </a:r>
          </a:p>
          <a:p>
            <a:pPr marL="342900" indent="-342900" algn="just">
              <a:buAutoNum type="arabicPeriod"/>
            </a:pPr>
            <a:endParaRPr lang="en-US" sz="2400" dirty="0">
              <a:latin typeface="Arial" panose="020B0604020202020204" pitchFamily="34" charset="0"/>
            </a:endParaRPr>
          </a:p>
          <a:p>
            <a:pPr marL="342900" indent="-342900" algn="just">
              <a:buAutoNum type="arabicPeriod"/>
            </a:pPr>
            <a:r>
              <a:rPr lang="en-US" sz="2400" dirty="0">
                <a:effectLst/>
                <a:latin typeface="Arial" panose="020B0604020202020204" pitchFamily="34" charset="0"/>
              </a:rPr>
              <a:t>In short, the developed technique in this paper can significantly reduce energy consumption of satellites, and consequently, extending their lifespan and diminishing the interference impact on the concurrent communications.</a:t>
            </a:r>
            <a:endParaRPr lang="en-US" sz="2400" dirty="0"/>
          </a:p>
        </p:txBody>
      </p:sp>
    </p:spTree>
    <p:extLst>
      <p:ext uri="{BB962C8B-B14F-4D97-AF65-F5344CB8AC3E}">
        <p14:creationId xmlns:p14="http://schemas.microsoft.com/office/powerpoint/2010/main" val="2956594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oat, sitting, water, large&#10;&#10;Description automatically generated">
            <a:extLst>
              <a:ext uri="{FF2B5EF4-FFF2-40B4-BE49-F238E27FC236}">
                <a16:creationId xmlns:a16="http://schemas.microsoft.com/office/drawing/2014/main" id="{77210977-2254-E140-8B3E-A45F6F31BCC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497" y="0"/>
            <a:ext cx="12278497" cy="6858000"/>
          </a:xfrm>
          <a:prstGeom prst="rect">
            <a:avLst/>
          </a:prstGeom>
        </p:spPr>
      </p:pic>
      <p:sp>
        <p:nvSpPr>
          <p:cNvPr id="6" name="TextBox 5">
            <a:extLst>
              <a:ext uri="{FF2B5EF4-FFF2-40B4-BE49-F238E27FC236}">
                <a16:creationId xmlns:a16="http://schemas.microsoft.com/office/drawing/2014/main" id="{9DE8A534-5C35-410C-9D80-776EDE35A6B5}"/>
              </a:ext>
            </a:extLst>
          </p:cNvPr>
          <p:cNvSpPr txBox="1"/>
          <p:nvPr/>
        </p:nvSpPr>
        <p:spPr>
          <a:xfrm>
            <a:off x="636871" y="1256467"/>
            <a:ext cx="7934730" cy="4093428"/>
          </a:xfrm>
          <a:prstGeom prst="rect">
            <a:avLst/>
          </a:prstGeom>
          <a:noFill/>
        </p:spPr>
        <p:txBody>
          <a:bodyPr wrap="square" rtlCol="0">
            <a:spAutoFit/>
          </a:bodyPr>
          <a:lstStyle>
            <a:defPPr>
              <a:defRPr lang="en-US"/>
            </a:defPPr>
            <a:lvl1pPr marL="342900" indent="-342900">
              <a:buFont typeface="+mj-lt"/>
              <a:buAutoNum type="arabicPeriod"/>
              <a:defRPr sz="2000" b="1">
                <a:solidFill>
                  <a:schemeClr val="bg1"/>
                </a:solidFill>
                <a:latin typeface="Graphik Semibold" panose="020B0703030202060203" pitchFamily="34" charset="0"/>
              </a:defRPr>
            </a:lvl1pPr>
          </a:lstStyle>
          <a:p>
            <a:r>
              <a:rPr lang="fr-CH" dirty="0">
                <a:solidFill>
                  <a:schemeClr val="bg2">
                    <a:lumMod val="10000"/>
                  </a:schemeClr>
                </a:solidFill>
              </a:rPr>
              <a:t>Introduction</a:t>
            </a:r>
            <a:endParaRPr lang="en-US" dirty="0">
              <a:solidFill>
                <a:schemeClr val="bg2">
                  <a:lumMod val="10000"/>
                </a:schemeClr>
              </a:solidFill>
            </a:endParaRPr>
          </a:p>
          <a:p>
            <a:endParaRPr lang="fr-CH" dirty="0">
              <a:solidFill>
                <a:schemeClr val="bg2">
                  <a:lumMod val="10000"/>
                </a:schemeClr>
              </a:solidFill>
            </a:endParaRPr>
          </a:p>
          <a:p>
            <a:r>
              <a:rPr lang="en-US" dirty="0">
                <a:solidFill>
                  <a:schemeClr val="bg2">
                    <a:lumMod val="10000"/>
                  </a:schemeClr>
                </a:solidFill>
              </a:rPr>
              <a:t>Problem statement and methods under study</a:t>
            </a:r>
          </a:p>
          <a:p>
            <a:pPr marL="342900" lvl="1" indent="-342900">
              <a:buFont typeface="+mj-lt"/>
              <a:buAutoNum type="arabicPeriod"/>
            </a:pPr>
            <a:endParaRPr lang="en-US" sz="2000" b="1" dirty="0">
              <a:solidFill>
                <a:schemeClr val="bg2">
                  <a:lumMod val="10000"/>
                </a:schemeClr>
              </a:solidFill>
              <a:latin typeface="Graphik Semibold" panose="020B0703030202060203" pitchFamily="34" charset="0"/>
            </a:endParaRPr>
          </a:p>
          <a:p>
            <a:r>
              <a:rPr lang="en-US" dirty="0">
                <a:solidFill>
                  <a:schemeClr val="bg2">
                    <a:lumMod val="10000"/>
                  </a:schemeClr>
                </a:solidFill>
              </a:rPr>
              <a:t>Simulation </a:t>
            </a:r>
          </a:p>
          <a:p>
            <a:endParaRPr lang="en-US" dirty="0">
              <a:solidFill>
                <a:schemeClr val="bg2">
                  <a:lumMod val="10000"/>
                </a:schemeClr>
              </a:solidFill>
            </a:endParaRPr>
          </a:p>
          <a:p>
            <a:r>
              <a:rPr lang="en-US" dirty="0">
                <a:solidFill>
                  <a:schemeClr val="bg2">
                    <a:lumMod val="10000"/>
                  </a:schemeClr>
                </a:solidFill>
              </a:rPr>
              <a:t>Numerical results</a:t>
            </a:r>
          </a:p>
          <a:p>
            <a:endParaRPr lang="en-US" sz="2000" b="1" dirty="0">
              <a:solidFill>
                <a:schemeClr val="bg2">
                  <a:lumMod val="10000"/>
                </a:schemeClr>
              </a:solidFill>
              <a:latin typeface="Graphik Semibold" panose="020B0703030202060203" pitchFamily="34" charset="0"/>
            </a:endParaRPr>
          </a:p>
          <a:p>
            <a:r>
              <a:rPr lang="en-US" sz="2000" b="1" dirty="0">
                <a:solidFill>
                  <a:schemeClr val="bg2">
                    <a:lumMod val="10000"/>
                  </a:schemeClr>
                </a:solidFill>
              </a:rPr>
              <a:t>Conclusion</a:t>
            </a:r>
            <a:endParaRPr lang="en-US" dirty="0">
              <a:solidFill>
                <a:schemeClr val="bg2">
                  <a:lumMod val="10000"/>
                </a:schemeClr>
              </a:solidFill>
            </a:endParaRPr>
          </a:p>
          <a:p>
            <a:endParaRPr lang="en-US" sz="2000" b="1" dirty="0">
              <a:solidFill>
                <a:schemeClr val="bg1"/>
              </a:solidFill>
              <a:latin typeface="Graphik Semibold" panose="020B0703030202060203" pitchFamily="34" charset="0"/>
            </a:endParaRPr>
          </a:p>
          <a:p>
            <a:r>
              <a:rPr lang="en-US" sz="2000" b="1" dirty="0">
                <a:solidFill>
                  <a:schemeClr val="bg1"/>
                </a:solidFill>
                <a:latin typeface="Graphik Semibold" panose="020B0703030202060203" pitchFamily="34" charset="0"/>
              </a:rPr>
              <a:t>Future Work</a:t>
            </a:r>
            <a:br>
              <a:rPr lang="en-US" sz="2000" b="1" dirty="0">
                <a:solidFill>
                  <a:schemeClr val="bg1"/>
                </a:solidFill>
                <a:latin typeface="Graphik Semibold" panose="020B0703030202060203" pitchFamily="34" charset="0"/>
              </a:rPr>
            </a:br>
            <a:endParaRPr lang="en-US" sz="2000" b="1" dirty="0">
              <a:solidFill>
                <a:schemeClr val="bg1"/>
              </a:solidFill>
              <a:latin typeface="Graphik Semibold" panose="020B0703030202060203" pitchFamily="34" charset="0"/>
            </a:endParaRPr>
          </a:p>
          <a:p>
            <a:endParaRPr lang="en-US" dirty="0">
              <a:latin typeface="+mn-lt"/>
            </a:endParaRPr>
          </a:p>
        </p:txBody>
      </p:sp>
      <p:grpSp>
        <p:nvGrpSpPr>
          <p:cNvPr id="9" name="Group 8">
            <a:extLst>
              <a:ext uri="{FF2B5EF4-FFF2-40B4-BE49-F238E27FC236}">
                <a16:creationId xmlns:a16="http://schemas.microsoft.com/office/drawing/2014/main" id="{410FC9B3-6D23-C044-BC70-F4CBCCD74147}"/>
              </a:ext>
            </a:extLst>
          </p:cNvPr>
          <p:cNvGrpSpPr/>
          <p:nvPr/>
        </p:nvGrpSpPr>
        <p:grpSpPr>
          <a:xfrm>
            <a:off x="-104859" y="99768"/>
            <a:ext cx="12216715" cy="1418626"/>
            <a:chOff x="-24715" y="5825730"/>
            <a:chExt cx="12216715" cy="1418626"/>
          </a:xfrm>
        </p:grpSpPr>
        <p:pic>
          <p:nvPicPr>
            <p:cNvPr id="11" name="Image 5" descr="Bande_Logo_UNI_PP_right_long.eps">
              <a:extLst>
                <a:ext uri="{FF2B5EF4-FFF2-40B4-BE49-F238E27FC236}">
                  <a16:creationId xmlns:a16="http://schemas.microsoft.com/office/drawing/2014/main" id="{EEB7CB92-331A-0B45-8A12-E75D37DCF015}"/>
                </a:ext>
              </a:extLst>
            </p:cNvPr>
            <p:cNvPicPr/>
            <p:nvPr/>
          </p:nvPicPr>
          <p:blipFill rotWithShape="1">
            <a:blip r:embed="rId3"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a:solidFill>
                    <a:srgbClr val="FFFFFF"/>
                  </a:solid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20806795-C84B-1141-8495-A9590BF17FE3}"/>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3" name="Picture 12">
              <a:extLst>
                <a:ext uri="{FF2B5EF4-FFF2-40B4-BE49-F238E27FC236}">
                  <a16:creationId xmlns:a16="http://schemas.microsoft.com/office/drawing/2014/main" id="{4DE845FA-2485-814D-BF58-7584A9D13EB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sp>
        <p:nvSpPr>
          <p:cNvPr id="14" name="Text Placeholder 2"/>
          <p:cNvSpPr>
            <a:spLocks noGrp="1"/>
          </p:cNvSpPr>
          <p:nvPr>
            <p:ph type="body" sz="quarter" idx="11"/>
          </p:nvPr>
        </p:nvSpPr>
        <p:spPr>
          <a:xfrm>
            <a:off x="636871" y="570956"/>
            <a:ext cx="11362565" cy="476250"/>
          </a:xfrm>
        </p:spPr>
        <p:txBody>
          <a:bodyPr>
            <a:normAutofit/>
          </a:bodyPr>
          <a:lstStyle/>
          <a:p>
            <a:r>
              <a:rPr lang="en-US" dirty="0">
                <a:solidFill>
                  <a:schemeClr val="bg1"/>
                </a:solidFill>
              </a:rPr>
              <a:t>Outline</a:t>
            </a:r>
            <a:endParaRPr lang="en-US" b="0" dirty="0">
              <a:solidFill>
                <a:schemeClr val="bg1"/>
              </a:solidFill>
            </a:endParaRPr>
          </a:p>
        </p:txBody>
      </p:sp>
      <p:pic>
        <p:nvPicPr>
          <p:cNvPr id="10" name="Graphic 6">
            <a:extLst>
              <a:ext uri="{FF2B5EF4-FFF2-40B4-BE49-F238E27FC236}">
                <a16:creationId xmlns:a16="http://schemas.microsoft.com/office/drawing/2014/main" id="{7457E091-E20F-574F-B21F-DF6DB7DE3A4C}"/>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189382" y="1495664"/>
            <a:ext cx="1256457" cy="987835"/>
          </a:xfrm>
          <a:prstGeom prst="rect">
            <a:avLst/>
          </a:prstGeom>
        </p:spPr>
      </p:pic>
    </p:spTree>
    <p:extLst>
      <p:ext uri="{BB962C8B-B14F-4D97-AF65-F5344CB8AC3E}">
        <p14:creationId xmlns:p14="http://schemas.microsoft.com/office/powerpoint/2010/main" val="3660602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Future work</a:t>
            </a:r>
          </a:p>
        </p:txBody>
      </p:sp>
      <p:sp>
        <p:nvSpPr>
          <p:cNvPr id="3" name="Text Placeholder 2"/>
          <p:cNvSpPr>
            <a:spLocks noGrp="1"/>
          </p:cNvSpPr>
          <p:nvPr>
            <p:ph type="body" sz="quarter" idx="11"/>
          </p:nvPr>
        </p:nvSpPr>
        <p:spPr>
          <a:xfrm>
            <a:off x="543600" y="672443"/>
            <a:ext cx="6193309" cy="411923"/>
          </a:xfrm>
          <a:noFill/>
          <a:ln>
            <a:solidFill>
              <a:schemeClr val="bg1"/>
            </a:solidFill>
          </a:ln>
        </p:spPr>
        <p:txBody>
          <a:bodyPr>
            <a:noAutofit/>
          </a:bodyPr>
          <a:lstStyle/>
          <a:p>
            <a:r>
              <a:rPr lang="fr-CH" sz="2200" dirty="0"/>
              <a:t>Future </a:t>
            </a:r>
            <a:r>
              <a:rPr lang="fr-CH" sz="2200" dirty="0" err="1"/>
              <a:t>work</a:t>
            </a:r>
            <a:endParaRPr lang="en-US" sz="2200" dirty="0"/>
          </a:p>
        </p:txBody>
      </p:sp>
      <p:sp>
        <p:nvSpPr>
          <p:cNvPr id="15" name="AutoShape 6" descr="Trafficc.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500400" y="1384444"/>
            <a:ext cx="11191200" cy="4524315"/>
          </a:xfrm>
          <a:prstGeom prst="rect">
            <a:avLst/>
          </a:prstGeom>
        </p:spPr>
        <p:txBody>
          <a:bodyPr wrap="square">
            <a:spAutoFit/>
          </a:bodyPr>
          <a:lstStyle/>
          <a:p>
            <a:pPr marL="342900" indent="-342900" algn="just">
              <a:buFont typeface="+mj-lt"/>
              <a:buAutoNum type="arabicPeriod"/>
            </a:pPr>
            <a:r>
              <a:rPr lang="en-US" sz="2400" dirty="0"/>
              <a:t>The effect of inter beam interference shall be evaluated in the future work.</a:t>
            </a:r>
          </a:p>
          <a:p>
            <a:pPr marL="342900" indent="-342900" algn="just">
              <a:buFont typeface="+mj-lt"/>
              <a:buAutoNum type="arabicPeriod"/>
            </a:pPr>
            <a:endParaRPr lang="en-US" sz="2400" dirty="0"/>
          </a:p>
          <a:p>
            <a:pPr marL="342900" indent="-342900" algn="just">
              <a:buFont typeface="+mj-lt"/>
              <a:buAutoNum type="arabicPeriod"/>
            </a:pPr>
            <a:r>
              <a:rPr lang="en-US" sz="2400" dirty="0"/>
              <a:t>To reformulate the optimization problem by considering binary variables as continuous variables and to propose low complexity heuristic to minimize the power consumption.</a:t>
            </a:r>
          </a:p>
          <a:p>
            <a:pPr marL="342900" indent="-342900" algn="just">
              <a:buFont typeface="+mj-lt"/>
              <a:buAutoNum type="arabicPeriod"/>
            </a:pPr>
            <a:endParaRPr lang="en-US" sz="2400" dirty="0"/>
          </a:p>
          <a:p>
            <a:pPr marL="342900" indent="-342900" algn="just">
              <a:buFont typeface="+mj-lt"/>
              <a:buAutoNum type="arabicPeriod"/>
            </a:pPr>
            <a:r>
              <a:rPr lang="en-US" sz="2400" dirty="0"/>
              <a:t>Practically, the on-off and off-on transition is not instantaneous and should take some time and consume some energy. Therefore, it is an important aspect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how to handle the transition time between on-off and off-on. </a:t>
            </a:r>
          </a:p>
          <a:p>
            <a:pPr marL="342900" indent="-342900" algn="just">
              <a:buFont typeface="+mj-lt"/>
              <a:buAutoNum type="arabicPeriod"/>
            </a:pPr>
            <a:endParaRPr lang="en-US" sz="2400" dirty="0">
              <a:solidFill>
                <a:prstClr val="black"/>
              </a:solidFill>
              <a:latin typeface="Calibri" panose="020F0502020204030204"/>
            </a:endParaRPr>
          </a:p>
          <a:p>
            <a:pPr marL="342900" indent="-342900" algn="just">
              <a:buFont typeface="+mj-lt"/>
              <a:buAutoNum type="arabicPeriod"/>
            </a:pPr>
            <a:r>
              <a:rPr lang="en-US" sz="2400" dirty="0"/>
              <a:t>Since the formulated joint optimization problem is non-convex and hard to solve, we will develop low complexity algorithm using deep learning for solving more efficiently.</a:t>
            </a:r>
          </a:p>
        </p:txBody>
      </p:sp>
    </p:spTree>
    <p:extLst>
      <p:ext uri="{BB962C8B-B14F-4D97-AF65-F5344CB8AC3E}">
        <p14:creationId xmlns:p14="http://schemas.microsoft.com/office/powerpoint/2010/main" val="3023693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boat, sitting, water, large&#10;&#10;Description automatically generated">
            <a:extLst>
              <a:ext uri="{FF2B5EF4-FFF2-40B4-BE49-F238E27FC236}">
                <a16:creationId xmlns:a16="http://schemas.microsoft.com/office/drawing/2014/main" id="{77210977-2254-E140-8B3E-A45F6F31BCC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6497" y="0"/>
            <a:ext cx="12278497" cy="6858000"/>
          </a:xfrm>
          <a:prstGeom prst="rect">
            <a:avLst/>
          </a:prstGeom>
        </p:spPr>
      </p:pic>
      <p:sp>
        <p:nvSpPr>
          <p:cNvPr id="6" name="TextBox 5">
            <a:extLst>
              <a:ext uri="{FF2B5EF4-FFF2-40B4-BE49-F238E27FC236}">
                <a16:creationId xmlns:a16="http://schemas.microsoft.com/office/drawing/2014/main" id="{9DE8A534-5C35-410C-9D80-776EDE35A6B5}"/>
              </a:ext>
            </a:extLst>
          </p:cNvPr>
          <p:cNvSpPr txBox="1"/>
          <p:nvPr/>
        </p:nvSpPr>
        <p:spPr>
          <a:xfrm>
            <a:off x="846492" y="714197"/>
            <a:ext cx="7934730" cy="1569660"/>
          </a:xfrm>
          <a:prstGeom prst="rect">
            <a:avLst/>
          </a:prstGeom>
          <a:noFill/>
        </p:spPr>
        <p:txBody>
          <a:bodyPr wrap="square" rtlCol="0">
            <a:spAutoFit/>
          </a:bodyPr>
          <a:lstStyle>
            <a:defPPr>
              <a:defRPr lang="en-US"/>
            </a:defPPr>
            <a:lvl1pPr>
              <a:defRPr sz="3600">
                <a:solidFill>
                  <a:schemeClr val="bg1"/>
                </a:solidFill>
                <a:latin typeface="Graphik Semibold" panose="020B0703030202060203" pitchFamily="34" charset="0"/>
              </a:defRPr>
            </a:lvl1pPr>
          </a:lstStyle>
          <a:p>
            <a:r>
              <a:rPr lang="en-US" sz="9600" b="1" dirty="0"/>
              <a:t>Thank you</a:t>
            </a:r>
            <a:endParaRPr lang="en-US" sz="9600" dirty="0">
              <a:latin typeface="Arial" panose="020B0604020202020204" pitchFamily="34" charset="0"/>
            </a:endParaRPr>
          </a:p>
        </p:txBody>
      </p:sp>
      <p:pic>
        <p:nvPicPr>
          <p:cNvPr id="7" name="Graphic 6">
            <a:extLst>
              <a:ext uri="{FF2B5EF4-FFF2-40B4-BE49-F238E27FC236}">
                <a16:creationId xmlns:a16="http://schemas.microsoft.com/office/drawing/2014/main" id="{7457E091-E20F-574F-B21F-DF6DB7DE3A4C}"/>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30171" y="5605532"/>
            <a:ext cx="1256457" cy="987835"/>
          </a:xfrm>
          <a:prstGeom prst="rect">
            <a:avLst/>
          </a:prstGeom>
        </p:spPr>
      </p:pic>
      <p:grpSp>
        <p:nvGrpSpPr>
          <p:cNvPr id="9" name="Group 8">
            <a:extLst>
              <a:ext uri="{FF2B5EF4-FFF2-40B4-BE49-F238E27FC236}">
                <a16:creationId xmlns:a16="http://schemas.microsoft.com/office/drawing/2014/main" id="{410FC9B3-6D23-C044-BC70-F4CBCCD74147}"/>
              </a:ext>
            </a:extLst>
          </p:cNvPr>
          <p:cNvGrpSpPr/>
          <p:nvPr/>
        </p:nvGrpSpPr>
        <p:grpSpPr>
          <a:xfrm>
            <a:off x="253581" y="5507588"/>
            <a:ext cx="12216715" cy="1418626"/>
            <a:chOff x="-24715" y="5825730"/>
            <a:chExt cx="12216715" cy="1418626"/>
          </a:xfrm>
        </p:grpSpPr>
        <p:pic>
          <p:nvPicPr>
            <p:cNvPr id="11" name="Image 5" descr="Bande_Logo_UNI_PP_right_long.eps">
              <a:extLst>
                <a:ext uri="{FF2B5EF4-FFF2-40B4-BE49-F238E27FC236}">
                  <a16:creationId xmlns:a16="http://schemas.microsoft.com/office/drawing/2014/main" id="{EEB7CB92-331A-0B45-8A12-E75D37DCF015}"/>
                </a:ext>
              </a:extLst>
            </p:cNvPr>
            <p:cNvPicPr/>
            <p:nvPr/>
          </p:nvPicPr>
          <p:blipFill rotWithShape="1">
            <a:blip r:embed="rId5" cstate="email">
              <a:extLst>
                <a:ext uri="{28A0092B-C50C-407E-A947-70E740481C1C}">
                  <a14:useLocalDpi xmlns:a14="http://schemas.microsoft.com/office/drawing/2010/main"/>
                </a:ext>
              </a:extLst>
            </a:blip>
            <a:srcRect l="42064" r="2500" b="52664"/>
            <a:stretch/>
          </p:blipFill>
          <p:spPr bwMode="auto">
            <a:xfrm>
              <a:off x="-24715" y="5825730"/>
              <a:ext cx="12216715" cy="1055420"/>
            </a:xfrm>
            <a:prstGeom prst="rect">
              <a:avLst/>
            </a:prstGeom>
            <a:noFill/>
            <a:ln>
              <a:noFill/>
            </a:ln>
            <a:extLst>
              <a:ext uri="{909E8E84-426E-40dd-AFC4-6F175D3DCCD1}">
                <a14:hiddenFill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a:solidFill>
                    <a:srgbClr val="FFFFFF"/>
                  </a:solidFill>
                </a14:hiddenFill>
              </a:ext>
              <a:ext uri="{91240B29-F687-4f45-9708-019B960494DF}">
                <a14:hiddenLine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 xmlns:a14="http://schemas.microsoft.com/office/drawing/2010/main" xmlns:lc="http://schemas.openxmlformats.org/drawingml/2006/lockedCanvas"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20806795-C84B-1141-8495-A9590BF17FE3}"/>
                </a:ext>
              </a:extLst>
            </p:cNvPr>
            <p:cNvSpPr/>
            <p:nvPr/>
          </p:nvSpPr>
          <p:spPr>
            <a:xfrm>
              <a:off x="10500767" y="5987422"/>
              <a:ext cx="960699" cy="893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U"/>
            </a:p>
          </p:txBody>
        </p:sp>
        <p:pic>
          <p:nvPicPr>
            <p:cNvPr id="13" name="Picture 12">
              <a:extLst>
                <a:ext uri="{FF2B5EF4-FFF2-40B4-BE49-F238E27FC236}">
                  <a16:creationId xmlns:a16="http://schemas.microsoft.com/office/drawing/2014/main" id="{4DE845FA-2485-814D-BF58-7584A9D13EB6}"/>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t="22056"/>
            <a:stretch/>
          </p:blipFill>
          <p:spPr>
            <a:xfrm>
              <a:off x="10151661" y="5987422"/>
              <a:ext cx="1612609" cy="1256934"/>
            </a:xfrm>
            <a:prstGeom prst="rect">
              <a:avLst/>
            </a:prstGeom>
          </p:spPr>
        </p:pic>
      </p:grpSp>
      <p:pic>
        <p:nvPicPr>
          <p:cNvPr id="3" name="Picture 2" descr="Text&#10;&#10;Description automatically generated">
            <a:extLst>
              <a:ext uri="{FF2B5EF4-FFF2-40B4-BE49-F238E27FC236}">
                <a16:creationId xmlns:a16="http://schemas.microsoft.com/office/drawing/2014/main" id="{C0429ADC-E990-41D4-9149-44EF14F16D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60415" y="5583398"/>
            <a:ext cx="3003046" cy="1073012"/>
          </a:xfrm>
          <a:prstGeom prst="rect">
            <a:avLst/>
          </a:prstGeom>
        </p:spPr>
      </p:pic>
    </p:spTree>
    <p:extLst>
      <p:ext uri="{BB962C8B-B14F-4D97-AF65-F5344CB8AC3E}">
        <p14:creationId xmlns:p14="http://schemas.microsoft.com/office/powerpoint/2010/main" val="138890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StartDate xmlns="http://schemas.microsoft.com/sharepoint/v3" xsi:nil="true"/>
    <PublishingExpirationDate xmlns="http://schemas.microsoft.com/sharepoint/v3" xsi:nil="true"/>
    <TaxCatchAll xmlns="a6c533f7-61db-40a9-92cc-7bf39d0de398"/>
    <o606121503634f60aadbd34f286ff3d9 xmlns="a6c533f7-61db-40a9-92cc-7bf39d0de398">
      <Terms xmlns="http://schemas.microsoft.com/office/infopath/2007/PartnerControls"/>
    </o606121503634f60aadbd34f286ff3d9>
    <a60e8a9bb7a5498084be0308f3b51622 xmlns="a6c533f7-61db-40a9-92cc-7bf39d0de398">
      <Terms xmlns="http://schemas.microsoft.com/office/infopath/2007/PartnerControls"/>
    </a60e8a9bb7a5498084be0308f3b51622>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FA123A97E448048BFBD78CBB819861E" ma:contentTypeVersion="2" ma:contentTypeDescription="Create a new document." ma:contentTypeScope="" ma:versionID="54d0959e60dcb848f4dbe6ad07bb6c8d">
  <xsd:schema xmlns:xsd="http://www.w3.org/2001/XMLSchema" xmlns:xs="http://www.w3.org/2001/XMLSchema" xmlns:p="http://schemas.microsoft.com/office/2006/metadata/properties" xmlns:ns1="http://schemas.microsoft.com/sharepoint/v3" xmlns:ns2="a6c533f7-61db-40a9-92cc-7bf39d0de398" targetNamespace="http://schemas.microsoft.com/office/2006/metadata/properties" ma:root="true" ma:fieldsID="d4c04313973a0c9248cfae03f8c66896" ns1:_="" ns2:_="">
    <xsd:import namespace="http://schemas.microsoft.com/sharepoint/v3"/>
    <xsd:import namespace="a6c533f7-61db-40a9-92cc-7bf39d0de398"/>
    <xsd:element name="properties">
      <xsd:complexType>
        <xsd:sequence>
          <xsd:element name="documentManagement">
            <xsd:complexType>
              <xsd:all>
                <xsd:element ref="ns1:PublishingStartDate" minOccurs="0"/>
                <xsd:element ref="ns1:PublishingExpirationDate" minOccurs="0"/>
                <xsd:element ref="ns2:o606121503634f60aadbd34f286ff3d9" minOccurs="0"/>
                <xsd:element ref="ns2:TaxCatchAll" minOccurs="0"/>
                <xsd:element ref="ns2:TaxCatchAllLabel" minOccurs="0"/>
                <xsd:element ref="ns2:a60e8a9bb7a5498084be0308f3b51622"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6c533f7-61db-40a9-92cc-7bf39d0de398" elementFormDefault="qualified">
    <xsd:import namespace="http://schemas.microsoft.com/office/2006/documentManagement/types"/>
    <xsd:import namespace="http://schemas.microsoft.com/office/infopath/2007/PartnerControls"/>
    <xsd:element name="o606121503634f60aadbd34f286ff3d9" ma:index="10" nillable="true" ma:taxonomy="true" ma:internalName="o606121503634f60aadbd34f286ff3d9" ma:taxonomyFieldName="Document_x0020_Category" ma:displayName="Document Category" ma:default="" ma:fieldId="{86061215-0363-4f60-aadb-d34f286ff3d9}" ma:taxonomyMulti="true" ma:sspId="ceefa7fb-4336-4fa1-9d81-8bd6ad6a0761" ma:termSetId="8467628b-cc19-41c8-84de-1e197b3524fe" ma:anchorId="00000000-0000-0000-0000-000000000000" ma:open="false" ma:isKeyword="false">
      <xsd:complexType>
        <xsd:sequence>
          <xsd:element ref="pc:Terms" minOccurs="0" maxOccurs="1"/>
        </xsd:sequence>
      </xsd:complexType>
    </xsd:element>
    <xsd:element name="TaxCatchAll" ma:index="11" nillable="true" ma:displayName="Taxonomy Catch All Column" ma:hidden="true" ma:list="{88da9af2-fc06-457f-9f9b-54ea4b8c2f8e}" ma:internalName="TaxCatchAll" ma:showField="CatchAllData" ma:web="a6c533f7-61db-40a9-92cc-7bf39d0de398">
      <xsd:complexType>
        <xsd:complexContent>
          <xsd:extension base="dms:MultiChoiceLookup">
            <xsd:sequence>
              <xsd:element name="Value" type="dms:Lookup" maxOccurs="unbounded" minOccurs="0" nillable="true"/>
            </xsd:sequence>
          </xsd:extension>
        </xsd:complexContent>
      </xsd:complexType>
    </xsd:element>
    <xsd:element name="TaxCatchAllLabel" ma:index="12" nillable="true" ma:displayName="Taxonomy Catch All Column1" ma:hidden="true" ma:list="{88da9af2-fc06-457f-9f9b-54ea4b8c2f8e}" ma:internalName="TaxCatchAllLabel" ma:readOnly="true" ma:showField="CatchAllDataLabel" ma:web="a6c533f7-61db-40a9-92cc-7bf39d0de398">
      <xsd:complexType>
        <xsd:complexContent>
          <xsd:extension base="dms:MultiChoiceLookup">
            <xsd:sequence>
              <xsd:element name="Value" type="dms:Lookup" maxOccurs="unbounded" minOccurs="0" nillable="true"/>
            </xsd:sequence>
          </xsd:extension>
        </xsd:complexContent>
      </xsd:complexType>
    </xsd:element>
    <xsd:element name="a60e8a9bb7a5498084be0308f3b51622" ma:index="14" nillable="true" ma:taxonomy="true" ma:internalName="a60e8a9bb7a5498084be0308f3b51622" ma:taxonomyFieldName="The_x0020_University" ma:displayName="The University" ma:default="" ma:fieldId="{a60e8a9b-b7a5-4980-84be-0308f3b51622}" ma:taxonomyMulti="true" ma:sspId="ceefa7fb-4336-4fa1-9d81-8bd6ad6a0761" ma:termSetId="d027352d-354c-4edb-9a10-0a26093ac2d3"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98C08-2A96-4627-A7AB-076B37EB6EB3}">
  <ds:schemaRefs>
    <ds:schemaRef ds:uri="http://schemas.microsoft.com/sharepoint/v3/contenttype/forms"/>
  </ds:schemaRefs>
</ds:datastoreItem>
</file>

<file path=customXml/itemProps2.xml><?xml version="1.0" encoding="utf-8"?>
<ds:datastoreItem xmlns:ds="http://schemas.openxmlformats.org/officeDocument/2006/customXml" ds:itemID="{FB863BE2-1074-453D-8C43-F08EB45BB408}">
  <ds:schemaRefs>
    <ds:schemaRef ds:uri="http://schemas.microsoft.com/office/2006/documentManagement/types"/>
    <ds:schemaRef ds:uri="http://purl.org/dc/terms/"/>
    <ds:schemaRef ds:uri="http://www.w3.org/XML/1998/namespace"/>
    <ds:schemaRef ds:uri="http://schemas.microsoft.com/office/infopath/2007/PartnerControls"/>
    <ds:schemaRef ds:uri="http://schemas.microsoft.com/sharepoint/v3"/>
    <ds:schemaRef ds:uri="http://purl.org/dc/dcmitype/"/>
    <ds:schemaRef ds:uri="http://purl.org/dc/elements/1.1/"/>
    <ds:schemaRef ds:uri="http://schemas.microsoft.com/office/2006/metadata/properties"/>
    <ds:schemaRef ds:uri="http://schemas.openxmlformats.org/package/2006/metadata/core-properties"/>
    <ds:schemaRef ds:uri="a6c533f7-61db-40a9-92cc-7bf39d0de398"/>
  </ds:schemaRefs>
</ds:datastoreItem>
</file>

<file path=customXml/itemProps3.xml><?xml version="1.0" encoding="utf-8"?>
<ds:datastoreItem xmlns:ds="http://schemas.openxmlformats.org/officeDocument/2006/customXml" ds:itemID="{EF9059A9-7613-43FD-B1C0-34DBDF1452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6c533f7-61db-40a9-92cc-7bf39d0de3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14354</TotalTime>
  <Words>1293</Words>
  <Application>Microsoft Office PowerPoint</Application>
  <PresentationFormat>Widescreen</PresentationFormat>
  <Paragraphs>197</Paragraphs>
  <Slides>21</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Amasis MT Pro Medium</vt:lpstr>
      <vt:lpstr>Arial</vt:lpstr>
      <vt:lpstr>Arial Black</vt:lpstr>
      <vt:lpstr>Calibri</vt:lpstr>
      <vt:lpstr>Cambria Math</vt:lpstr>
      <vt:lpstr>Curlz MT</vt:lpstr>
      <vt:lpstr>Graphik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Henzen 2019</dc:creator>
  <cp:lastModifiedBy>Vaibhav Kumar GUPTA</cp:lastModifiedBy>
  <cp:revision>553</cp:revision>
  <dcterms:created xsi:type="dcterms:W3CDTF">2020-06-18T07:37:18Z</dcterms:created>
  <dcterms:modified xsi:type="dcterms:W3CDTF">2022-10-12T13:26:08Z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 Category">
    <vt:lpwstr/>
  </property>
  <property fmtid="{D5CDD505-2E9C-101B-9397-08002B2CF9AE}" pid="3" name="ContentTypeId">
    <vt:lpwstr>0x010100EFA123A97E448048BFBD78CBB819861E</vt:lpwstr>
  </property>
  <property fmtid="{D5CDD505-2E9C-101B-9397-08002B2CF9AE}" pid="4" name="The University">
    <vt:lpwstr/>
  </property>
</Properties>
</file>